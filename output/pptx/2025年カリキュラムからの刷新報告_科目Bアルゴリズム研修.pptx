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80bc489047481d" /><Relationship Type="http://schemas.openxmlformats.org/officeDocument/2006/relationships/extended-properties" Target="/docProps/app.xml" Id="Rad7dc9bd873b4dcb" /><Relationship Type="http://schemas.openxmlformats.org/officeDocument/2006/relationships/officeDocument" Target="/ppt/presentation.xml" Id="R4fd5512aee8c4b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0f1cd96724410a"/>
  </p:sldMasterIdLst>
  <p:notesMasterIdLst>
    <p:notesMasterId xmlns:r="http://schemas.openxmlformats.org/officeDocument/2006/relationships" r:id="Ra190c06e99df43f2"/>
  </p:notesMasterIdLst>
  <p:sldIdLst>
    <p:sldId xmlns:r="http://schemas.openxmlformats.org/officeDocument/2006/relationships" id="256" r:id="Rfd3aef902f204c0f"/>
    <p:sldId xmlns:r="http://schemas.openxmlformats.org/officeDocument/2006/relationships" id="257" r:id="Rb41d144e0d0b46da"/>
    <p:sldId xmlns:r="http://schemas.openxmlformats.org/officeDocument/2006/relationships" id="258" r:id="Reae99a12a69244e6"/>
    <p:sldId xmlns:r="http://schemas.openxmlformats.org/officeDocument/2006/relationships" id="259" r:id="Rc8a1899a7657466e"/>
    <p:sldId xmlns:r="http://schemas.openxmlformats.org/officeDocument/2006/relationships" id="260" r:id="R969ef4381f0948d7"/>
    <p:sldId xmlns:r="http://schemas.openxmlformats.org/officeDocument/2006/relationships" id="261" r:id="R8d0b28d430b4430b"/>
    <p:sldId xmlns:r="http://schemas.openxmlformats.org/officeDocument/2006/relationships" id="262" r:id="R32542d49ada343be"/>
    <p:sldId xmlns:r="http://schemas.openxmlformats.org/officeDocument/2006/relationships" id="263" r:id="R1c6bbc4c422a42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1de31d9b084187" /><Relationship Type="http://schemas.openxmlformats.org/officeDocument/2006/relationships/slideMaster" Target="/ppt/slideMasters/slideMaster1.xml" Id="R0f0f1cd96724410a" /><Relationship Type="http://schemas.openxmlformats.org/officeDocument/2006/relationships/notesMaster" Target="/ppt/notesMasters/notesMaster1.xml" Id="Ra190c06e99df43f2" /><Relationship Type="http://schemas.openxmlformats.org/officeDocument/2006/relationships/presProps" Target="/ppt/presProps.xml" Id="Raeb8943937c94789" /><Relationship Type="http://schemas.openxmlformats.org/officeDocument/2006/relationships/tableStyles" Target="/ppt/tableStyles.xml" Id="Rf7de6d02a3734f01" /><Relationship Type="http://schemas.openxmlformats.org/officeDocument/2006/relationships/slide" Target="/ppt/slides/slide1.xml" Id="Rfd3aef902f204c0f" /><Relationship Type="http://schemas.openxmlformats.org/officeDocument/2006/relationships/slide" Target="/ppt/slides/slide2.xml" Id="Rb41d144e0d0b46da" /><Relationship Type="http://schemas.openxmlformats.org/officeDocument/2006/relationships/slide" Target="/ppt/slides/slide3.xml" Id="Reae99a12a69244e6" /><Relationship Type="http://schemas.openxmlformats.org/officeDocument/2006/relationships/slide" Target="/ppt/slides/slide4.xml" Id="Rc8a1899a7657466e" /><Relationship Type="http://schemas.openxmlformats.org/officeDocument/2006/relationships/slide" Target="/ppt/slides/slide5.xml" Id="R969ef4381f0948d7" /><Relationship Type="http://schemas.openxmlformats.org/officeDocument/2006/relationships/slide" Target="/ppt/slides/slide6.xml" Id="R8d0b28d430b4430b" /><Relationship Type="http://schemas.openxmlformats.org/officeDocument/2006/relationships/slide" Target="/ppt/slides/slide7.xml" Id="R32542d49ada343be" /><Relationship Type="http://schemas.openxmlformats.org/officeDocument/2006/relationships/slide" Target="/ppt/slides/slide8.xml" Id="R1c6bbc4c422a42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ee82974bdb40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c3f511245e4da7" /><Relationship Type="http://schemas.openxmlformats.org/officeDocument/2006/relationships/notesMaster" Target="/ppt/notesMasters/notesMaster1.xml" Id="R4d6765deeb8848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9e6b8c6a794d65" /><Relationship Type="http://schemas.openxmlformats.org/officeDocument/2006/relationships/notesMaster" Target="/ppt/notesMasters/notesMaster1.xml" Id="Rbbaafa06333348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4f253e1f8d475d" /><Relationship Type="http://schemas.openxmlformats.org/officeDocument/2006/relationships/notesMaster" Target="/ppt/notesMasters/notesMaster1.xml" Id="R7ec25062146f48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a757a67c5642e1" /><Relationship Type="http://schemas.openxmlformats.org/officeDocument/2006/relationships/notesMaster" Target="/ppt/notesMasters/notesMaster1.xml" Id="R167f48341b6b4c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4fb19c6cb747fe" /><Relationship Type="http://schemas.openxmlformats.org/officeDocument/2006/relationships/notesMaster" Target="/ppt/notesMasters/notesMaster1.xml" Id="R2ccd3cc16a1a4a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3a625ba9c44286" /><Relationship Type="http://schemas.openxmlformats.org/officeDocument/2006/relationships/notesMaster" Target="/ppt/notesMasters/notesMaster1.xml" Id="Rcc4924c6b7c04d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5388764f4042e5" /><Relationship Type="http://schemas.openxmlformats.org/officeDocument/2006/relationships/notesMaster" Target="/ppt/notesMasters/notesMaster1.xml" Id="R4183183035d747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0a442c39d84d97" /><Relationship Type="http://schemas.openxmlformats.org/officeDocument/2006/relationships/notesMaster" Target="/ppt/notesMasters/notesMaster1.xml" Id="Ra1d8b7e153f84f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既存カリキュラムPPTX（2025年版）</a:t>
            </a:r>
          </a:p>
          <a:p xmlns:a="http://schemas.openxmlformats.org/drawingml/2006/main">
            <a:r>
              <a:t>今回採用教材：科目B_擬似言語とAIで学ぶアルゴリズム入門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既存カリキュラムPPTX：フローチャート中心の進行（スライド10～46）</a:t>
            </a:r>
          </a:p>
          <a:p xmlns:a="http://schemas.openxmlformats.org/drawingml/2006/main">
            <a:r>
              <a:t>今回教材：第1章以降をFE擬似言語形式で構成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既存カリキュラムPPTX：スライド5～72</a:t>
            </a:r>
          </a:p>
          <a:p xmlns:a="http://schemas.openxmlformats.org/drawingml/2006/main">
            <a:r>
              <a:t>画像：既存PPTXのスライド10を比較目的で掲載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今回採用教材：第1章、第4章</a:t>
            </a:r>
          </a:p>
          <a:p xmlns:a="http://schemas.openxmlformats.org/drawingml/2006/main">
            <a:r>
              <a:t>試験表記の確認：IPA 令和8年度 基本情報技術者試験 科目B 公開問題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既存カリキュラムPPTX：フローチャート中心の各章</a:t>
            </a:r>
          </a:p>
          <a:p xmlns:a="http://schemas.openxmlformats.org/drawingml/2006/main">
            <a:r>
              <a:t>今回採用教材：全章、生成AIへの質問例、PDF版の目次・しおり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今回採用教材：第0章「AIを学習相手にする」、第1章以降の難易度順構成</a:t>
            </a:r>
          </a:p>
          <a:p xmlns:a="http://schemas.openxmlformats.org/drawingml/2006/main">
            <a:r>
              <a:t>ユーザー要件：2時間で全範囲を教えるのではなく、序盤を講義で説明し、教材全体で網羅する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今回採用教材：第0章『問題をAIに渡す方法』『基本プロンプト』</a:t>
            </a:r>
          </a:p>
          <a:p xmlns:a="http://schemas.openxmlformats.org/drawingml/2006/main">
            <a:r>
              <a:t>ユーザー要件：具体的な製品名を出さず、独学で使える生成AIへの指示として記載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今回採用教材PDF：51ページ、目次リンク、しおり、ページ番号を確認済み</a:t>
            </a:r>
          </a:p>
          <a:p xmlns:a="http://schemas.openxmlformats.org/drawingml/2006/main">
            <a:r>
              <a:t>既存カリキュラムPPTXと今回教材の比較に基づく提案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f107d684da42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c748bb295e43f1" /><Relationship Type="http://schemas.openxmlformats.org/officeDocument/2006/relationships/slideLayout" Target="/ppt/slideLayouts/slideLayout1.xml" Id="R0ab0efdeda4d40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b0efdeda4d40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28c3f01fd4f26" /><Relationship Type="http://schemas.openxmlformats.org/officeDocument/2006/relationships/image" Target="/ppt/media/image.png" Id="R8c1c2607753840d2" /><Relationship Type="http://schemas.openxmlformats.org/officeDocument/2006/relationships/notesSlide" Target="/ppt/notesSlides/notesSlide1.xml" Id="R02e8da9330254b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e055e622d4f94" /><Relationship Type="http://schemas.openxmlformats.org/officeDocument/2006/relationships/image" Target="/ppt/media/image2.png" Id="Rfbec9b6678ec462b" /><Relationship Type="http://schemas.openxmlformats.org/officeDocument/2006/relationships/notesSlide" Target="/ppt/notesSlides/notesSlide2.xml" Id="Raccd839f6bbe47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904b415b84ed6" /><Relationship Type="http://schemas.openxmlformats.org/officeDocument/2006/relationships/image" Target="/ppt/media/image3.png" Id="Re0d317488513462d" /><Relationship Type="http://schemas.openxmlformats.org/officeDocument/2006/relationships/image" Target="/ppt/media/image4.png" Id="R85e5c002237b43ad" /><Relationship Type="http://schemas.openxmlformats.org/officeDocument/2006/relationships/notesSlide" Target="/ppt/notesSlides/notesSlide3.xml" Id="R8edc3dfe606746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fc500db4c4483" /><Relationship Type="http://schemas.openxmlformats.org/officeDocument/2006/relationships/image" Target="/ppt/media/image5.png" Id="Rc39fe4a223734dbc" /><Relationship Type="http://schemas.openxmlformats.org/officeDocument/2006/relationships/image" Target="/ppt/media/image6.png" Id="R291b02424b7a44b2" /><Relationship Type="http://schemas.openxmlformats.org/officeDocument/2006/relationships/notesSlide" Target="/ppt/notesSlides/notesSlide4.xml" Id="R97847fea852840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b3d6d1f7d4e34" /><Relationship Type="http://schemas.openxmlformats.org/officeDocument/2006/relationships/image" Target="/ppt/media/image7.png" Id="Redc717aae98d4a0b" /><Relationship Type="http://schemas.openxmlformats.org/officeDocument/2006/relationships/notesSlide" Target="/ppt/notesSlides/notesSlide5.xml" Id="R1de3ac686b2a48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926b8228845f0" /><Relationship Type="http://schemas.openxmlformats.org/officeDocument/2006/relationships/image" Target="/ppt/media/image8.png" Id="R8e75137ed9024fa6" /><Relationship Type="http://schemas.openxmlformats.org/officeDocument/2006/relationships/notesSlide" Target="/ppt/notesSlides/notesSlide6.xml" Id="R9f70c35714bc45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e9f4f69a84218" /><Relationship Type="http://schemas.openxmlformats.org/officeDocument/2006/relationships/image" Target="/ppt/media/image9.png" Id="R985248c5f09d4105" /><Relationship Type="http://schemas.openxmlformats.org/officeDocument/2006/relationships/notesSlide" Target="/ppt/notesSlides/notesSlide7.xml" Id="R8c895e9ee0a143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37c31dcd249a3" /><Relationship Type="http://schemas.openxmlformats.org/officeDocument/2006/relationships/image" Target="/ppt/media/image10.png" Id="R2758f7b071a74505" /><Relationship Type="http://schemas.openxmlformats.org/officeDocument/2006/relationships/notesSlide" Target="/ppt/notesSlides/notesSlide8.xml" Id="R02b9e4c9a82046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c2607753840d2"/>
          <a:stretch xmlns:a="http://schemas.openxmlformats.org/drawingml/2006/main"/>
        </p:blipFill>
        <p:spPr>
          <a:xfrm xmlns:a="http://schemas.openxmlformats.org/drawingml/2006/main">
            <a:off x="685800" y="287754"/>
            <a:ext cx="1695450" cy="2245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1B30FE-BAB4-456A-AA3A-235F5FB4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8170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D5041-144F-4773-A20A-7C3B5E26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B9909-B5F7-4392-B44B-956B0871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B6876"/>
                </a:solidFill>
              </a:defRPr>
            </a:pPr>
            <a:r>
              <a:rPr sz="1800" b="1">
                <a:solidFill>
                  <a:srgbClr val="5B6876"/>
                </a:solidFill>
              </a:rPr>
              <a:t>情報処理試験 アルゴリズム対策講座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78804-32AC-42BD-996C-CAEB4E47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885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2025年カリキュラムからの</a:t>
            </a:r>
          </a:p>
          <a:p xmlns:a="http://schemas.openxmlformats.org/drawingml/2006/main">
            <a:pPr algn="l"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刷新報告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26EB6-BF61-43B5-8ECF-08664198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2126D-F782-46A9-88F6-FB6B2FA1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685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F2937"/>
                </a:solidFill>
              </a:defRPr>
            </a:pPr>
            <a:r>
              <a:rPr sz="1950" b="0">
                <a:solidFill>
                  <a:srgbClr val="1F2937"/>
                </a:solidFill>
              </a:rPr>
              <a:t>フローチャート中心から、</a:t>
            </a:r>
          </a:p>
          <a:p xmlns:a="http://schemas.openxmlformats.org/drawingml/2006/main">
            <a:pPr algn="l">
              <a:defRPr sz="1950" b="0">
                <a:solidFill>
                  <a:srgbClr val="1F2937"/>
                </a:solidFill>
              </a:defRPr>
            </a:pPr>
            <a:r>
              <a:rPr sz="1950" b="0">
                <a:solidFill>
                  <a:srgbClr val="1F2937"/>
                </a:solidFill>
              </a:rPr>
              <a:t>FE試験の擬似言語を読み解く学習へ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A9AE9B-4EAB-4705-885F-62B67F86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6"/>
                </a:solidFill>
              </a:defRPr>
            </a:pPr>
            <a:r>
              <a:rPr sz="1200" b="0">
                <a:solidFill>
                  <a:srgbClr val="5B6876"/>
                </a:solidFill>
              </a:rPr>
              <a:t>報告資料</a:t>
            </a:r>
          </a:p>
        </p:txBody>
      </p:sp>
    </p:spTree>
    <p:extLst>
      <p:ext uri="{BB962C8B-B14F-4D97-AF65-F5344CB8AC3E}">
        <p14:creationId xmlns:p14="http://schemas.microsoft.com/office/powerpoint/2010/main" val="10268909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ec9b6678ec462b"/>
          <a:stretch xmlns:a="http://schemas.openxmlformats.org/drawingml/2006/main"/>
        </p:blipFill>
        <p:spPr>
          <a:xfrm xmlns:a="http://schemas.openxmlformats.org/drawingml/2006/main">
            <a:off x="685800" y="287754"/>
            <a:ext cx="1695450" cy="2245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2DBDC-FD20-439B-8DBD-D2B7A658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876"/>
                </a:solidFill>
              </a:defRPr>
            </a:pPr>
            <a:r>
              <a:rPr sz="1050" b="0">
                <a:solidFill>
                  <a:srgbClr val="5B6876"/>
                </a:solidFill>
              </a:rPr>
              <a:t>科目B アルゴリズム研修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1886E-32FA-479B-AFC7-E8296E4A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A991C-EBD5-43B3-8554-03A4697C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876"/>
                </a:solidFill>
              </a:defRPr>
            </a:pPr>
            <a:r>
              <a:rPr sz="975" b="0">
                <a:solidFill>
                  <a:srgbClr val="5B6876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EDE31-10D7-438D-A125-9216136C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今回の刷新は、試験で必要な『読む力』へ軸足を移すことです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3F9DA4-23BF-4F47-9352-2F4C9F0F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76"/>
                </a:solidFill>
              </a:defRPr>
            </a:pPr>
            <a:r>
              <a:rPr sz="1500" b="0">
                <a:solidFill>
                  <a:srgbClr val="5B6876"/>
                </a:solidFill>
              </a:rPr>
              <a:t>知識を増やすのではなく、学び方と教材の順番を変えます。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6220C-8D74-4A1E-AA96-11B062C1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00050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40F562-E9F1-4806-90D1-076EC140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15A24"/>
                </a:solidFill>
              </a:defRPr>
            </a:pPr>
            <a:r>
              <a:rPr sz="1575" b="1">
                <a:solidFill>
                  <a:srgbClr val="F15A24"/>
                </a:solidFill>
              </a:rPr>
              <a:t>従来の中心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0CDA0-CBE0-4633-A7F6-31247CCA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33725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7"/>
                </a:solidFill>
              </a:defRPr>
            </a:pPr>
            <a:r>
              <a:rPr sz="2550" b="1">
                <a:solidFill>
                  <a:srgbClr val="1F2937"/>
                </a:solidFill>
              </a:rPr>
              <a:t>フローチャートを</a:t>
            </a:r>
          </a:p>
          <a:p xmlns:a="http://schemas.openxmlformats.org/drawingml/2006/main">
            <a:pPr algn="l">
              <a:defRPr sz="2550" b="1">
                <a:solidFill>
                  <a:srgbClr val="1F2937"/>
                </a:solidFill>
              </a:defRPr>
            </a:pPr>
            <a:r>
              <a:rPr sz="2550" b="1">
                <a:solidFill>
                  <a:srgbClr val="1F2937"/>
                </a:solidFill>
              </a:rPr>
              <a:t>描く・読む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47B04-4BC8-4782-BFBD-C3C679E2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671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76"/>
                </a:solidFill>
              </a:defRPr>
            </a:pPr>
            <a:r>
              <a:rPr sz="1500" b="0">
                <a:solidFill>
                  <a:srgbClr val="5B6876"/>
                </a:solidFill>
              </a:rPr>
              <a:t>図形・記号の理解に</a:t>
            </a:r>
          </a:p>
          <a:p xmlns:a="http://schemas.openxmlformats.org/drawingml/2006/main">
            <a:pPr algn="l">
              <a:defRPr sz="1500" b="0">
                <a:solidFill>
                  <a:srgbClr val="5B6876"/>
                </a:solidFill>
              </a:defRPr>
            </a:pPr>
            <a:r>
              <a:rPr sz="1500" b="0">
                <a:solidFill>
                  <a:srgbClr val="5B6876"/>
                </a:solidFill>
              </a:rPr>
              <a:t>時間を多く使う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28B47-CFEB-485C-8252-D4157EF6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33725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15A24"/>
                </a:solidFill>
              </a:defRPr>
            </a:pPr>
            <a:r>
              <a:rPr sz="3600" b="1">
                <a:solidFill>
                  <a:srgbClr val="F15A24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E60B82-6AFD-4DAE-AD6A-78BF7895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523875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9E8691-6251-46C7-A176-12E0C2ED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860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4B99"/>
                </a:solidFill>
              </a:defRPr>
            </a:pPr>
            <a:r>
              <a:rPr sz="1575" b="1">
                <a:solidFill>
                  <a:srgbClr val="1F4B99"/>
                </a:solidFill>
              </a:rPr>
              <a:t>今回の中心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69BBC3-9029-45CD-89A3-254CFB52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33725"/>
            <a:ext cx="390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擬似言語を</a:t>
            </a:r>
          </a:p>
          <a:p xmlns:a="http://schemas.openxmlformats.org/drawingml/2006/main"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読む・追う・解く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F3191F-72AD-4228-9F03-7E588007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67175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76"/>
                </a:solidFill>
              </a:defRPr>
            </a:pPr>
            <a:r>
              <a:rPr sz="1500" b="0">
                <a:solidFill>
                  <a:srgbClr val="5B6876"/>
                </a:solidFill>
              </a:rPr>
              <a:t>FE試験の表記で、</a:t>
            </a:r>
          </a:p>
          <a:p xmlns:a="http://schemas.openxmlformats.org/drawingml/2006/main">
            <a:pPr algn="l">
              <a:defRPr sz="1500" b="0">
                <a:solidFill>
                  <a:srgbClr val="5B6876"/>
                </a:solidFill>
              </a:defRPr>
            </a:pPr>
            <a:r>
              <a:rPr sz="1500" b="0">
                <a:solidFill>
                  <a:srgbClr val="5B6876"/>
                </a:solidFill>
              </a:rPr>
              <a:t>値の変化を一行ずつ確かめる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D58D7B-0B72-44CE-B4E4-5D0D8210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E7D50"/>
                </a:solidFill>
              </a:defRPr>
            </a:pPr>
            <a:r>
              <a:rPr sz="1725" b="1">
                <a:solidFill>
                  <a:srgbClr val="1E7D50"/>
                </a:solidFill>
              </a:rPr>
              <a:t>生成AIは『答えを出す道具』ではなく、考えを言葉にする学習相手として組み込む。</a:t>
            </a:r>
          </a:p>
        </p:txBody>
      </p:sp>
    </p:spTree>
    <p:extLst>
      <p:ext uri="{BB962C8B-B14F-4D97-AF65-F5344CB8AC3E}">
        <p14:creationId xmlns:p14="http://schemas.microsoft.com/office/powerpoint/2010/main" val="19698384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317488513462d"/>
          <a:stretch xmlns:a="http://schemas.openxmlformats.org/drawingml/2006/main"/>
        </p:blipFill>
        <p:spPr>
          <a:xfrm xmlns:a="http://schemas.openxmlformats.org/drawingml/2006/main">
            <a:off x="685800" y="287754"/>
            <a:ext cx="1695450" cy="2245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7EBFB-D812-4D46-BF88-F7AFE93D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876"/>
                </a:solidFill>
              </a:defRPr>
            </a:pPr>
            <a:r>
              <a:rPr sz="1050" b="0">
                <a:solidFill>
                  <a:srgbClr val="5B6876"/>
                </a:solidFill>
              </a:rPr>
              <a:t>科目B アルゴリズム研修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1DD2D-05FF-4632-85BA-17484392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63A80-93D8-4DBB-94BE-F626FCC6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876"/>
                </a:solidFill>
              </a:defRPr>
            </a:pPr>
            <a:r>
              <a:rPr sz="975" b="0">
                <a:solidFill>
                  <a:srgbClr val="5B6876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456C0-5D2C-4C15-BD07-F4305AC8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2025年版は、フローチャートを入口にアルゴリズムを学ぶ構成でした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1DCA3-51E4-4A97-85DE-8B9829C8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76"/>
                </a:solidFill>
              </a:defRPr>
            </a:pPr>
            <a:r>
              <a:rPr sz="1500" b="0">
                <a:solidFill>
                  <a:srgbClr val="5B6876"/>
                </a:solidFill>
              </a:rPr>
              <a:t>概念説明から図形・記号、演習、擬似言語へと進む講義資料です。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74300-2192-4A45-BE9D-195C29C6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95300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C7291C-167D-400F-84A1-0B3B8775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主な学習の流れ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2F92D5-8B76-44D8-AE9D-76364FEF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956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5A24"/>
                </a:solidFill>
              </a:defRPr>
            </a:pPr>
            <a:r>
              <a:rPr sz="1050" b="1">
                <a:solidFill>
                  <a:srgbClr val="F15A24"/>
                </a:solidFill>
              </a:rPr>
              <a:t>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9B22B-B770-4DDC-87DC-5E70711B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765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アルゴリズムとプログラムの基本概念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886D91-AE1F-4DD2-A1AA-9AC55F5A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718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5A24"/>
                </a:solidFill>
              </a:defRPr>
            </a:pPr>
            <a:r>
              <a:rPr sz="1050" b="1">
                <a:solidFill>
                  <a:srgbClr val="F15A24"/>
                </a:solidFill>
              </a:rPr>
              <a:t>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F57C3-CE1F-4324-AC91-005EA4A8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528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フローチャートの記号と読み方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6126A-BE22-4985-9F45-93AF6836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481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5A24"/>
                </a:solidFill>
              </a:defRPr>
            </a:pPr>
            <a:r>
              <a:rPr sz="1050" b="1">
                <a:solidFill>
                  <a:srgbClr val="F15A24"/>
                </a:solidFill>
              </a:rPr>
              <a:t>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48C886-0C06-498C-8D9C-C3CA2C5E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290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順次・選択・繰返し・配列の演習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C3BD7F-1F1B-478A-B8BB-857B9EF2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243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5A24"/>
                </a:solidFill>
              </a:defRPr>
            </a:pPr>
            <a:r>
              <a:rPr sz="1050" b="1">
                <a:solidFill>
                  <a:srgbClr val="F15A24"/>
                </a:solidFill>
              </a:rPr>
              <a:t>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EDA764-3E17-41A4-8451-495B5188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053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後半で擬似言語へ展開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1D3F7E-FA20-4454-BFF0-368694AB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72075"/>
            <a:ext cx="3143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6"/>
                </a:solidFill>
              </a:defRPr>
            </a:pPr>
            <a:r>
              <a:rPr sz="1200" b="0">
                <a:solidFill>
                  <a:srgbClr val="5B6876"/>
                </a:solidFill>
              </a:rPr>
              <a:t>講義用スライド：全72枚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9C12C1-D08C-46D0-A4EE-5FA83D06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66950"/>
            <a:ext cx="535305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e5c002237b43ad"/>
          <a:stretch xmlns:a="http://schemas.openxmlformats.org/drawingml/2006/main"/>
        </p:blipFill>
        <p:spPr>
          <a:xfrm xmlns:a="http://schemas.openxmlformats.org/drawingml/2006/main">
            <a:off x="6765925" y="2457450"/>
            <a:ext cx="4127500" cy="309562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B06210-F4A0-4BA5-AE48-1A66FEC7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848350"/>
            <a:ext cx="535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6"/>
                </a:solidFill>
              </a:defRPr>
            </a:pPr>
            <a:r>
              <a:rPr sz="1125" b="0">
                <a:solidFill>
                  <a:srgbClr val="5B6876"/>
                </a:solidFill>
              </a:rPr>
              <a:t>既存教材の例：フローチャートの記号を解説するスライド</a:t>
            </a:r>
          </a:p>
        </p:txBody>
      </p:sp>
    </p:spTree>
    <p:extLst>
      <p:ext uri="{BB962C8B-B14F-4D97-AF65-F5344CB8AC3E}">
        <p14:creationId xmlns:p14="http://schemas.microsoft.com/office/powerpoint/2010/main" val="12935820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9fe4a223734dbc"/>
          <a:stretch xmlns:a="http://schemas.openxmlformats.org/drawingml/2006/main"/>
        </p:blipFill>
        <p:spPr>
          <a:xfrm xmlns:a="http://schemas.openxmlformats.org/drawingml/2006/main">
            <a:off x="685800" y="287754"/>
            <a:ext cx="1695450" cy="2245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9139A-A90F-4EE8-B0CD-84F54C2F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876"/>
                </a:solidFill>
              </a:defRPr>
            </a:pPr>
            <a:r>
              <a:rPr sz="1050" b="0">
                <a:solidFill>
                  <a:srgbClr val="5B6876"/>
                </a:solidFill>
              </a:rPr>
              <a:t>科目B アルゴリズム研修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EB1C9-945D-4AEB-B665-FAF0EFF4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F56DB-CE81-4596-B04F-83B05B86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876"/>
                </a:solidFill>
              </a:defRPr>
            </a:pPr>
            <a:r>
              <a:rPr sz="975" b="0">
                <a:solidFill>
                  <a:srgbClr val="5B6876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0F6DA0-0D3A-42F2-BAEF-9F5BAF4A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今回版は、FE試験の擬似言語を最初から『読める形』で扱います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A2BE01-CD22-40EA-96D3-D1281ECD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76"/>
                </a:solidFill>
              </a:defRPr>
            </a:pPr>
            <a:r>
              <a:rPr sz="1500" b="0">
                <a:solidFill>
                  <a:srgbClr val="5B6876"/>
                </a:solidFill>
              </a:rPr>
              <a:t>難しい記号は避けずに示し、意味をその場で「※」補足します。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F7A8CD-CD98-4F14-859E-BD60FD04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76250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75CCF-6F05-473F-BA8B-D96115CA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教材設計の変更点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045CAD-CB49-4C49-A580-2AE970DE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5A24"/>
                </a:solidFill>
              </a:defRPr>
            </a:pPr>
            <a:r>
              <a:rPr sz="1050" b="1">
                <a:solidFill>
                  <a:srgbClr val="F15A24"/>
                </a:solidFill>
              </a:rPr>
              <a:t>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2BC40-5DE0-49B3-AC89-2CAB5650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861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試験の記述形式（←、≧、≦、○）に統一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D91A57-E60C-47F2-8A95-CFF04BAA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80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5A24"/>
                </a:solidFill>
              </a:defRPr>
            </a:pPr>
            <a:r>
              <a:rPr sz="1050" b="1">
                <a:solidFill>
                  <a:srgbClr val="F15A24"/>
                </a:solidFill>
              </a:rPr>
              <a:t>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55E22-AE01-4696-8E62-A8630164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290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図形ではなく、処理を上から一行ずつ追う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07C02D-448E-47CF-BE1C-9C762CCC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5A24"/>
                </a:solidFill>
              </a:defRPr>
            </a:pPr>
            <a:r>
              <a:rPr sz="1050" b="1">
                <a:solidFill>
                  <a:srgbClr val="F15A24"/>
                </a:solidFill>
              </a:rPr>
              <a:t>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DFDE84-908D-4481-B0DD-C564D29F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719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変数・代入・条件・繰返し・配列を難易度順に配置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473C05-AF1F-4AF5-A3A9-C4BE0C7E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768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5A24"/>
                </a:solidFill>
              </a:defRPr>
            </a:pPr>
            <a:r>
              <a:rPr sz="1050" b="1">
                <a:solidFill>
                  <a:srgbClr val="F15A24"/>
                </a:solidFill>
              </a:rPr>
              <a:t>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A3EBCA-BB2B-4DC3-8931-D758BC43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577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問題文の仕様を優先する読み方も明示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DD6365-6698-49F1-937C-ED923706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66950"/>
            <a:ext cx="554355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1b02424b7a44b2"/>
          <a:stretch xmlns:a="http://schemas.openxmlformats.org/drawingml/2006/main"/>
        </p:blipFill>
        <p:spPr>
          <a:xfrm xmlns:a="http://schemas.openxmlformats.org/drawingml/2006/main">
            <a:off x="7640068" y="2419350"/>
            <a:ext cx="2188714" cy="309562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D2E56A-49B4-4FB7-9CE4-124B0211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848350"/>
            <a:ext cx="554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6"/>
                </a:solidFill>
              </a:defRPr>
            </a:pPr>
            <a:r>
              <a:rPr sz="1125" b="0">
                <a:solidFill>
                  <a:srgbClr val="5B6876"/>
                </a:solidFill>
              </a:rPr>
              <a:t>今回教材の例：FE試験の関係演算子と擬似言語</a:t>
            </a:r>
          </a:p>
        </p:txBody>
      </p:sp>
    </p:spTree>
    <p:extLst>
      <p:ext uri="{BB962C8B-B14F-4D97-AF65-F5344CB8AC3E}">
        <p14:creationId xmlns:p14="http://schemas.microsoft.com/office/powerpoint/2010/main" val="19615417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c717aae98d4a0b"/>
          <a:stretch xmlns:a="http://schemas.openxmlformats.org/drawingml/2006/main"/>
        </p:blipFill>
        <p:spPr>
          <a:xfrm xmlns:a="http://schemas.openxmlformats.org/drawingml/2006/main">
            <a:off x="685800" y="287754"/>
            <a:ext cx="1695450" cy="2245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547C2-096D-4805-94A0-87760ECA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876"/>
                </a:solidFill>
              </a:defRPr>
            </a:pPr>
            <a:r>
              <a:rPr sz="1050" b="0">
                <a:solidFill>
                  <a:srgbClr val="5B6876"/>
                </a:solidFill>
              </a:rPr>
              <a:t>科目B アルゴリズム研修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F6AF4-F586-4DC5-910A-C539772E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08131-F2C9-4182-AC0A-8D8C48B7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876"/>
                </a:solidFill>
              </a:defRPr>
            </a:pPr>
            <a:r>
              <a:rPr sz="975" b="0">
                <a:solidFill>
                  <a:srgbClr val="5B6876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9C80F-2484-4D9C-8CF9-E04A75BD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変更点は『内容』だけでなく、『学ぶ順番』にもあります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C2E1B-6673-4FCF-8F04-9CF85F76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76"/>
                </a:solidFill>
              </a:defRPr>
            </a:pPr>
            <a:r>
              <a:rPr sz="1500" b="0">
                <a:solidFill>
                  <a:srgbClr val="5B6876"/>
                </a:solidFill>
              </a:rPr>
              <a:t>初学者が置いていかれず、試験問題の形式にも慣れられる設計です。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B3CDC-2FBD-41EF-A75D-1A70B1A1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428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136D2-7D84-4F43-B342-CB2CCFDE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085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観点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B985BF-5ED7-401F-A756-32914D00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324100"/>
            <a:ext cx="3286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53C50-6977-46E5-BF5C-FF781D2F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28875"/>
            <a:ext cx="2943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2025年版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2F054F-1521-4313-BB40-E599A4BB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24100"/>
            <a:ext cx="5105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B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C7A79-F10F-4DD7-A911-201C894A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2887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今回版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661F81-50A3-47BF-963C-DB5EFE13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428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FEF5A9-EC63-49D6-8F10-7DC8672F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124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085B08-5430-4EE8-BDD8-B586E83C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781300"/>
            <a:ext cx="32861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4174BE-6DD5-4206-81F7-4D4D4C66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914650"/>
            <a:ext cx="2981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フローチャートの図形・記号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35527B-7D8A-4FFB-A1CA-A4882A1B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5105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7EBB21-69F8-4036-B1F1-7742242B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146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FE擬似言語の記述と意味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989753-B868-4F4B-A647-BE17E672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428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CC54B0-1B5F-42B3-A04F-732A225C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2124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説明方法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1A398B-E5ED-478C-8601-A75E7293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352800"/>
            <a:ext cx="32861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7CA764-E32C-451B-A615-E60BB6B7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486150"/>
            <a:ext cx="2981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図の流れを理解する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C182A4-03AC-4BDC-8F81-F7E11577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5105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4A0D8E-3AC8-447C-95C8-A08A35C3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861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値の変化を一行ずつ追う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004B75-28B3-4E7C-94D8-DBC139FB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2428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9231F0-F910-4FD7-A7D8-7EF72561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2124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問題演習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6B8BE1-68DB-476D-8616-253EF5F0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924300"/>
            <a:ext cx="32861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36F0CB-F85C-4BBE-AD2F-5E1AF8B4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057650"/>
            <a:ext cx="2981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図形で処理を表現する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ACEE8B-B4B7-46D7-873C-D0922027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24300"/>
            <a:ext cx="5105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6BC5FB-A861-4F89-B7AF-2C59B004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576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問題文の仕様を読み、コードを追う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E82B01-6FD3-4FF5-9492-23968E29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428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DB9DE4-B79B-49D7-BF2D-E45C4F44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2124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AI活用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7D342C-93CA-4822-9A6C-596EE808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495800"/>
            <a:ext cx="32861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972D92-0DA0-4BD4-AD00-8A4BD6E5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629150"/>
            <a:ext cx="2981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講義内では扱わない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45D265-4FBE-4A4F-9CB3-4CD23321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95800"/>
            <a:ext cx="5105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B012D7-3857-4947-BBEF-2346EC1E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291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質問例を教材内に置き、自学を支援する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4771BC-82F5-4573-8396-A0494F3C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2428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443030-898F-40DE-8B44-4B82E44D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2124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受講後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11B24E-95ED-4490-8A37-DD13167F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067300"/>
            <a:ext cx="32861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A0F025-1EC1-424B-A1C0-2131D1CC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200650"/>
            <a:ext cx="2981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講義資料を復習する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42C926-40B0-4C10-9A7A-834DBD24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5105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4CBAD5-F111-48D2-B7F0-61AAA463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006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PDF教材で全体を自走して学び直せる</a:t>
            </a:r>
          </a:p>
        </p:txBody>
      </p:sp>
    </p:spTree>
    <p:extLst>
      <p:ext uri="{BB962C8B-B14F-4D97-AF65-F5344CB8AC3E}">
        <p14:creationId xmlns:p14="http://schemas.microsoft.com/office/powerpoint/2010/main" val="18810149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5137ed9024fa6"/>
          <a:stretch xmlns:a="http://schemas.openxmlformats.org/drawingml/2006/main"/>
        </p:blipFill>
        <p:spPr>
          <a:xfrm xmlns:a="http://schemas.openxmlformats.org/drawingml/2006/main">
            <a:off x="685800" y="287754"/>
            <a:ext cx="1695450" cy="2245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E0D53-1A87-4FD6-AF8B-AD636ED0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876"/>
                </a:solidFill>
              </a:defRPr>
            </a:pPr>
            <a:r>
              <a:rPr sz="1050" b="0">
                <a:solidFill>
                  <a:srgbClr val="5B6876"/>
                </a:solidFill>
              </a:rPr>
              <a:t>科目B アルゴリズム研修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02866-C5E5-4303-9A25-3E80BA58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63C07F-A949-4B7C-98FF-DDDFB422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876"/>
                </a:solidFill>
              </a:defRPr>
            </a:pPr>
            <a:r>
              <a:rPr sz="975" b="0">
                <a:solidFill>
                  <a:srgbClr val="5B6876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25BAC-8497-488B-AE95-1BE87C50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講義は序盤に集中、全範囲は教材で支えます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FE52A-CAE7-4A89-90BE-1C87F838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76"/>
                </a:solidFill>
              </a:defRPr>
            </a:pPr>
            <a:r>
              <a:rPr sz="1500" b="0">
                <a:solidFill>
                  <a:srgbClr val="5B6876"/>
                </a:solidFill>
              </a:rPr>
              <a:t>短時間ですべてを教え切る前提から、講義と自学をつなぐ前提へ変えます。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1C899-FC7B-4834-8AAE-739B9D50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3048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A736D-1AB3-4D5A-A7B7-34626F85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15A24"/>
                </a:solidFill>
              </a:defRPr>
            </a:pPr>
            <a:r>
              <a:rPr sz="2400" b="1">
                <a:solidFill>
                  <a:srgbClr val="F15A24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9E171C-4932-4FCC-A29C-AC262E62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146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6876"/>
                </a:solidFill>
              </a:defRPr>
            </a:pPr>
            <a:r>
              <a:rPr sz="1500" b="1">
                <a:solidFill>
                  <a:srgbClr val="5B6876"/>
                </a:solidFill>
              </a:rPr>
              <a:t>講義時間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1957CB-F93E-44DC-9C03-B2002D50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2514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序盤を丁寧に説明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12317-434D-4025-BDBD-F7B3CEE4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251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変数・代入</a:t>
            </a:r>
          </a:p>
          <a:p xmlns:a="http://schemas.openxmlformats.org/drawingml/2006/main">
            <a:pPr algn="ctr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条件・繰返し</a:t>
            </a:r>
          </a:p>
          <a:p xmlns:a="http://schemas.openxmlformats.org/drawingml/2006/main">
            <a:pPr algn="ctr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値の追い方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3CFF6E-C38D-4A16-A7DD-F009FDF8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24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15A24"/>
                </a:solidFill>
              </a:defRPr>
            </a:pPr>
            <a:r>
              <a:rPr sz="2250" b="1">
                <a:solidFill>
                  <a:srgbClr val="F15A24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F1F3DA-75FB-45C2-9FE7-442647CD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90800"/>
            <a:ext cx="3048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FBBECF-F1F1-4736-9B0E-78FD7DF9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57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4B99"/>
                </a:solidFill>
              </a:defRPr>
            </a:pPr>
            <a:r>
              <a:rPr sz="2400" b="1">
                <a:solidFill>
                  <a:srgbClr val="1F4B99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F6825D-A9A4-45F2-AFFF-E4AEF31D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146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6876"/>
                </a:solidFill>
              </a:defRPr>
            </a:pPr>
            <a:r>
              <a:rPr sz="1500" b="1">
                <a:solidFill>
                  <a:srgbClr val="5B6876"/>
                </a:solidFill>
              </a:rPr>
              <a:t>教材で復習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017949-032F-48E7-88E7-D113E085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48050"/>
            <a:ext cx="2514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難易度順に全体を網羅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BD7108-0A8B-4F12-8F52-F0605721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33850"/>
            <a:ext cx="251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配列・トレース</a:t>
            </a:r>
          </a:p>
          <a:p xmlns:a="http://schemas.openxmlformats.org/drawingml/2006/main">
            <a:pPr algn="ctr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総合演習</a:t>
            </a:r>
          </a:p>
          <a:p xmlns:a="http://schemas.openxmlformats.org/drawingml/2006/main">
            <a:pPr algn="ctr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解答・解説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AB1FA-86EE-41AA-925F-81DDD558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24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15A24"/>
                </a:solidFill>
              </a:defRPr>
            </a:pPr>
            <a:r>
              <a:rPr sz="2250" b="1">
                <a:solidFill>
                  <a:srgbClr val="F15A24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895328-9C00-4F56-9BE5-886098F4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90800"/>
            <a:ext cx="3048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C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7CA7FD-3D72-433C-B1A9-7937E5E9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57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E7D50"/>
                </a:solidFill>
              </a:defRPr>
            </a:pPr>
            <a:r>
              <a:rPr sz="2400" b="1">
                <a:solidFill>
                  <a:srgbClr val="1E7D50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646DD8-B95A-4755-9E3E-7FA5C05E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146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6876"/>
                </a:solidFill>
              </a:defRPr>
            </a:pPr>
            <a:r>
              <a:rPr sz="1500" b="1">
                <a:solidFill>
                  <a:srgbClr val="5B6876"/>
                </a:solidFill>
              </a:rPr>
              <a:t>自分で深める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4FD57D-BA59-421D-A6EE-29A1090C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48050"/>
            <a:ext cx="2514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生成AIを学習相手にする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4A2F2E-06B5-4E98-AECE-7DD0346E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33850"/>
            <a:ext cx="251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質問例を参考に</a:t>
            </a:r>
          </a:p>
          <a:p xmlns:a="http://schemas.openxmlformats.org/drawingml/2006/main">
            <a:pPr algn="ctr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分からない点を</a:t>
            </a:r>
          </a:p>
          <a:p xmlns:a="http://schemas.openxmlformats.org/drawingml/2006/main">
            <a:pPr algn="ctr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言語化して確認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EC8360-30A2-495D-A675-DA1C8D07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講義の後も、教材だけで『どこをどう読めばよいか』が分かる状態をつくる。</a:t>
            </a:r>
          </a:p>
        </p:txBody>
      </p:sp>
    </p:spTree>
    <p:extLst>
      <p:ext uri="{BB962C8B-B14F-4D97-AF65-F5344CB8AC3E}">
        <p14:creationId xmlns:p14="http://schemas.microsoft.com/office/powerpoint/2010/main" val="17018963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248c5f09d4105"/>
          <a:stretch xmlns:a="http://schemas.openxmlformats.org/drawingml/2006/main"/>
        </p:blipFill>
        <p:spPr>
          <a:xfrm xmlns:a="http://schemas.openxmlformats.org/drawingml/2006/main">
            <a:off x="685800" y="287754"/>
            <a:ext cx="1695450" cy="2245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93D7F-289B-40AC-B0B9-50269AA9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876"/>
                </a:solidFill>
              </a:defRPr>
            </a:pPr>
            <a:r>
              <a:rPr sz="1050" b="0">
                <a:solidFill>
                  <a:srgbClr val="5B6876"/>
                </a:solidFill>
              </a:rPr>
              <a:t>科目B アルゴリズム研修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356EA-FB4F-4E92-8E9C-27A199D9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876C7-FC81-41B5-B7D2-045E5829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876"/>
                </a:solidFill>
              </a:defRPr>
            </a:pPr>
            <a:r>
              <a:rPr sz="975" b="0">
                <a:solidFill>
                  <a:srgbClr val="5B6876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0B17B-A93F-4D15-9144-D8391624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生成AIは、受講者の『考えた過程』を引き出すために使います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601F0-36D1-45CC-B0F2-B509BCB5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76"/>
                </a:solidFill>
              </a:defRPr>
            </a:pPr>
            <a:r>
              <a:rPr sz="1500" b="0">
                <a:solidFill>
                  <a:srgbClr val="5B6876"/>
                </a:solidFill>
              </a:rPr>
              <a:t>特定製品名に依存せず、問題の共有方法と質問の型を教材に組み込みます。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6E703-EFFC-4BC8-95BA-71CD70C0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0480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BDFCE-2659-418B-876D-F3FAC1E2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15A24"/>
                </a:solidFill>
              </a:defRPr>
            </a:pPr>
            <a:r>
              <a:rPr sz="1800" b="1">
                <a:solidFill>
                  <a:srgbClr val="F15A24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1A23E-53DE-4F38-A54B-8EF3E731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194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問題を共有する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AE1A3E-3AD8-4CE1-83FB-3476416B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問題文をコピーする</a:t>
            </a:r>
          </a:p>
          <a:p xmlns:a="http://schemas.openxmlformats.org/drawingml/2006/main"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またはスクリーンショットを貼る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377B4D-A66A-4848-9F86-23D48B49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2385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15A24"/>
                </a:solidFill>
              </a:defRPr>
            </a:pPr>
            <a:r>
              <a:rPr sz="2100" b="1">
                <a:solidFill>
                  <a:srgbClr val="F15A24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4AB39-3769-4B6C-9C52-D9705C81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71750"/>
            <a:ext cx="30480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F6202F-209A-4EF7-8EB5-84550370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003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15A24"/>
                </a:solidFill>
              </a:defRPr>
            </a:pPr>
            <a:r>
              <a:rPr sz="1800" b="1">
                <a:solidFill>
                  <a:srgbClr val="F15A24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DB58B-7051-400C-A2ED-B2FB584D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194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自分の考えを添える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B81DF1-1BC9-4643-A31D-21BA540C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7185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分かっていること</a:t>
            </a:r>
          </a:p>
          <a:p xmlns:a="http://schemas.openxmlformats.org/drawingml/2006/main"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分からないこと</a:t>
            </a:r>
          </a:p>
          <a:p xmlns:a="http://schemas.openxmlformats.org/drawingml/2006/main"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自分で試したこと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690AF7-1BE8-4846-BC47-68DFC316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2385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15A24"/>
                </a:solidFill>
              </a:defRPr>
            </a:pPr>
            <a:r>
              <a:rPr sz="2100" b="1">
                <a:solidFill>
                  <a:srgbClr val="F15A24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15189C-931A-40DC-94BD-29F872EB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71750"/>
            <a:ext cx="30480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EC95B2-BA94-49CE-ADDA-12ED2C6D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003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15A24"/>
                </a:solidFill>
              </a:defRPr>
            </a:pPr>
            <a:r>
              <a:rPr sz="1800" b="1">
                <a:solidFill>
                  <a:srgbClr val="F15A24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DBF55F-1990-4C3D-8D95-3622C21A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194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答えを検証する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E2F271-9A81-44C6-8F89-80CC7B66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7185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説明を読んだら、AIを閉じて</a:t>
            </a:r>
          </a:p>
          <a:p xmlns:a="http://schemas.openxmlformats.org/drawingml/2006/main"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自分でもう一度追う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CFBE1F-B7CE-436D-AA9C-3051BB46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108204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FB1BAC-C99E-497C-A489-2CC320F6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577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B99"/>
                </a:solidFill>
              </a:defRPr>
            </a:pPr>
            <a:r>
              <a:rPr sz="1350" b="1">
                <a:solidFill>
                  <a:srgbClr val="1F4B99"/>
                </a:solidFill>
              </a:rPr>
              <a:t>教材に入れる質問例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ABB382-643D-4501-A06D-6B6BCEE0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81575"/>
            <a:ext cx="833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「問題文を貼ります。①分かっていること ②分からないこと ③自分で試したこと を前提に、次に確認すべき値を一つずつ質問してください。」</a:t>
            </a:r>
          </a:p>
        </p:txBody>
      </p:sp>
    </p:spTree>
    <p:extLst>
      <p:ext uri="{BB962C8B-B14F-4D97-AF65-F5344CB8AC3E}">
        <p14:creationId xmlns:p14="http://schemas.microsoft.com/office/powerpoint/2010/main" val="4831339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58f7b071a74505"/>
          <a:stretch xmlns:a="http://schemas.openxmlformats.org/drawingml/2006/main"/>
        </p:blipFill>
        <p:spPr>
          <a:xfrm xmlns:a="http://schemas.openxmlformats.org/drawingml/2006/main">
            <a:off x="685800" y="287754"/>
            <a:ext cx="1695450" cy="2245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E8167-D80F-4C52-873A-DAAA2604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876"/>
                </a:solidFill>
              </a:defRPr>
            </a:pPr>
            <a:r>
              <a:rPr sz="1050" b="0">
                <a:solidFill>
                  <a:srgbClr val="5B6876"/>
                </a:solidFill>
              </a:rPr>
              <a:t>科目B アルゴリズム研修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5D014-8D90-497C-B14B-0030968E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B7280-FE42-4F5D-8990-B57B7BF2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876"/>
                </a:solidFill>
              </a:defRPr>
            </a:pPr>
            <a:r>
              <a:rPr sz="975" b="0">
                <a:solidFill>
                  <a:srgbClr val="5B6876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53B20-E5C4-4ACE-B921-4B3DA527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初稿を、科目B対策の標準教材として採用します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AC1019-CBBF-42E5-9E6E-A704BB33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76"/>
                </a:solidFill>
              </a:defRPr>
            </a:pPr>
            <a:r>
              <a:rPr sz="1500" b="0">
                <a:solidFill>
                  <a:srgbClr val="5B6876"/>
                </a:solidFill>
              </a:rPr>
              <a:t>既存教材の『分かりやすく教える』良さを残し、試験形式と独学支援を強化します。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70CE4-C2CD-4048-8640-3AF50781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65722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3746A-B71D-4193-8A17-787948EA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採用により実現すること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1CD42A-EF6C-4331-A2E4-340E28AE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5A24"/>
                </a:solidFill>
              </a:defRPr>
            </a:pPr>
            <a:r>
              <a:rPr sz="1050" b="1">
                <a:solidFill>
                  <a:srgbClr val="F15A24"/>
                </a:solidFill>
              </a:rPr>
              <a:t>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14F11F-5317-4337-9246-F38DCD37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337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試験問題と同じ擬似言語の表記に早くから慣れる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098F1-2B4A-4CB2-AB4B-E17DCCF7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5A24"/>
                </a:solidFill>
              </a:defRPr>
            </a:pPr>
            <a:r>
              <a:rPr sz="1050" b="1">
                <a:solidFill>
                  <a:srgbClr val="F15A24"/>
                </a:solidFill>
              </a:rPr>
              <a:t>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CE095-0D64-4F26-BCE8-C8F8E5EA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671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IT未経験の受講者でも、図・例・補足で理解を進められる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E98F26-BEFE-499A-BC39-3F425E83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5A24"/>
                </a:solidFill>
              </a:defRPr>
            </a:pPr>
            <a:r>
              <a:rPr sz="1050" b="1">
                <a:solidFill>
                  <a:srgbClr val="F15A24"/>
                </a:solidFill>
              </a:rPr>
              <a:t>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950886-605F-4051-A258-355BB32E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005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講義後も、PDF教材と生成AIで自走して復習できる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774424-868E-4747-AA90-4B091890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57450"/>
            <a:ext cx="3714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670403-D0AF-4B06-B818-1807AC2F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81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15A24"/>
                </a:solidFill>
              </a:defRPr>
            </a:pPr>
            <a:r>
              <a:rPr sz="1800" b="1">
                <a:solidFill>
                  <a:srgbClr val="F15A24"/>
                </a:solidFill>
              </a:rPr>
              <a:t>提供物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0EFFAE-6620-4C4B-9153-516C9974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14700"/>
            <a:ext cx="2762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・51ページのPDF教材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・目次リンク／しおり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・全ページのページ番号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・生成AIへの質問例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・講義＋自学の学習導線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8631CA-7FF1-414F-8583-19C5AC8F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2025年版の知見を踏まえ、今回は『読む・追う・解く』力を育てる教材へ。</a:t>
            </a:r>
          </a:p>
        </p:txBody>
      </p:sp>
    </p:spTree>
    <p:extLst>
      <p:ext uri="{BB962C8B-B14F-4D97-AF65-F5344CB8AC3E}">
        <p14:creationId xmlns:p14="http://schemas.microsoft.com/office/powerpoint/2010/main" val="16053020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2026-07-31T01:00:07.6700000Z</dcterms:created>
  <dcterms:modified xsi:type="dcterms:W3CDTF">2026-07-31T01:00:07.6700000Z</dcterms:modified>
</coreProperties>
</file>