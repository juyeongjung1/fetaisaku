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emf" ContentType="image/x-emf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6f882aae454b9a" /><Relationship Type="http://schemas.openxmlformats.org/officeDocument/2006/relationships/extended-properties" Target="/docProps/app.xml" Id="R96af6bf45c114c0c" /><Relationship Type="http://schemas.openxmlformats.org/officeDocument/2006/relationships/officeDocument" Target="/ppt/presentation.xml" Id="R98dce573261d44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f367ce86c841a5"/>
  </p:sldMasterIdLst>
  <p:notesMasterIdLst>
    <p:notesMasterId xmlns:r="http://schemas.openxmlformats.org/officeDocument/2006/relationships" r:id="R6eb9e94f13254e48"/>
  </p:notesMasterIdLst>
  <p:sldIdLst>
    <p:sldId xmlns:r="http://schemas.openxmlformats.org/officeDocument/2006/relationships" id="256" r:id="R1703b21cf965493f"/>
    <p:sldId xmlns:r="http://schemas.openxmlformats.org/officeDocument/2006/relationships" id="257" r:id="R046bb4448ac44202"/>
    <p:sldId xmlns:r="http://schemas.openxmlformats.org/officeDocument/2006/relationships" id="258" r:id="R22c535bb215a4cbd"/>
    <p:sldId xmlns:r="http://schemas.openxmlformats.org/officeDocument/2006/relationships" id="259" r:id="R8bfb5a97ec7241ab"/>
    <p:sldId xmlns:r="http://schemas.openxmlformats.org/officeDocument/2006/relationships" id="260" r:id="Rb7f4ab8cdea445f2"/>
    <p:sldId xmlns:r="http://schemas.openxmlformats.org/officeDocument/2006/relationships" id="261" r:id="Rbf3b8407e9ee4d13"/>
    <p:sldId xmlns:r="http://schemas.openxmlformats.org/officeDocument/2006/relationships" id="262" r:id="R1c3c2e8f997743a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360000" cy="3600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f694e9798346d9" /><Relationship Type="http://schemas.openxmlformats.org/officeDocument/2006/relationships/slideMaster" Target="/ppt/slideMasters/slideMaster1.xml" Id="R75f367ce86c841a5" /><Relationship Type="http://schemas.openxmlformats.org/officeDocument/2006/relationships/notesMaster" Target="/ppt/notesMasters/notesMaster1.xml" Id="R6eb9e94f13254e48" /><Relationship Type="http://schemas.openxmlformats.org/officeDocument/2006/relationships/presProps" Target="/ppt/presProps.xml" Id="R51eb197ce22c470d" /><Relationship Type="http://schemas.openxmlformats.org/officeDocument/2006/relationships/viewProps" Target="/ppt/viewProps.xml" Id="R7f3741d5b3644c21" /><Relationship Type="http://schemas.openxmlformats.org/officeDocument/2006/relationships/tableStyles" Target="/ppt/tableStyles.xml" Id="Rd300dd21f3dc4650" /><Relationship Type="http://schemas.openxmlformats.org/officeDocument/2006/relationships/slide" Target="/ppt/slides/slide1.xml" Id="R1703b21cf965493f" /><Relationship Type="http://schemas.openxmlformats.org/officeDocument/2006/relationships/slide" Target="/ppt/slides/slide2.xml" Id="R046bb4448ac44202" /><Relationship Type="http://schemas.openxmlformats.org/officeDocument/2006/relationships/slide" Target="/ppt/slides/slide3.xml" Id="R22c535bb215a4cbd" /><Relationship Type="http://schemas.openxmlformats.org/officeDocument/2006/relationships/slide" Target="/ppt/slides/slide4.xml" Id="R8bfb5a97ec7241ab" /><Relationship Type="http://schemas.openxmlformats.org/officeDocument/2006/relationships/slide" Target="/ppt/slides/slide5.xml" Id="Rb7f4ab8cdea445f2" /><Relationship Type="http://schemas.openxmlformats.org/officeDocument/2006/relationships/slide" Target="/ppt/slides/slide6.xml" Id="Rbf3b8407e9ee4d13" /><Relationship Type="http://schemas.openxmlformats.org/officeDocument/2006/relationships/slide" Target="/ppt/slides/slide7.xml" Id="R1c3c2e8f997743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6f1802e7864a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テーマ">
  <a:themeElements>
    <a:clrScheme name="ユーザー定義 1">
      <a:dk1>
        <a:srgbClr val="000000"/>
      </a:dk1>
      <a:lt1>
        <a:srgbClr val="FFFFFF"/>
      </a:lt1>
      <a:dk2>
        <a:srgbClr val="808080"/>
      </a:dk2>
      <a:lt2>
        <a:srgbClr val="BFBFBF"/>
      </a:lt2>
      <a:accent1>
        <a:srgbClr val="F2F2F2"/>
      </a:accent1>
      <a:accent2>
        <a:srgbClr val="FA4515"/>
      </a:accent2>
      <a:accent3>
        <a:srgbClr val="FBE3D6"/>
      </a:accent3>
      <a:accent4>
        <a:srgbClr val="196B24"/>
      </a:accent4>
      <a:accent5>
        <a:srgbClr val="156082"/>
      </a:accent5>
      <a:accent6>
        <a:srgbClr val="FFC000"/>
      </a:accent6>
      <a:hlink>
        <a:srgbClr val="0563C1"/>
      </a:hlink>
      <a:folHlink>
        <a:srgbClr val="96607D"/>
      </a:folHlink>
    </a:clrScheme>
    <a:fontScheme name="Trainocateデフォルト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7723e2016d4878" /><Relationship Type="http://schemas.openxmlformats.org/officeDocument/2006/relationships/notesMaster" Target="/ppt/notesMasters/notesMaster1.xml" Id="R767508b8ac3c43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10b51fe1484ae1" /><Relationship Type="http://schemas.openxmlformats.org/officeDocument/2006/relationships/notesMaster" Target="/ppt/notesMasters/notesMaster1.xml" Id="Ra4cb99302c904c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961ef6b7a74fa1" /><Relationship Type="http://schemas.openxmlformats.org/officeDocument/2006/relationships/notesMaster" Target="/ppt/notesMasters/notesMaster1.xml" Id="R3d0d7d37b00f448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344a2f5dc1400a" /><Relationship Type="http://schemas.openxmlformats.org/officeDocument/2006/relationships/notesMaster" Target="/ppt/notesMasters/notesMaster1.xml" Id="R547479b968df48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1f625d24dc64b89" /><Relationship Type="http://schemas.openxmlformats.org/officeDocument/2006/relationships/notesMaster" Target="/ppt/notesMasters/notesMaster1.xml" Id="R26d4107b419f46d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fe1c2242484ea6" /><Relationship Type="http://schemas.openxmlformats.org/officeDocument/2006/relationships/notesMaster" Target="/ppt/notesMasters/notesMaster1.xml" Id="R5c6d3476408141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0777da0c2a4386" /><Relationship Type="http://schemas.openxmlformats.org/officeDocument/2006/relationships/notesMaster" Target="/ppt/notesMasters/notesMaster1.xml" Id="R5ba053d86f1345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正式テンプレート：【ご提案・提供資料】NIT様 内定者研修_260724 1.pptx</a:t>
            </a:r>
          </a:p>
          <a:p xmlns:a="http://schemas.openxmlformats.org/drawingml/2006/main">
            <a:r>
              <a:t>今回採用教材：科目B_擬似言語とAIで学ぶアルゴリズム入門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既存カリキュラム：20250218_情報処理試験アルゴリズム対策講座_解答付き.pptx</a:t>
            </a:r>
          </a:p>
          <a:p xmlns:a="http://schemas.openxmlformats.org/drawingml/2006/main">
            <a:r>
              <a:t>ユーザー提示方針：午前対策1〜4は従来どおり、午後のアルゴリズム領域のみ変更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正式テンプレート：研修詳細スライド4を複製し、今回変更箇所のみ書換え</a:t>
            </a:r>
          </a:p>
          <a:p xmlns:a="http://schemas.openxmlformats.org/drawingml/2006/main">
            <a:r>
              <a:t>今回採用教材：科目B_擬似言語とAIで学ぶアルゴリズム入門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Google NotebookLM Help - Create a notebook / Share notebooks privately: https://support.google.com/notebooklm/answer/16206563?hl=en</a:t>
            </a:r>
          </a:p>
          <a:p xmlns:a="http://schemas.openxmlformats.org/drawingml/2006/main">
            <a:r>
              <a:t>Google NotebookLM Help - Privacy and Terms of Use: https://support.google.com/notebooklm/answer/17004255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Google NotebookLM Help - Generate Audio Overview: https://support.google.com/notebooklm/answer/16212820</a:t>
            </a:r>
          </a:p>
          <a:p xmlns:a="http://schemas.openxmlformats.org/drawingml/2006/main">
            <a:r>
              <a:t>Google NotebookLM Help - NotebookLM mobile app: https://support.google.com/notebooklm/answer/16296687?co=GENIE.Platform%3DAndroid&amp;hl=en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今回採用教材：第0章 AIを学習相手にする</a:t>
            </a:r>
          </a:p>
          <a:p xmlns:a="http://schemas.openxmlformats.org/drawingml/2006/main">
            <a:r>
              <a:t>Google NotebookLM Help - Create a notebook: https://support.google.com/notebooklm/answer/16206563?hl=en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既存カリキュラム、今回採用教材、NotebookLM公式ヘルプに基づくまとめ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29386a678e4ade" /><Relationship Type="http://schemas.openxmlformats.org/officeDocument/2006/relationships/image" Target="/ppt/media/image.png" Id="Rab3805a59e5c4b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7433d9c87f4265" /><Relationship Type="http://schemas.openxmlformats.org/officeDocument/2006/relationships/image" Target="/ppt/media/image.png" Id="Ra2cbba3e1b734b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96a875cba543ad" /><Relationship Type="http://schemas.openxmlformats.org/officeDocument/2006/relationships/image" Target="/ppt/media/image2.png" Id="R13ef9c93a502435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c98f54780c4ece" /><Relationship Type="http://schemas.openxmlformats.org/officeDocument/2006/relationships/image" Target="/ppt/media/image.png" Id="Rf79d4afe545c42d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296bef4e8e4b45" /><Relationship Type="http://schemas.openxmlformats.org/officeDocument/2006/relationships/image" Target="/ppt/media/image3.png" Id="Rc160ca2898ad4b5b" /><Relationship Type="http://schemas.openxmlformats.org/officeDocument/2006/relationships/image" Target="/ppt/media/image4.png" Id="R27969ecb1197411e" /><Relationship Type="http://schemas.openxmlformats.org/officeDocument/2006/relationships/image" Target="/ppt/media/image.png" Id="Rd62cf11fe14d4cf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b487f57a334c4f" /><Relationship Type="http://schemas.openxmlformats.org/officeDocument/2006/relationships/image" Target="/ppt/media/image5.png" Id="Rc37a15e74f1c4474" /><Relationship Type="http://schemas.openxmlformats.org/officeDocument/2006/relationships/image" Target="/ppt/media/image6.png" Id="R795857445f8e4a78" /><Relationship Type="http://schemas.openxmlformats.org/officeDocument/2006/relationships/image" Target="/ppt/media/image.jpeg" Id="R718f491323924651" /><Relationship Type="http://schemas.openxmlformats.org/officeDocument/2006/relationships/image" Target="/ppt/media/image.emf" Id="R626745a0e3a34b15" /><Relationship Type="http://schemas.openxmlformats.org/officeDocument/2006/relationships/image" Target="/ppt/media/image.svg" Id="Rd3349890b17348f0" /><Relationship Type="http://schemas.openxmlformats.org/officeDocument/2006/relationships/image" Target="/ppt/media/image7.png" Id="R3d1b00ee658f454a" /><Relationship Type="http://schemas.openxmlformats.org/officeDocument/2006/relationships/image" Target="/ppt/media/image8.png" Id="Rd3a9e9cc2c9e443f" /><Relationship Type="http://schemas.openxmlformats.org/officeDocument/2006/relationships/image" Target="/ppt/media/image2.jpeg" Id="Ra16971f3806b442c" /><Relationship Type="http://schemas.openxmlformats.org/officeDocument/2006/relationships/image" Target="/ppt/media/image.png" Id="R1b7e28366283436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8863a0d95141db" /><Relationship Type="http://schemas.openxmlformats.org/officeDocument/2006/relationships/image" Target="/ppt/media/image.emf" Id="R07f211be866a44a2" /><Relationship Type="http://schemas.openxmlformats.org/officeDocument/2006/relationships/image" Target="/ppt/media/image.png" Id="Ra9e5189a279442a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c025e5f4354a05" /><Relationship Type="http://schemas.openxmlformats.org/officeDocument/2006/relationships/image" Target="/ppt/media/image4.png" Id="Rc1f4167134bd470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bb80f382d34b73" /><Relationship Type="http://schemas.openxmlformats.org/officeDocument/2006/relationships/image" Target="/ppt/media/image9.png" Id="Refc2e58b162d446b" /><Relationship Type="http://schemas.openxmlformats.org/officeDocument/2006/relationships/image" Target="/ppt/media/image10.png" Id="R5f2a4cfa7f55466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cfaa9e6e884b6d" /></Relationships>
</file>

<file path=ppt/slideLayouts/slideLayout1.xml><?xml version="1.0" encoding="utf-8"?>
<p:sldLayout xmlns:p="http://schemas.openxmlformats.org/presentationml/2006/main" userDrawn="1">
  <p:cSld name="標準スライド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テキスト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F9821D3D-65CC-D779-AD69-6C9E39B6A3FD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55144" y="262622"/>
            <a:ext cx="8574847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タイトル</a:t>
            </a:r>
          </a:p>
        </p:txBody>
      </p:sp>
      <p:pic>
        <p:nvPicPr>
          <p:cNvPr id="7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3805a59e5c4b0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29775" y="238127"/>
            <a:ext cx="2152650" cy="333375"/>
          </a:xfrm>
          <a:prstGeom xmlns:a="http://schemas.openxmlformats.org/drawingml/2006/main" prst="rect">
            <a:avLst/>
          </a:prstGeom>
        </p:spPr>
      </p:pic>
      <p:sp>
        <p:nvSpPr>
          <p:cNvPr id="4" name="フッター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8F8EBF6F-5E96-E63B-D304-91F254ACA07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7918393" y="6326826"/>
            <a:ext cx="32705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r>
              <a:t>Trainocate</a:t>
            </a:r>
            <a:r>
              <a:t> Japan, Ltd. All rights reserved.</a:t>
            </a:r>
          </a:p>
        </p:txBody>
      </p:sp>
      <p:sp>
        <p:nvSpPr>
          <p:cNvPr id="2" name="直線コネクタ 1">
            <a:extLst xmlns:a="http://schemas.openxmlformats.org/drawingml/2006/main">
              <a:ext uri="{FF2B5EF4-FFF2-40B4-BE49-F238E27FC236}">
                <a16:creationId xmlns:a16="http://schemas.microsoft.com/office/drawing/2014/main" id="{805C22BE-AAC2-4F84-9B60-BBBBC93F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9127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FA451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</p:spTree>
  </p:cSld>
  <p:hf sldNum="0" hdr="0" dt="0"/>
</p:sldLayout>
</file>

<file path=ppt/slideLayouts/slideLayout2.xml><?xml version="1.0" encoding="utf-8"?>
<p:sldLayout xmlns:p="http://schemas.openxmlformats.org/presentationml/2006/main" preserve="1" userDrawn="1">
  <p:cSld name="目次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テキスト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F9821D3D-65CC-D779-AD69-6C9E39B6A3FD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55144" y="262622"/>
            <a:ext cx="8574847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タイトル</a:t>
            </a:r>
          </a:p>
        </p:txBody>
      </p:sp>
      <p:pic>
        <p:nvPicPr>
          <p:cNvPr id="27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bba3e1b734b6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29775" y="238127"/>
            <a:ext cx="2152650" cy="333375"/>
          </a:xfrm>
          <a:prstGeom xmlns:a="http://schemas.openxmlformats.org/drawingml/2006/main" prst="rect">
            <a:avLst/>
          </a:prstGeom>
        </p:spPr>
      </p:pic>
      <p:sp>
        <p:nvSpPr>
          <p:cNvPr id="4" name="フッター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8F8EBF6F-5E96-E63B-D304-91F254ACA07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7918393" y="6326826"/>
            <a:ext cx="32705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r>
              <a:t>Trainocate</a:t>
            </a:r>
            <a:r>
              <a:t> Japan, Ltd. All rights reserved.</a:t>
            </a:r>
          </a:p>
        </p:txBody>
      </p:sp>
      <p:sp>
        <p:nvSpPr>
          <p:cNvPr id="2" name="直線コネクタ 1">
            <a:extLst xmlns:a="http://schemas.openxmlformats.org/drawingml/2006/main">
              <a:ext uri="{FF2B5EF4-FFF2-40B4-BE49-F238E27FC236}">
                <a16:creationId xmlns:a16="http://schemas.microsoft.com/office/drawing/2014/main" id="{E56E08FA-2762-48AA-9C81-7EDE3EE0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9127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FA451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6721B770-D5A1-F52C-B9F0-6A0C1E0C2F80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377693" y="1275247"/>
            <a:ext cx="6439710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 sz="1800"/>
            </a:lvl1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7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2DEE5631-BFBB-A7AA-92AC-438E269DB810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1424382" y="1275247"/>
            <a:ext cx="700391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algn="ctr">
              <a:buNone/>
              <a:defRPr sz="1800"/>
            </a:lvl1pPr>
          </a:lstStyle>
          <a:p xmlns:a="http://schemas.openxmlformats.org/drawingml/2006/main">
            <a:pPr lvl="0">
              <a:buNone/>
            </a:pPr>
            <a:r>
              <a:t>1</a:t>
            </a:r>
          </a:p>
        </p:txBody>
      </p:sp>
      <p:sp>
        <p:nvSpPr>
          <p:cNvPr id="9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2185F09E-1BF9-804D-F2CE-8B0C37E628A0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377693" y="1788794"/>
            <a:ext cx="6439710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 sz="1800"/>
            </a:lvl1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10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8F79B8CE-ECCC-BCD3-CF11-318A67144028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1424382" y="1788794"/>
            <a:ext cx="700391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algn="ctr">
              <a:buNone/>
              <a:defRPr sz="1800"/>
            </a:lvl1pPr>
          </a:lstStyle>
          <a:p xmlns:a="http://schemas.openxmlformats.org/drawingml/2006/main">
            <a:pPr lvl="0">
              <a:buNone/>
            </a:pPr>
            <a:r>
              <a:t>2</a:t>
            </a:r>
          </a:p>
        </p:txBody>
      </p:sp>
      <p:sp>
        <p:nvSpPr>
          <p:cNvPr id="11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2FFAAECC-74B2-3036-0E64-D93FA1E7BA04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2377693" y="2302341"/>
            <a:ext cx="6439710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 sz="1800"/>
            </a:lvl1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12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5394647F-3C8D-7F92-4D70-BACE58F5BAC4}"/>
              </a:ext>
            </a:extLst>
          </p:cNvPr>
          <p:cNvSpPr>
            <a:spLocks xmlns:a="http://schemas.openxmlformats.org/drawingml/2006/main" noGrp="1"/>
          </p:cNvSpPr>
          <p:nvPr>
            <p:ph type="body" idx="15" hasCustomPrompt="1"/>
          </p:nvPr>
        </p:nvSpPr>
        <p:spPr>
          <a:xfrm xmlns:a="http://schemas.openxmlformats.org/drawingml/2006/main">
            <a:off x="1424382" y="2302341"/>
            <a:ext cx="700391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algn="ctr">
              <a:buNone/>
              <a:defRPr sz="1800"/>
            </a:lvl1pPr>
          </a:lstStyle>
          <a:p xmlns:a="http://schemas.openxmlformats.org/drawingml/2006/main">
            <a:pPr lvl="0">
              <a:buNone/>
            </a:pPr>
            <a:r>
              <a:t>3</a:t>
            </a:r>
          </a:p>
        </p:txBody>
      </p:sp>
      <p:sp>
        <p:nvSpPr>
          <p:cNvPr id="13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20B091CB-20D5-214F-93C1-45FE2CD357B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2377693" y="2815888"/>
            <a:ext cx="6439710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 sz="1800"/>
            </a:lvl1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14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3978276B-D489-5FF8-6E3F-298036D55C97}"/>
              </a:ext>
            </a:extLst>
          </p:cNvPr>
          <p:cNvSpPr>
            <a:spLocks xmlns:a="http://schemas.openxmlformats.org/drawingml/2006/main" noGrp="1"/>
          </p:cNvSpPr>
          <p:nvPr>
            <p:ph type="body" idx="17" hasCustomPrompt="1"/>
          </p:nvPr>
        </p:nvSpPr>
        <p:spPr>
          <a:xfrm xmlns:a="http://schemas.openxmlformats.org/drawingml/2006/main">
            <a:off x="1424382" y="2815888"/>
            <a:ext cx="700391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algn="ctr">
              <a:buNone/>
              <a:defRPr sz="1800"/>
            </a:lvl1pPr>
          </a:lstStyle>
          <a:p xmlns:a="http://schemas.openxmlformats.org/drawingml/2006/main">
            <a:pPr lvl="0">
              <a:buNone/>
            </a:pPr>
            <a:r>
              <a:t>4</a:t>
            </a:r>
          </a:p>
        </p:txBody>
      </p:sp>
      <p:sp>
        <p:nvSpPr>
          <p:cNvPr id="15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9219D0FB-590E-F868-C3BB-39327DE8C9A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377693" y="3329435"/>
            <a:ext cx="6439710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 sz="1800"/>
            </a:lvl1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16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D575AAFF-1C98-3D7A-3543-F067D95F634D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1424382" y="3329435"/>
            <a:ext cx="700391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algn="ctr">
              <a:buNone/>
              <a:defRPr sz="1800"/>
            </a:lvl1pPr>
          </a:lstStyle>
          <a:p xmlns:a="http://schemas.openxmlformats.org/drawingml/2006/main">
            <a:pPr lvl="0">
              <a:buNone/>
            </a:pPr>
            <a:r>
              <a:t>5</a:t>
            </a:r>
          </a:p>
        </p:txBody>
      </p:sp>
      <p:sp>
        <p:nvSpPr>
          <p:cNvPr id="17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3281ACFC-2E6D-7490-39F2-CDB0B0B8A77D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2377693" y="3842982"/>
            <a:ext cx="6439710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 sz="1800"/>
            </a:lvl1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18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CD2E2B26-8F31-BA09-750E-131BB520DDD0}"/>
              </a:ext>
            </a:extLst>
          </p:cNvPr>
          <p:cNvSpPr>
            <a:spLocks xmlns:a="http://schemas.openxmlformats.org/drawingml/2006/main" noGrp="1"/>
          </p:cNvSpPr>
          <p:nvPr>
            <p:ph type="body" idx="21" hasCustomPrompt="1"/>
          </p:nvPr>
        </p:nvSpPr>
        <p:spPr>
          <a:xfrm xmlns:a="http://schemas.openxmlformats.org/drawingml/2006/main">
            <a:off x="1424382" y="3842982"/>
            <a:ext cx="700391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algn="ctr">
              <a:buNone/>
              <a:defRPr sz="1800"/>
            </a:lvl1pPr>
          </a:lstStyle>
          <a:p xmlns:a="http://schemas.openxmlformats.org/drawingml/2006/main">
            <a:pPr lvl="0">
              <a:buNone/>
            </a:pPr>
            <a:r>
              <a:t>6</a:t>
            </a:r>
          </a:p>
        </p:txBody>
      </p:sp>
      <p:sp>
        <p:nvSpPr>
          <p:cNvPr id="19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777B207C-877E-04D7-E6E5-E40BC7C6401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2377693" y="4356529"/>
            <a:ext cx="6439710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 sz="1800"/>
            </a:lvl1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20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3D2708C4-D307-E962-46C8-66243B545CBB}"/>
              </a:ext>
            </a:extLst>
          </p:cNvPr>
          <p:cNvSpPr>
            <a:spLocks xmlns:a="http://schemas.openxmlformats.org/drawingml/2006/main" noGrp="1"/>
          </p:cNvSpPr>
          <p:nvPr>
            <p:ph type="body" idx="23" hasCustomPrompt="1"/>
          </p:nvPr>
        </p:nvSpPr>
        <p:spPr>
          <a:xfrm xmlns:a="http://schemas.openxmlformats.org/drawingml/2006/main">
            <a:off x="1424382" y="4356529"/>
            <a:ext cx="700391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algn="ctr">
              <a:buNone/>
              <a:defRPr sz="1800"/>
            </a:lvl1pPr>
          </a:lstStyle>
          <a:p xmlns:a="http://schemas.openxmlformats.org/drawingml/2006/main">
            <a:pPr lvl="0">
              <a:buNone/>
            </a:pPr>
            <a:r>
              <a:t>7</a:t>
            </a:r>
          </a:p>
        </p:txBody>
      </p:sp>
      <p:sp>
        <p:nvSpPr>
          <p:cNvPr id="21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2A1E7782-AFD8-B7C2-F239-B8865FAB8E0D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2377693" y="4870076"/>
            <a:ext cx="6439710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 sz="1800"/>
            </a:lvl1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22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3BC35CCD-5E22-AFC7-E2E8-564C361C3F4C}"/>
              </a:ext>
            </a:extLst>
          </p:cNvPr>
          <p:cNvSpPr>
            <a:spLocks xmlns:a="http://schemas.openxmlformats.org/drawingml/2006/main" noGrp="1"/>
          </p:cNvSpPr>
          <p:nvPr>
            <p:ph type="body" idx="25" hasCustomPrompt="1"/>
          </p:nvPr>
        </p:nvSpPr>
        <p:spPr>
          <a:xfrm xmlns:a="http://schemas.openxmlformats.org/drawingml/2006/main">
            <a:off x="1424382" y="4870076"/>
            <a:ext cx="700391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algn="ctr">
              <a:buNone/>
              <a:defRPr sz="1800"/>
            </a:lvl1pPr>
          </a:lstStyle>
          <a:p xmlns:a="http://schemas.openxmlformats.org/drawingml/2006/main">
            <a:pPr lvl="0">
              <a:buNone/>
            </a:pPr>
            <a:r>
              <a:t>8</a:t>
            </a:r>
          </a:p>
        </p:txBody>
      </p:sp>
      <p:sp>
        <p:nvSpPr>
          <p:cNvPr id="23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BB4683FA-4B87-A78A-B910-4589A9D7C9CC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2377693" y="5383624"/>
            <a:ext cx="6439710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 sz="1800"/>
            </a:lvl1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24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E2171636-54EA-73E9-05DB-139F60E7009D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1424382" y="5383624"/>
            <a:ext cx="700391" cy="3651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algn="ctr">
              <a:buNone/>
              <a:defRPr sz="1800"/>
            </a:lvl1pPr>
          </a:lstStyle>
          <a:p xmlns:a="http://schemas.openxmlformats.org/drawingml/2006/main">
            <a:pPr lvl="0">
              <a:buNone/>
            </a:pPr>
            <a:r>
              <a:t>9</a:t>
            </a:r>
          </a:p>
        </p:txBody>
      </p:sp>
    </p:spTree>
  </p:cSld>
  <p:hf sldNum="0" hdr="0" dt="0"/>
</p:sldLayout>
</file>

<file path=ppt/slideLayouts/slideLayout3.xml><?xml version="1.0" encoding="utf-8"?>
<p:sldLayout xmlns:p="http://schemas.openxmlformats.org/presentationml/2006/main" preserve="1" userDrawn="1">
  <p:cSld name="ブリッ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フッター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994C6338-1E6B-15AB-4256-BAC36376EF76}"/>
              </a:ext>
            </a:extLst>
          </p:cNvPr>
          <p:cNvSpPr>
            <a:spLocks xmlns:a="http://schemas.openxmlformats.org/drawingml/2006/main" noGrp="1"/>
          </p:cNvSpPr>
          <p:nvPr>
            <p:ph type="ftr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Trainocate Japan, Ltd. All rights reserved.</a:t>
            </a:r>
          </a:p>
        </p:txBody>
      </p:sp>
      <p:pic>
        <p:nvPicPr>
          <p:cNvPr id="12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ef9c93a502435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76613"/>
            <a:ext cx="12192000" cy="104775"/>
          </a:xfrm>
          <a:prstGeom xmlns:a="http://schemas.openxmlformats.org/drawingml/2006/main" prst="rect">
            <a:avLst/>
          </a:prstGeom>
        </p:spPr>
      </p:pic>
      <p:sp>
        <p:nvSpPr>
          <p:cNvPr id="8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AEDF78B1-BE5B-48EC-9361-84750B056AFF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1066800" y="2540006"/>
            <a:ext cx="10058400" cy="8309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algn="ctr">
              <a:lnSpc>
                <a:spcPct val="100000"/>
              </a:lnSpc>
              <a:buNone/>
              <a:defRPr sz="4000"/>
            </a:lvl1pPr>
          </a:lstStyle>
          <a:p xmlns:a="http://schemas.openxmlformats.org/drawingml/2006/main">
            <a:pPr lvl="0">
              <a:buNone/>
            </a:pPr>
            <a:r>
              <a:t>ブリッジタイトル</a:t>
            </a:r>
          </a:p>
        </p:txBody>
      </p:sp>
      <p:sp>
        <p:nvSpPr>
          <p:cNvPr id="9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E982413E-7304-6189-9280-6ABF7212D9F9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1066800" y="3557595"/>
            <a:ext cx="10058400" cy="4725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algn="ctr">
              <a:lnSpc>
                <a:spcPct val="100000"/>
              </a:lnSpc>
              <a:buNone/>
              <a:defRPr sz="2000"/>
            </a:lvl1pPr>
          </a:lstStyle>
          <a:p xmlns:a="http://schemas.openxmlformats.org/drawingml/2006/main">
            <a:pPr lvl="0">
              <a:buNone/>
            </a:pPr>
            <a:r>
              <a:t>サブタイトル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契約スケジュール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直線コネクタ 32">
            <a:extLst xmlns:a="http://schemas.openxmlformats.org/drawingml/2006/main">
              <a:ext uri="{FF2B5EF4-FFF2-40B4-BE49-F238E27FC236}">
                <a16:creationId xmlns:a16="http://schemas.microsoft.com/office/drawing/2014/main" id="{CFF05926-AF00-40FF-BE9C-D3D796AF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9127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FA451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9d4afe545c42d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29775" y="238127"/>
            <a:ext cx="2152650" cy="333375"/>
          </a:xfrm>
          <a:prstGeom xmlns:a="http://schemas.openxmlformats.org/drawingml/2006/main" prst="rect">
            <a:avLst/>
          </a:prstGeom>
        </p:spPr>
      </p:pic>
      <p:sp>
        <p:nvSpPr>
          <p:cNvPr id="23" name="フッター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AAC6FDC8-51DD-83AD-60EA-EB6B3B1F993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7918393" y="6326826"/>
            <a:ext cx="32705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r>
              <a:t>Trainocate</a:t>
            </a:r>
            <a:r>
              <a:t> Japan, Ltd. All rights reserved.</a:t>
            </a:r>
          </a:p>
        </p:txBody>
      </p:sp>
      <p:sp>
        <p:nvSpPr>
          <p:cNvPr id="24" name="正方形/長方形 23">
            <a:extLst xmlns:a="http://schemas.openxmlformats.org/drawingml/2006/main">
              <a:ext uri="{FF2B5EF4-FFF2-40B4-BE49-F238E27FC236}">
                <a16:creationId xmlns:a16="http://schemas.microsoft.com/office/drawing/2014/main" id="{5C6B974B-767C-7A17-2CD2-92E4C4FC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805" y="1583266"/>
            <a:ext cx="1905557" cy="437268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正方形/長方形 24">
            <a:extLst xmlns:a="http://schemas.openxmlformats.org/drawingml/2006/main">
              <a:ext uri="{FF2B5EF4-FFF2-40B4-BE49-F238E27FC236}">
                <a16:creationId xmlns:a16="http://schemas.microsoft.com/office/drawing/2014/main" id="{18BB9583-C1C7-55C8-F73D-5802BD32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067" y="1583265"/>
            <a:ext cx="1905557" cy="437268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正方形/長方形 25">
            <a:extLst xmlns:a="http://schemas.openxmlformats.org/drawingml/2006/main">
              <a:ext uri="{FF2B5EF4-FFF2-40B4-BE49-F238E27FC236}">
                <a16:creationId xmlns:a16="http://schemas.microsoft.com/office/drawing/2014/main" id="{59115815-7375-D0F8-E9F0-D31B09EE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411" y="1583265"/>
            <a:ext cx="1905557" cy="437268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正方形/長方形 26">
            <a:extLst xmlns:a="http://schemas.openxmlformats.org/drawingml/2006/main">
              <a:ext uri="{FF2B5EF4-FFF2-40B4-BE49-F238E27FC236}">
                <a16:creationId xmlns:a16="http://schemas.microsoft.com/office/drawing/2014/main" id="{CC1C36BF-C9F6-E37D-EB6B-261B0587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925" y="1583266"/>
            <a:ext cx="1905557" cy="437268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>
              <a:lumMod val="20000"/>
              <a:lumOff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正方形/長方形 27">
            <a:extLst xmlns:a="http://schemas.openxmlformats.org/drawingml/2006/main">
              <a:ext uri="{FF2B5EF4-FFF2-40B4-BE49-F238E27FC236}">
                <a16:creationId xmlns:a16="http://schemas.microsoft.com/office/drawing/2014/main" id="{E39C0EA1-C7A9-61A4-5B20-9948DDE9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8045" y="1583266"/>
            <a:ext cx="1905557" cy="437268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cxnSp>
        <p:nvCxnSpPr>
          <p:cNvPr id="77" name="直線矢印コネクタ 28"/>
          <p:cNvCxnSpPr/>
          <p:nvPr/>
        </p:nvCxnSpPr>
        <p:spPr>
          <a:xfrm xmlns:a="http://schemas.openxmlformats.org/drawingml/2006/main">
            <a:off x="8925418" y="2450216"/>
            <a:ext cx="2216716" cy="0"/>
          </a:xfrm>
          <a:prstGeom xmlns:a="http://schemas.openxmlformats.org/drawingml/2006/main" prst="straightConnector1">
            <a:avLst/>
          </a:prstGeom>
          <a:ln xmlns:a="http://schemas.openxmlformats.org/drawingml/2006/main" w="76200">
            <a:solidFill>
              <a:srgbClr val="FA4515"/>
            </a:solidFill>
            <a:tailEnd type="triangle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30" name="テキスト ボックス 29">
            <a:extLst xmlns:a="http://schemas.openxmlformats.org/drawingml/2006/main">
              <a:ext uri="{FF2B5EF4-FFF2-40B4-BE49-F238E27FC236}">
                <a16:creationId xmlns:a16="http://schemas.microsoft.com/office/drawing/2014/main" id="{6FD4D07D-6E77-01E5-1920-4E9C44A5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004" y="1772825"/>
            <a:ext cx="1193361" cy="5309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5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実施</a:t>
            </a:r>
          </a:p>
          <a:p xmlns:a="http://schemas.openxmlformats.org/drawingml/2006/main">
            <a:pPr algn="ctr">
              <a:buNone/>
            </a:pPr>
            <a:r>
              <a:rPr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1</a:t>
            </a:r>
            <a:r>
              <a:rPr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ヶ月</a:t>
            </a:r>
            <a:r>
              <a:rPr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前</a:t>
            </a:r>
          </a:p>
        </p:txBody>
      </p:sp>
      <p:sp>
        <p:nvSpPr>
          <p:cNvPr id="31" name="テキスト ボックス 30">
            <a:extLst xmlns:a="http://schemas.openxmlformats.org/drawingml/2006/main">
              <a:ext uri="{FF2B5EF4-FFF2-40B4-BE49-F238E27FC236}">
                <a16:creationId xmlns:a16="http://schemas.microsoft.com/office/drawing/2014/main" id="{A045956D-A8AC-1F06-563B-F748A127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864" y="1772825"/>
            <a:ext cx="1193361" cy="5309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5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実施</a:t>
            </a:r>
          </a:p>
          <a:p xmlns:a="http://schemas.openxmlformats.org/drawingml/2006/main">
            <a:pPr algn="ctr">
              <a:buNone/>
            </a:pPr>
            <a:r>
              <a:rPr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3</a:t>
            </a:r>
            <a:r>
              <a:rPr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週間前</a:t>
            </a:r>
          </a:p>
        </p:txBody>
      </p:sp>
      <p:sp>
        <p:nvSpPr>
          <p:cNvPr id="32" name="テキスト ボックス 31">
            <a:extLst xmlns:a="http://schemas.openxmlformats.org/drawingml/2006/main">
              <a:ext uri="{FF2B5EF4-FFF2-40B4-BE49-F238E27FC236}">
                <a16:creationId xmlns:a16="http://schemas.microsoft.com/office/drawing/2014/main" id="{230ED1F8-48ED-47BE-405D-B1EDED3F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951" y="1772825"/>
            <a:ext cx="1604214" cy="5309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5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実施</a:t>
            </a:r>
          </a:p>
          <a:p xmlns:a="http://schemas.openxmlformats.org/drawingml/2006/main">
            <a:pPr algn="ctr">
              <a:buNone/>
            </a:pPr>
            <a:r>
              <a:rPr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2~3</a:t>
            </a:r>
            <a:r>
              <a:rPr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営業日前</a:t>
            </a:r>
          </a:p>
        </p:txBody>
      </p:sp>
      <p:sp>
        <p:nvSpPr>
          <p:cNvPr id="35" name="テキスト ボックス 34">
            <a:extLst xmlns:a="http://schemas.openxmlformats.org/drawingml/2006/main">
              <a:ext uri="{FF2B5EF4-FFF2-40B4-BE49-F238E27FC236}">
                <a16:creationId xmlns:a16="http://schemas.microsoft.com/office/drawing/2014/main" id="{E169062A-D3D5-BE64-1AC6-08F6EC3A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3080" y="1772825"/>
            <a:ext cx="1193361" cy="5309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5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実施</a:t>
            </a:r>
          </a:p>
          <a:p xmlns:a="http://schemas.openxmlformats.org/drawingml/2006/main">
            <a:pPr algn="ctr">
              <a:buNone/>
            </a:pPr>
            <a:r>
              <a:rPr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2</a:t>
            </a:r>
            <a:r>
              <a:rPr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週間後</a:t>
            </a:r>
          </a:p>
        </p:txBody>
      </p:sp>
      <p:sp>
        <p:nvSpPr>
          <p:cNvPr id="37" name="テキスト ボックス 36">
            <a:extLst xmlns:a="http://schemas.openxmlformats.org/drawingml/2006/main">
              <a:ext uri="{FF2B5EF4-FFF2-40B4-BE49-F238E27FC236}">
                <a16:creationId xmlns:a16="http://schemas.microsoft.com/office/drawing/2014/main" id="{60C9C8D2-2804-61F8-A487-47499F17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397" y="2282504"/>
            <a:ext cx="1418146" cy="33855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FA4515"/>
            </a:solidFill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施策実施</a:t>
            </a:r>
          </a:p>
        </p:txBody>
      </p:sp>
      <p:sp>
        <p:nvSpPr>
          <p:cNvPr id="38" name="テキスト ボックス 37">
            <a:extLst xmlns:a="http://schemas.openxmlformats.org/drawingml/2006/main">
              <a:ext uri="{FF2B5EF4-FFF2-40B4-BE49-F238E27FC236}">
                <a16:creationId xmlns:a16="http://schemas.microsoft.com/office/drawing/2014/main" id="{0A3BF1F2-75AF-5763-E2F0-EB15101A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370" y="2856019"/>
            <a:ext cx="2090160" cy="3103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650"/>
              </a:lnSpc>
              <a:buNone/>
            </a:pPr>
            <a:r>
              <a:rPr sz="1600" b="1">
                <a:latin typeface="Meiryo UI"/>
                <a:ea typeface="Meiryo UI"/>
                <a:cs typeface="Meiryo UI"/>
              </a:rPr>
              <a:t>①研修内容の合意</a:t>
            </a:r>
          </a:p>
        </p:txBody>
      </p:sp>
      <p:cxnSp>
        <p:nvCxnSpPr>
          <p:cNvPr id="84" name="直線矢印コネクタ 38"/>
          <p:cNvCxnSpPr/>
          <p:nvPr/>
        </p:nvCxnSpPr>
        <p:spPr>
          <a:xfrm xmlns:a="http://schemas.openxmlformats.org/drawingml/2006/main">
            <a:off x="1083733" y="2450216"/>
            <a:ext cx="6178677" cy="0"/>
          </a:xfrm>
          <a:prstGeom xmlns:a="http://schemas.openxmlformats.org/drawingml/2006/main" prst="straightConnector1">
            <a:avLst/>
          </a:prstGeom>
          <a:ln xmlns:a="http://schemas.openxmlformats.org/drawingml/2006/main" w="76200">
            <a:solidFill>
              <a:srgbClr val="FA4515"/>
            </a:solidFill>
            <a:tailEnd type="triangle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40" name="テキスト ボックス 39">
            <a:extLst xmlns:a="http://schemas.openxmlformats.org/drawingml/2006/main">
              <a:ext uri="{FF2B5EF4-FFF2-40B4-BE49-F238E27FC236}">
                <a16:creationId xmlns:a16="http://schemas.microsoft.com/office/drawing/2014/main" id="{2FDB67BB-B1E5-3408-86EC-15A3369C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0800" y="2856019"/>
            <a:ext cx="2126354" cy="3103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650"/>
              </a:lnSpc>
              <a:buNone/>
            </a:pPr>
            <a:r>
              <a:rPr sz="1600" b="1">
                <a:latin typeface="Meiryo UI"/>
                <a:ea typeface="Meiryo UI"/>
                <a:cs typeface="Meiryo UI"/>
              </a:rPr>
              <a:t>③実施前のご確認</a:t>
            </a:r>
          </a:p>
        </p:txBody>
      </p:sp>
      <p:sp>
        <p:nvSpPr>
          <p:cNvPr id="41" name="テキスト ボックス 40">
            <a:extLst xmlns:a="http://schemas.openxmlformats.org/drawingml/2006/main">
              <a:ext uri="{FF2B5EF4-FFF2-40B4-BE49-F238E27FC236}">
                <a16:creationId xmlns:a16="http://schemas.microsoft.com/office/drawing/2014/main" id="{4E26E712-0EAF-B04C-6E6C-1761D73E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7833" y="2856019"/>
            <a:ext cx="1705688" cy="3103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650"/>
              </a:lnSpc>
              <a:buNone/>
            </a:pPr>
            <a:r>
              <a:rPr sz="1600" b="1">
                <a:latin typeface="Meiryo UI"/>
                <a:ea typeface="Meiryo UI"/>
                <a:cs typeface="Meiryo UI"/>
              </a:rPr>
              <a:t>④資材の到着</a:t>
            </a:r>
          </a:p>
        </p:txBody>
      </p:sp>
      <p:sp>
        <p:nvSpPr>
          <p:cNvPr id="42" name="テキスト ボックス 41">
            <a:extLst xmlns:a="http://schemas.openxmlformats.org/drawingml/2006/main">
              <a:ext uri="{FF2B5EF4-FFF2-40B4-BE49-F238E27FC236}">
                <a16:creationId xmlns:a16="http://schemas.microsoft.com/office/drawing/2014/main" id="{A33A65B7-7C6A-1F3B-3CBD-F5C97FE4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413" y="2856019"/>
            <a:ext cx="1571998" cy="3103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650"/>
              </a:lnSpc>
              <a:buNone/>
            </a:pPr>
            <a:r>
              <a:rPr sz="1600" b="1">
                <a:latin typeface="Meiryo UI"/>
                <a:ea typeface="Meiryo UI"/>
                <a:cs typeface="Meiryo UI"/>
              </a:rPr>
              <a:t>⑤研修の実施</a:t>
            </a:r>
          </a:p>
        </p:txBody>
      </p:sp>
      <p:sp>
        <p:nvSpPr>
          <p:cNvPr id="43" name="テキスト ボックス 42">
            <a:extLst xmlns:a="http://schemas.openxmlformats.org/drawingml/2006/main">
              <a:ext uri="{FF2B5EF4-FFF2-40B4-BE49-F238E27FC236}">
                <a16:creationId xmlns:a16="http://schemas.microsoft.com/office/drawing/2014/main" id="{2CA98464-3C9D-86F5-C9B7-E29EFC50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2990" y="2856019"/>
            <a:ext cx="1786467" cy="3103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650"/>
              </a:lnSpc>
              <a:buNone/>
            </a:pPr>
            <a:r>
              <a:rPr sz="1600" b="1">
                <a:latin typeface="Meiryo UI"/>
                <a:ea typeface="Meiryo UI"/>
                <a:cs typeface="Meiryo UI"/>
              </a:rPr>
              <a:t>⑥研修の評価</a:t>
            </a:r>
          </a:p>
        </p:txBody>
      </p:sp>
      <p:sp>
        <p:nvSpPr>
          <p:cNvPr id="44" name="テキスト ボックス 43">
            <a:extLst xmlns:a="http://schemas.openxmlformats.org/drawingml/2006/main">
              <a:ext uri="{FF2B5EF4-FFF2-40B4-BE49-F238E27FC236}">
                <a16:creationId xmlns:a16="http://schemas.microsoft.com/office/drawing/2014/main" id="{07A004F1-A5B4-9312-BDAF-FF78BA82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386" y="3166360"/>
            <a:ext cx="2126354" cy="1663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・研修会場の確認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・資材の確認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・運営方法の確認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・受講者に関する確認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・研修内容の確認</a:t>
            </a:r>
          </a:p>
        </p:txBody>
      </p:sp>
      <p:sp>
        <p:nvSpPr>
          <p:cNvPr id="45" name="テキスト ボックス 44">
            <a:extLst xmlns:a="http://schemas.openxmlformats.org/drawingml/2006/main">
              <a:ext uri="{FF2B5EF4-FFF2-40B4-BE49-F238E27FC236}">
                <a16:creationId xmlns:a16="http://schemas.microsoft.com/office/drawing/2014/main" id="{CB94DBFB-088A-72E7-8CCB-F9AE904B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739" y="3164511"/>
            <a:ext cx="2126354" cy="13398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・研修カリキュラム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・実施日程</a:t>
            </a:r>
            <a:r>
              <a:rPr sz="1400">
                <a:latin typeface="Meiryo UI"/>
                <a:ea typeface="Meiryo UI"/>
                <a:cs typeface="Meiryo UI"/>
              </a:rPr>
              <a:t>/</a:t>
            </a:r>
            <a:r>
              <a:rPr sz="1400">
                <a:latin typeface="Meiryo UI"/>
                <a:ea typeface="Meiryo UI"/>
                <a:cs typeface="Meiryo UI"/>
              </a:rPr>
              <a:t>実施場所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・講師人数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・実施方法等</a:t>
            </a:r>
          </a:p>
        </p:txBody>
      </p:sp>
      <p:sp>
        <p:nvSpPr>
          <p:cNvPr id="46" name="テキスト ボックス 45">
            <a:extLst xmlns:a="http://schemas.openxmlformats.org/drawingml/2006/main">
              <a:ext uri="{FF2B5EF4-FFF2-40B4-BE49-F238E27FC236}">
                <a16:creationId xmlns:a16="http://schemas.microsoft.com/office/drawing/2014/main" id="{C0C1A22B-6EA6-28F1-8B28-114C76F3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547" y="4692036"/>
            <a:ext cx="2090160" cy="3103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650"/>
              </a:lnSpc>
              <a:buNone/>
            </a:pPr>
            <a:r>
              <a:rPr sz="1600" b="1">
                <a:latin typeface="Meiryo UI"/>
                <a:ea typeface="Meiryo UI"/>
                <a:cs typeface="Meiryo UI"/>
              </a:rPr>
              <a:t>②ご契約</a:t>
            </a:r>
          </a:p>
        </p:txBody>
      </p:sp>
      <p:sp>
        <p:nvSpPr>
          <p:cNvPr id="47" name="テキスト ボックス 46">
            <a:extLst xmlns:a="http://schemas.openxmlformats.org/drawingml/2006/main">
              <a:ext uri="{FF2B5EF4-FFF2-40B4-BE49-F238E27FC236}">
                <a16:creationId xmlns:a16="http://schemas.microsoft.com/office/drawing/2014/main" id="{E874ADDA-C7A1-22F7-F306-41B894E6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739" y="5002377"/>
            <a:ext cx="2126354" cy="6935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・日程</a:t>
            </a:r>
            <a:r>
              <a:rPr sz="1400">
                <a:latin typeface="Meiryo UI"/>
                <a:ea typeface="Meiryo UI"/>
                <a:cs typeface="Meiryo UI"/>
              </a:rPr>
              <a:t>/</a:t>
            </a:r>
            <a:r>
              <a:rPr sz="1400">
                <a:latin typeface="Meiryo UI"/>
                <a:ea typeface="Meiryo UI"/>
                <a:cs typeface="Meiryo UI"/>
              </a:rPr>
              <a:t>人数の確定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・契約合意</a:t>
            </a:r>
          </a:p>
        </p:txBody>
      </p:sp>
      <p:sp>
        <p:nvSpPr>
          <p:cNvPr id="48" name="テキスト ボックス 47">
            <a:extLst xmlns:a="http://schemas.openxmlformats.org/drawingml/2006/main">
              <a:ext uri="{FF2B5EF4-FFF2-40B4-BE49-F238E27FC236}">
                <a16:creationId xmlns:a16="http://schemas.microsoft.com/office/drawing/2014/main" id="{FB1EF9CC-2A8C-FAC6-7995-3E9DD4EB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651" y="3166360"/>
            <a:ext cx="2126354" cy="370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・テキスト</a:t>
            </a:r>
            <a:r>
              <a:rPr sz="1400">
                <a:latin typeface="Meiryo UI"/>
                <a:ea typeface="Meiryo UI"/>
                <a:cs typeface="Meiryo UI"/>
              </a:rPr>
              <a:t>/</a:t>
            </a:r>
            <a:r>
              <a:rPr sz="1400">
                <a:latin typeface="Meiryo UI"/>
                <a:ea typeface="Meiryo UI"/>
                <a:cs typeface="Meiryo UI"/>
              </a:rPr>
              <a:t>資材納品</a:t>
            </a:r>
          </a:p>
        </p:txBody>
      </p:sp>
      <p:sp>
        <p:nvSpPr>
          <p:cNvPr id="49" name="テキスト ボックス 48">
            <a:extLst xmlns:a="http://schemas.openxmlformats.org/drawingml/2006/main">
              <a:ext uri="{FF2B5EF4-FFF2-40B4-BE49-F238E27FC236}">
                <a16:creationId xmlns:a16="http://schemas.microsoft.com/office/drawing/2014/main" id="{0B878E59-D9EE-A5E0-8166-A874D808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252" y="3194393"/>
            <a:ext cx="2126354" cy="370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・テキスト</a:t>
            </a:r>
            <a:r>
              <a:rPr sz="1400">
                <a:latin typeface="Meiryo UI"/>
                <a:ea typeface="Meiryo UI"/>
                <a:cs typeface="Meiryo UI"/>
              </a:rPr>
              <a:t>/</a:t>
            </a:r>
            <a:r>
              <a:rPr sz="1400">
                <a:latin typeface="Meiryo UI"/>
                <a:ea typeface="Meiryo UI"/>
                <a:cs typeface="Meiryo UI"/>
              </a:rPr>
              <a:t>資材返送</a:t>
            </a:r>
          </a:p>
        </p:txBody>
      </p:sp>
      <p:sp>
        <p:nvSpPr>
          <p:cNvPr id="50" name="テキスト ボックス 49">
            <a:extLst xmlns:a="http://schemas.openxmlformats.org/drawingml/2006/main">
              <a:ext uri="{FF2B5EF4-FFF2-40B4-BE49-F238E27FC236}">
                <a16:creationId xmlns:a16="http://schemas.microsoft.com/office/drawing/2014/main" id="{4830B77A-463A-4F85-BAB1-2094FD31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8095" y="3194393"/>
            <a:ext cx="2126354" cy="101668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・講師所感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・アンケート結果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400">
                <a:latin typeface="Meiryo UI"/>
                <a:ea typeface="Meiryo UI"/>
                <a:cs typeface="Meiryo UI"/>
              </a:rPr>
              <a:t>・振り返り</a:t>
            </a:r>
          </a:p>
        </p:txBody>
      </p:sp>
      <p:sp>
        <p:nvSpPr>
          <p:cNvPr id="4" name="テキスト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73AA49D9-DAFB-5CC6-B14F-363A4FA08C36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55144" y="262622"/>
            <a:ext cx="8574847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タイトル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会社概要・実績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図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60ca2898ad4b5b"/>
          <a:srcRect xmlns:a="http://schemas.openxmlformats.org/drawingml/2006/main" l="0" t="1330" r="0" b="0"/>
          <a:stretch xmlns:a="http://schemas.openxmlformats.org/drawingml/2006/main"/>
        </p:blipFill>
        <p:spPr>
          <a:xfrm xmlns:a="http://schemas.openxmlformats.org/drawingml/2006/main" rot="5400000">
            <a:off x="5266076" y="-5965"/>
            <a:ext cx="1576245" cy="10583118"/>
          </a:xfrm>
          <a:prstGeom xmlns:a="http://schemas.openxmlformats.org/drawingml/2006/main" prst="rect">
            <a:avLst/>
          </a:prstGeom>
        </p:spPr>
      </p:pic>
      <p:sp>
        <p:nvSpPr>
          <p:cNvPr id="5" name="コンテンツ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F64FB920-E807-57A7-19A3-617014D2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3744" y="4652583"/>
            <a:ext cx="3859260" cy="137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>
            <a:lvl1pPr algn="l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  <a:buFont typeface="Wingdings"/>
              <a:buChar char="n"/>
              <a:defRPr sz="1400">
                <a:solidFill>
                  <a:schemeClr val="tx1"/>
                </a:solidFill>
                <a:latin typeface="Meiryo UI"/>
                <a:ea typeface="Meiryo UI"/>
                <a:cs typeface="Meiryo UI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35113" indent="-285750" algn="l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1200">
                <a:solidFill>
                  <a:schemeClr val="tx1"/>
                </a:solidFill>
                <a:latin typeface="Meiryo UI"/>
                <a:ea typeface="Meiryo UI"/>
                <a:cs typeface="Meiryo UI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 algn="ctr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 algn="ctr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 algn="ctr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 algn="ctr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R="0" lvl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prstClr val="black"/>
              </a:buClr>
              <a:buSzTx/>
              <a:buNone/>
            </a:pPr>
            <a:r>
              <a:rPr b="1" i="0" u="none" cap="none">
                <a:ln>
                  <a:noFill/>
                </a:ln>
                <a:solidFill>
                  <a:srgbClr val="F36C37"/>
                </a:solidFill>
              </a:rPr>
              <a:t>所在地　</a:t>
            </a:r>
          </a:p>
          <a:p xmlns:a="http://schemas.openxmlformats.org/drawingml/2006/main">
            <a:pPr marL="185738">
              <a:lnSpc>
                <a:spcPct val="100000"/>
              </a:lnSpc>
              <a:buClr>
                <a:prstClr val="black"/>
              </a:buClr>
              <a:buNone/>
            </a:pP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東京都新宿区西新宿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6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丁目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8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番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1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号</a:t>
            </a:r>
          </a:p>
          <a:p xmlns:a="http://schemas.openxmlformats.org/drawingml/2006/main">
            <a:pPr marL="185738">
              <a:lnSpc>
                <a:spcPct val="100000"/>
              </a:lnSpc>
              <a:buClr>
                <a:prstClr val="black"/>
              </a:buClr>
              <a:buNone/>
            </a:pP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住友不動産新宿オークタワー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20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階</a:t>
            </a:r>
          </a:p>
          <a:p xmlns:a="http://schemas.openxmlformats.org/drawingml/2006/main">
            <a:pPr marR="0" lvl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prstClr val="black"/>
              </a:buClr>
              <a:buSzTx/>
              <a:buNone/>
            </a:pPr>
            <a:r>
              <a:rPr b="1">
                <a:solidFill>
                  <a:srgbClr val="F36C37"/>
                </a:solidFill>
              </a:rPr>
              <a:t>代表取締役</a:t>
            </a:r>
          </a:p>
          <a:p xmlns:a="http://schemas.openxmlformats.org/drawingml/2006/main">
            <a:pPr marL="185738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prstClr val="black"/>
              </a:buClr>
              <a:buSzTx/>
              <a:buFont typeface="Wingdings"/>
              <a:buNone/>
            </a:pP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早津　昌夫</a:t>
            </a:r>
          </a:p>
        </p:txBody>
      </p:sp>
      <p:sp>
        <p:nvSpPr>
          <p:cNvPr id="6" name="正方形/長方形 5">
            <a:extLst xmlns:a="http://schemas.openxmlformats.org/drawingml/2006/main">
              <a:ext uri="{FF2B5EF4-FFF2-40B4-BE49-F238E27FC236}">
                <a16:creationId xmlns:a16="http://schemas.microsoft.com/office/drawing/2014/main" id="{5CC58483-CF8C-90E9-4FF7-D7197DA6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464" y="1914230"/>
            <a:ext cx="2430474" cy="14465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>
                <a:latin typeface="Meiryo UI"/>
                <a:ea typeface="Meiryo UI"/>
                <a:cs typeface="Meiryo UI"/>
              </a:rPr>
              <a:t>世界</a:t>
            </a:r>
            <a:r>
              <a:rPr sz="4800">
                <a:solidFill>
                  <a:srgbClr val="FF0000"/>
                </a:solidFill>
                <a:latin typeface="Meiryo UI"/>
                <a:ea typeface="Meiryo UI"/>
                <a:cs typeface="Meiryo UI"/>
              </a:rPr>
              <a:t>15</a:t>
            </a:r>
            <a:r>
              <a:rPr sz="2000">
                <a:latin typeface="Meiryo UI"/>
                <a:ea typeface="Meiryo UI"/>
                <a:cs typeface="Meiryo UI"/>
              </a:rPr>
              <a:t>の</a:t>
            </a:r>
          </a:p>
          <a:p xmlns:a="http://schemas.openxmlformats.org/drawingml/2006/main">
            <a:pPr algn="ctr">
              <a:buNone/>
            </a:pPr>
            <a:r>
              <a:rPr sz="2000">
                <a:latin typeface="Meiryo UI"/>
                <a:ea typeface="Meiryo UI"/>
                <a:cs typeface="Meiryo UI"/>
              </a:rPr>
              <a:t>国と地域に</a:t>
            </a:r>
          </a:p>
          <a:p xmlns:a="http://schemas.openxmlformats.org/drawingml/2006/main">
            <a:pPr algn="ctr">
              <a:buNone/>
            </a:pPr>
            <a:r>
              <a:rPr sz="2000">
                <a:latin typeface="Meiryo UI"/>
                <a:ea typeface="Meiryo UI"/>
                <a:cs typeface="Meiryo UI"/>
              </a:rPr>
              <a:t>人材育成事業を展開</a:t>
            </a:r>
          </a:p>
        </p:txBody>
      </p:sp>
      <p:sp>
        <p:nvSpPr>
          <p:cNvPr id="7" name="テキスト ボックス 6">
            <a:extLst xmlns:a="http://schemas.openxmlformats.org/drawingml/2006/main">
              <a:ext uri="{FF2B5EF4-FFF2-40B4-BE49-F238E27FC236}">
                <a16:creationId xmlns:a16="http://schemas.microsoft.com/office/drawing/2014/main" id="{8212D752-68E3-CE20-5E17-A3ED4F17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074" y="5294226"/>
            <a:ext cx="2314560" cy="3385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600" b="1">
                <a:solidFill>
                  <a:schemeClr val="tx1">
                    <a:lumMod val="50000"/>
                    <a:lumOff val="50000"/>
                  </a:schemeClr>
                </a:solidFill>
                <a:latin typeface="Meiryo UI"/>
                <a:ea typeface="Meiryo UI"/>
                <a:cs typeface="Meiryo UI"/>
              </a:rPr>
              <a:t>トレノケート株式会社</a:t>
            </a:r>
          </a:p>
        </p:txBody>
      </p:sp>
      <p:sp>
        <p:nvSpPr>
          <p:cNvPr id="8" name="テキスト ボックス 7">
            <a:extLst xmlns:a="http://schemas.openxmlformats.org/drawingml/2006/main">
              <a:ext uri="{FF2B5EF4-FFF2-40B4-BE49-F238E27FC236}">
                <a16:creationId xmlns:a16="http://schemas.microsoft.com/office/drawing/2014/main" id="{A14BECBB-E581-C6A7-0FBE-F46A42A7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8992" y="5821781"/>
            <a:ext cx="1277977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600">
                <a:latin typeface="Meiryo UI"/>
                <a:ea typeface="Meiryo UI"/>
                <a:cs typeface="Meiryo UI"/>
              </a:rPr>
              <a:t>※</a:t>
            </a:r>
            <a:r>
              <a:rPr sz="600">
                <a:latin typeface="Meiryo UI"/>
                <a:ea typeface="Meiryo UI"/>
                <a:cs typeface="Meiryo UI"/>
              </a:rPr>
              <a:t>202</a:t>
            </a:r>
            <a:r>
              <a:rPr sz="600">
                <a:latin typeface="Meiryo UI"/>
                <a:ea typeface="Meiryo UI"/>
                <a:cs typeface="Meiryo UI"/>
              </a:rPr>
              <a:t>4</a:t>
            </a:r>
            <a:r>
              <a:rPr sz="600">
                <a:latin typeface="Meiryo UI"/>
                <a:ea typeface="Meiryo UI"/>
                <a:cs typeface="Meiryo UI"/>
              </a:rPr>
              <a:t>年</a:t>
            </a:r>
            <a:r>
              <a:rPr sz="600">
                <a:latin typeface="Meiryo UI"/>
                <a:ea typeface="Meiryo UI"/>
                <a:cs typeface="Meiryo UI"/>
              </a:rPr>
              <a:t>5</a:t>
            </a:r>
            <a:r>
              <a:rPr sz="600">
                <a:latin typeface="Meiryo UI"/>
                <a:ea typeface="Meiryo UI"/>
                <a:cs typeface="Meiryo UI"/>
              </a:rPr>
              <a:t>月時点</a:t>
            </a:r>
          </a:p>
        </p:txBody>
      </p:sp>
      <p:pic>
        <p:nvPicPr>
          <p:cNvPr id="32" name="図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969ecb1197411e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40498" y="4915686"/>
            <a:ext cx="2687955" cy="424414"/>
          </a:xfrm>
          <a:prstGeom xmlns:a="http://schemas.openxmlformats.org/drawingml/2006/main" prst="rect">
            <a:avLst/>
          </a:prstGeom>
        </p:spPr>
      </p:pic>
      <p:sp>
        <p:nvSpPr>
          <p:cNvPr id="10" name="コンテンツ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2BCDB371-F3DF-7FE2-F28F-FA0FB02B7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342" y="4649613"/>
            <a:ext cx="2754627" cy="1162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>
            <a:lvl1pPr algn="l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  <a:buFont typeface="Wingdings"/>
              <a:buChar char="n"/>
              <a:defRPr sz="1400">
                <a:solidFill>
                  <a:schemeClr val="tx1"/>
                </a:solidFill>
                <a:latin typeface="Meiryo UI"/>
                <a:ea typeface="Meiryo UI"/>
                <a:cs typeface="Meiryo UI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35113" indent="-285750" algn="l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1200">
                <a:solidFill>
                  <a:schemeClr val="tx1"/>
                </a:solidFill>
                <a:latin typeface="Meiryo UI"/>
                <a:ea typeface="Meiryo UI"/>
                <a:cs typeface="Meiryo UI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 algn="ctr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 algn="ctr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 algn="ctr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 algn="ctr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R="0" lvl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prstClr val="black"/>
              </a:buClr>
              <a:buSzTx/>
              <a:buNone/>
            </a:pPr>
            <a:r>
              <a:rPr b="1" i="0" u="none" cap="none">
                <a:ln>
                  <a:noFill/>
                </a:ln>
                <a:solidFill>
                  <a:srgbClr val="F36C37"/>
                </a:solidFill>
              </a:rPr>
              <a:t>設立</a:t>
            </a:r>
          </a:p>
          <a:p xmlns:a="http://schemas.openxmlformats.org/drawingml/2006/main">
            <a:pPr>
              <a:buClr>
                <a:prstClr val="black"/>
              </a:buClr>
              <a:buNone/>
            </a:pP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　　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1995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年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12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月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6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日</a:t>
            </a:r>
          </a:p>
          <a:p xmlns:a="http://schemas.openxmlformats.org/drawingml/2006/main">
            <a:pPr marR="0" lvl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prstClr val="black"/>
              </a:buClr>
              <a:buSzTx/>
              <a:buNone/>
            </a:pPr>
          </a:p>
          <a:p xmlns:a="http://schemas.openxmlformats.org/drawingml/2006/main">
            <a:pPr marR="0" lvl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prstClr val="black"/>
              </a:buClr>
              <a:buSzTx/>
              <a:buNone/>
            </a:pPr>
            <a:r>
              <a:rPr b="1">
                <a:solidFill>
                  <a:srgbClr val="F36C37"/>
                </a:solidFill>
              </a:rPr>
              <a:t>従業員数</a:t>
            </a:r>
          </a:p>
          <a:p xmlns:a="http://schemas.openxmlformats.org/drawingml/2006/main">
            <a:pPr>
              <a:buClr>
                <a:prstClr val="black"/>
              </a:buClr>
              <a:buNone/>
            </a:pPr>
            <a:r>
              <a:rPr sz="1800" b="1">
                <a:solidFill>
                  <a:srgbClr val="F0A22E"/>
                </a:solidFill>
              </a:rPr>
              <a:t>　 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159</a:t>
            </a: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</a:rPr>
              <a:t>名</a:t>
            </a:r>
            <a:r>
              <a:rPr sz="1000">
                <a:solidFill>
                  <a:schemeClr val="tx1">
                    <a:lumMod val="75000"/>
                    <a:lumOff val="25000"/>
                  </a:schemeClr>
                </a:solidFill>
              </a:rPr>
              <a:t>（</a:t>
            </a:r>
            <a:r>
              <a:rPr sz="1000">
                <a:solidFill>
                  <a:schemeClr val="tx1">
                    <a:lumMod val="75000"/>
                    <a:lumOff val="25000"/>
                  </a:schemeClr>
                </a:solidFill>
              </a:rPr>
              <a:t>2024</a:t>
            </a:r>
            <a:r>
              <a:rPr sz="1000">
                <a:solidFill>
                  <a:schemeClr val="tx1">
                    <a:lumMod val="75000"/>
                    <a:lumOff val="25000"/>
                  </a:schemeClr>
                </a:solidFill>
              </a:rPr>
              <a:t>年</a:t>
            </a:r>
            <a:r>
              <a:rPr sz="1000">
                <a:solidFill>
                  <a:schemeClr val="tx1">
                    <a:lumMod val="75000"/>
                    <a:lumOff val="25000"/>
                  </a:schemeClr>
                </a:solidFill>
              </a:rPr>
              <a:t>7</a:t>
            </a:r>
            <a:r>
              <a:rPr sz="1000">
                <a:solidFill>
                  <a:schemeClr val="tx1">
                    <a:lumMod val="75000"/>
                    <a:lumOff val="25000"/>
                  </a:schemeClr>
                </a:solidFill>
              </a:rPr>
              <a:t>月時点）</a:t>
            </a:r>
          </a:p>
        </p:txBody>
      </p:sp>
      <p:sp>
        <p:nvSpPr>
          <p:cNvPr id="11" name="楕円 10">
            <a:extLst xmlns:a="http://schemas.openxmlformats.org/drawingml/2006/main">
              <a:ext uri="{FF2B5EF4-FFF2-40B4-BE49-F238E27FC236}">
                <a16:creationId xmlns:a16="http://schemas.microsoft.com/office/drawing/2014/main" id="{ED84945C-1CD2-38F6-1AFF-BFFC5880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89" y="1785657"/>
            <a:ext cx="2069273" cy="206927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rgbClr val="FA4515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テキスト ボックス 11">
            <a:extLst xmlns:a="http://schemas.openxmlformats.org/drawingml/2006/main">
              <a:ext uri="{FF2B5EF4-FFF2-40B4-BE49-F238E27FC236}">
                <a16:creationId xmlns:a16="http://schemas.microsoft.com/office/drawing/2014/main" id="{E5ED8160-E0A1-B87B-B04E-698906A0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119" y="2305691"/>
            <a:ext cx="2856212" cy="113877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年間お取引企業</a:t>
            </a:r>
          </a:p>
          <a:p xmlns:a="http://schemas.openxmlformats.org/drawingml/2006/main">
            <a:pPr algn="ctr">
              <a:buNone/>
            </a:pPr>
            <a:r>
              <a:rPr sz="24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約</a:t>
            </a:r>
            <a:r>
              <a:rPr sz="480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1</a:t>
            </a:r>
            <a:r>
              <a:rPr sz="320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,</a:t>
            </a:r>
            <a:r>
              <a:rPr sz="480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400</a:t>
            </a:r>
            <a:r>
              <a:rPr sz="24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社</a:t>
            </a:r>
          </a:p>
        </p:txBody>
      </p:sp>
      <p:sp>
        <p:nvSpPr>
          <p:cNvPr id="13" name="楕円 12">
            <a:extLst xmlns:a="http://schemas.openxmlformats.org/drawingml/2006/main">
              <a:ext uri="{FF2B5EF4-FFF2-40B4-BE49-F238E27FC236}">
                <a16:creationId xmlns:a16="http://schemas.microsoft.com/office/drawing/2014/main" id="{EDEA8317-7B95-B12A-77DA-8E04690D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258" y="1785657"/>
            <a:ext cx="2069273" cy="206927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rgbClr val="FA4515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正方形/長方形 13">
            <a:extLst xmlns:a="http://schemas.openxmlformats.org/drawingml/2006/main">
              <a:ext uri="{FF2B5EF4-FFF2-40B4-BE49-F238E27FC236}">
                <a16:creationId xmlns:a16="http://schemas.microsoft.com/office/drawing/2014/main" id="{8B17A6A2-6C6B-CC2C-107C-856B2927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852" y="2103831"/>
            <a:ext cx="2430474" cy="14465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>
                <a:latin typeface="Meiryo UI"/>
                <a:ea typeface="Meiryo UI"/>
                <a:cs typeface="Meiryo UI"/>
              </a:rPr>
              <a:t>世界</a:t>
            </a:r>
            <a:r>
              <a:rPr sz="480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15</a:t>
            </a:r>
            <a:r>
              <a:rPr sz="2000">
                <a:latin typeface="Meiryo UI"/>
                <a:ea typeface="Meiryo UI"/>
                <a:cs typeface="Meiryo UI"/>
              </a:rPr>
              <a:t>の</a:t>
            </a:r>
          </a:p>
          <a:p xmlns:a="http://schemas.openxmlformats.org/drawingml/2006/main">
            <a:pPr algn="ctr">
              <a:buNone/>
            </a:pPr>
            <a:r>
              <a:rPr sz="2000">
                <a:latin typeface="Meiryo UI"/>
                <a:ea typeface="Meiryo UI"/>
                <a:cs typeface="Meiryo UI"/>
              </a:rPr>
              <a:t>国と地域に</a:t>
            </a:r>
          </a:p>
          <a:p xmlns:a="http://schemas.openxmlformats.org/drawingml/2006/main">
            <a:pPr algn="ctr">
              <a:buNone/>
            </a:pPr>
            <a:r>
              <a:rPr sz="2000">
                <a:latin typeface="Meiryo UI"/>
                <a:ea typeface="Meiryo UI"/>
                <a:cs typeface="Meiryo UI"/>
              </a:rPr>
              <a:t>人材育成事業を展開</a:t>
            </a:r>
          </a:p>
        </p:txBody>
      </p:sp>
      <p:sp>
        <p:nvSpPr>
          <p:cNvPr id="15" name="楕円 14">
            <a:extLst xmlns:a="http://schemas.openxmlformats.org/drawingml/2006/main">
              <a:ext uri="{FF2B5EF4-FFF2-40B4-BE49-F238E27FC236}">
                <a16:creationId xmlns:a16="http://schemas.microsoft.com/office/drawing/2014/main" id="{A0F94E14-D798-8593-976B-40FBE5A2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867" y="1744841"/>
            <a:ext cx="2069273" cy="206927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rgbClr val="FA4515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楕円 15">
            <a:extLst xmlns:a="http://schemas.openxmlformats.org/drawingml/2006/main">
              <a:ext uri="{FF2B5EF4-FFF2-40B4-BE49-F238E27FC236}">
                <a16:creationId xmlns:a16="http://schemas.microsoft.com/office/drawing/2014/main" id="{54507D49-9D25-389E-7010-258CF872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9284" y="1744841"/>
            <a:ext cx="2069273" cy="206927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rgbClr val="FA4515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正方形/長方形 16">
            <a:extLst xmlns:a="http://schemas.openxmlformats.org/drawingml/2006/main">
              <a:ext uri="{FF2B5EF4-FFF2-40B4-BE49-F238E27FC236}">
                <a16:creationId xmlns:a16="http://schemas.microsoft.com/office/drawing/2014/main" id="{9563C356-A513-AAF1-6238-3E2F9F97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554" y="2259069"/>
            <a:ext cx="2747575" cy="113877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提供コース数</a:t>
            </a:r>
          </a:p>
          <a:p xmlns:a="http://schemas.openxmlformats.org/drawingml/2006/main">
            <a:pPr algn="ctr">
              <a:buNone/>
            </a:pPr>
            <a:r>
              <a:rPr sz="480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1</a:t>
            </a:r>
            <a:r>
              <a:rPr sz="320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,</a:t>
            </a:r>
            <a:r>
              <a:rPr sz="480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500</a:t>
            </a:r>
            <a:r>
              <a:rPr sz="20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以上</a:t>
            </a:r>
          </a:p>
        </p:txBody>
      </p:sp>
      <p:sp>
        <p:nvSpPr>
          <p:cNvPr id="18" name="テキスト ボックス 17">
            <a:extLst xmlns:a="http://schemas.openxmlformats.org/drawingml/2006/main">
              <a:ext uri="{FF2B5EF4-FFF2-40B4-BE49-F238E27FC236}">
                <a16:creationId xmlns:a16="http://schemas.microsoft.com/office/drawing/2014/main" id="{582940DD-8D16-2054-2B89-2E49325C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4459" y="2222749"/>
            <a:ext cx="2906090" cy="113877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受講者数</a:t>
            </a:r>
          </a:p>
          <a:p xmlns:a="http://schemas.openxmlformats.org/drawingml/2006/main">
            <a:pPr algn="ctr">
              <a:buNone/>
            </a:pPr>
            <a:r>
              <a:rPr sz="20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年間約</a:t>
            </a:r>
            <a:r>
              <a:rPr sz="4800" b="1">
                <a:solidFill>
                  <a:srgbClr val="FA4515"/>
                </a:solidFill>
                <a:latin typeface="Meiryo UI"/>
                <a:ea typeface="Meiryo UI"/>
                <a:cs typeface="Meiryo UI"/>
              </a:rPr>
              <a:t>6.9</a:t>
            </a:r>
            <a:r>
              <a:rPr sz="20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万人</a:t>
            </a:r>
          </a:p>
        </p:txBody>
      </p:sp>
      <p:sp>
        <p:nvSpPr>
          <p:cNvPr id="20" name="正方形/長方形 19">
            <a:extLst xmlns:a="http://schemas.openxmlformats.org/drawingml/2006/main">
              <a:ext uri="{FF2B5EF4-FFF2-40B4-BE49-F238E27FC236}">
                <a16:creationId xmlns:a16="http://schemas.microsoft.com/office/drawing/2014/main" id="{C2E5C442-4BAE-4C76-AEB0-085CBC9E9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340" y="6197253"/>
            <a:ext cx="5725527" cy="2154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800">
                <a:latin typeface="Meiryo UI"/>
                <a:ea typeface="Meiryo UI"/>
                <a:cs typeface="Meiryo UI"/>
              </a:rPr>
              <a:t>＊ </a:t>
            </a:r>
            <a:r>
              <a:rPr sz="800">
                <a:latin typeface="Meiryo UI"/>
                <a:ea typeface="Meiryo UI"/>
                <a:cs typeface="Meiryo UI"/>
              </a:rPr>
              <a:t>2017</a:t>
            </a:r>
            <a:r>
              <a:rPr sz="800">
                <a:latin typeface="Meiryo UI"/>
                <a:ea typeface="Meiryo UI"/>
                <a:cs typeface="Meiryo UI"/>
              </a:rPr>
              <a:t>年</a:t>
            </a:r>
            <a:r>
              <a:rPr sz="800">
                <a:latin typeface="Meiryo UI"/>
                <a:ea typeface="Meiryo UI"/>
                <a:cs typeface="Meiryo UI"/>
              </a:rPr>
              <a:t>10</a:t>
            </a:r>
            <a:r>
              <a:rPr sz="800">
                <a:latin typeface="Meiryo UI"/>
                <a:ea typeface="Meiryo UI"/>
                <a:cs typeface="Meiryo UI"/>
              </a:rPr>
              <a:t>月、社名を グローバルナレッジネットワーク株式会社 からトレノケート株式会社 へ変更いたしました。</a:t>
            </a:r>
          </a:p>
        </p:txBody>
      </p:sp>
      <p:sp>
        <p:nvSpPr>
          <p:cNvPr id="21" name="直線コネクタ 20">
            <a:extLst xmlns:a="http://schemas.openxmlformats.org/drawingml/2006/main">
              <a:ext uri="{FF2B5EF4-FFF2-40B4-BE49-F238E27FC236}">
                <a16:creationId xmlns:a16="http://schemas.microsoft.com/office/drawing/2014/main" id="{B7C42026-8485-4D79-A97D-342DF258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9127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FA451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cf11fe14d4cf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29775" y="238127"/>
            <a:ext cx="2152650" cy="333375"/>
          </a:xfrm>
          <a:prstGeom xmlns:a="http://schemas.openxmlformats.org/drawingml/2006/main" prst="rect">
            <a:avLst/>
          </a:prstGeom>
        </p:spPr>
      </p:pic>
      <p:sp>
        <p:nvSpPr>
          <p:cNvPr id="19" name="フッター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BBC96DD9-1296-FDFB-1F00-490AD265890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7918393" y="6326826"/>
            <a:ext cx="32705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r>
              <a:t>Trainocate</a:t>
            </a:r>
            <a:r>
              <a:t> Japan, Ltd. All rights reserved.</a:t>
            </a:r>
          </a:p>
        </p:txBody>
      </p:sp>
      <p:sp>
        <p:nvSpPr>
          <p:cNvPr id="23" name="テキスト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FC4D17F3-0482-9444-4CD3-B78751C51C04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55144" y="262622"/>
            <a:ext cx="8574847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タイトル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パートナーシップ・受賞実績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8475BC49-809D-8113-37D2-98E4F0B4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04" y="4669977"/>
            <a:ext cx="10748368" cy="14537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FA4515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テキスト ボックス 4">
            <a:extLst xmlns:a="http://schemas.openxmlformats.org/drawingml/2006/main">
              <a:ext uri="{FF2B5EF4-FFF2-40B4-BE49-F238E27FC236}">
                <a16:creationId xmlns:a16="http://schemas.microsoft.com/office/drawing/2014/main" id="{FDAD7871-4DC0-E172-A8A4-DD83648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8963" y="5794632"/>
            <a:ext cx="517924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ct val="20000"/>
              </a:spcBef>
              <a:buClr>
                <a:prstClr val="black"/>
              </a:buClr>
              <a:buNone/>
            </a:pPr>
            <a:r>
              <a:rPr sz="12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など</a:t>
            </a:r>
          </a:p>
        </p:txBody>
      </p:sp>
      <p:pic>
        <p:nvPicPr>
          <p:cNvPr id="41" name="図 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7a15e74f1c4474"/>
          <a:srcRect xmlns:a="http://schemas.openxmlformats.org/drawingml/2006/main" l="38268" t="34277" r="52366" b="58397"/>
          <a:stretch xmlns:a="http://schemas.openxmlformats.org/drawingml/2006/main"/>
        </p:blipFill>
        <p:spPr>
          <a:xfrm xmlns:a="http://schemas.openxmlformats.org/drawingml/2006/main">
            <a:off x="7041103" y="1942835"/>
            <a:ext cx="2340947" cy="991806"/>
          </a:xfrm>
          <a:prstGeom xmlns:a="http://schemas.openxmlformats.org/drawingml/2006/main" prst="rect">
            <a:avLst/>
          </a:prstGeom>
        </p:spPr>
      </p:pic>
      <p:pic>
        <p:nvPicPr>
          <p:cNvPr id="42" name="図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7a15e74f1c4474"/>
          <a:srcRect xmlns:a="http://schemas.openxmlformats.org/drawingml/2006/main" l="39976" t="24766" r="52875" b="65823"/>
          <a:stretch xmlns:a="http://schemas.openxmlformats.org/drawingml/2006/main"/>
        </p:blipFill>
        <p:spPr>
          <a:xfrm xmlns:a="http://schemas.openxmlformats.org/drawingml/2006/main">
            <a:off x="4068726" y="1874350"/>
            <a:ext cx="1860025" cy="1326371"/>
          </a:xfrm>
          <a:prstGeom xmlns:a="http://schemas.openxmlformats.org/drawingml/2006/main" prst="rect">
            <a:avLst/>
          </a:prstGeom>
        </p:spPr>
      </p:pic>
      <p:pic>
        <p:nvPicPr>
          <p:cNvPr id="43" name="図 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7a15e74f1c4474"/>
          <a:srcRect xmlns:a="http://schemas.openxmlformats.org/drawingml/2006/main" l="50106" t="24766" r="38259" b="65823"/>
          <a:stretch xmlns:a="http://schemas.openxmlformats.org/drawingml/2006/main"/>
        </p:blipFill>
        <p:spPr>
          <a:xfrm xmlns:a="http://schemas.openxmlformats.org/drawingml/2006/main">
            <a:off x="5244104" y="3339414"/>
            <a:ext cx="2424308" cy="1062184"/>
          </a:xfrm>
          <a:prstGeom xmlns:a="http://schemas.openxmlformats.org/drawingml/2006/main" prst="rect">
            <a:avLst/>
          </a:prstGeom>
        </p:spPr>
      </p:pic>
      <p:pic>
        <p:nvPicPr>
          <p:cNvPr id="44" name="図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57445f8e4a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03871" y="3304948"/>
            <a:ext cx="1362767" cy="1081852"/>
          </a:xfrm>
          <a:prstGeom xmlns:a="http://schemas.openxmlformats.org/drawingml/2006/main" prst="rect">
            <a:avLst/>
          </a:prstGeom>
        </p:spPr>
      </p:pic>
      <p:pic>
        <p:nvPicPr>
          <p:cNvPr id="45" name="図 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7a15e74f1c4474"/>
          <a:srcRect xmlns:a="http://schemas.openxmlformats.org/drawingml/2006/main" l="18318" t="24766" r="75583" b="65823"/>
          <a:stretch xmlns:a="http://schemas.openxmlformats.org/drawingml/2006/main"/>
        </p:blipFill>
        <p:spPr>
          <a:xfrm xmlns:a="http://schemas.openxmlformats.org/drawingml/2006/main">
            <a:off x="2767616" y="1876213"/>
            <a:ext cx="1410988" cy="1179501"/>
          </a:xfrm>
          <a:prstGeom xmlns:a="http://schemas.openxmlformats.org/drawingml/2006/main" prst="rect">
            <a:avLst/>
          </a:prstGeom>
        </p:spPr>
      </p:pic>
      <p:pic>
        <p:nvPicPr>
          <p:cNvPr id="46" name="図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7a15e74f1c4474"/>
          <a:srcRect xmlns:a="http://schemas.openxmlformats.org/drawingml/2006/main" l="62095" t="33588" r="25007" b="58397"/>
          <a:stretch xmlns:a="http://schemas.openxmlformats.org/drawingml/2006/main"/>
        </p:blipFill>
        <p:spPr>
          <a:xfrm xmlns:a="http://schemas.openxmlformats.org/drawingml/2006/main">
            <a:off x="2827108" y="3323158"/>
            <a:ext cx="2702992" cy="909785"/>
          </a:xfrm>
          <a:prstGeom xmlns:a="http://schemas.openxmlformats.org/drawingml/2006/main" prst="rect">
            <a:avLst/>
          </a:prstGeom>
        </p:spPr>
      </p:pic>
      <p:pic>
        <p:nvPicPr>
          <p:cNvPr id="47" name="図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8f4913239246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28751" y="1935670"/>
            <a:ext cx="1050650" cy="1060584"/>
          </a:xfrm>
          <a:prstGeom xmlns:a="http://schemas.openxmlformats.org/drawingml/2006/main" prst="rect">
            <a:avLst/>
          </a:prstGeom>
        </p:spPr>
      </p:pic>
      <p:sp>
        <p:nvSpPr>
          <p:cNvPr id="13" name="テキスト ボックス 12">
            <a:extLst xmlns:a="http://schemas.openxmlformats.org/drawingml/2006/main">
              <a:ext uri="{FF2B5EF4-FFF2-40B4-BE49-F238E27FC236}">
                <a16:creationId xmlns:a16="http://schemas.microsoft.com/office/drawing/2014/main" id="{86813DC5-FE74-29E9-F0A4-264DB70C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294" y="1141605"/>
            <a:ext cx="9503039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185738" algn="ctr">
              <a:lnSpc>
                <a:spcPct val="100000"/>
              </a:lnSpc>
              <a:buNone/>
            </a:pPr>
            <a:r>
              <a:rPr>
                <a:latin typeface="Meiryo UI"/>
                <a:ea typeface="Meiryo UI"/>
                <a:cs typeface="Meiryo UI"/>
              </a:rPr>
              <a:t>IT</a:t>
            </a:r>
            <a:r>
              <a:rPr>
                <a:latin typeface="Meiryo UI"/>
                <a:ea typeface="Meiryo UI"/>
                <a:cs typeface="Meiryo UI"/>
              </a:rPr>
              <a:t>とビジネスを牽引する世界有数のベンダー各社との強固なパートナーシップ、アワード受賞実績多数</a:t>
            </a:r>
          </a:p>
        </p:txBody>
      </p:sp>
      <p:sp>
        <p:nvSpPr>
          <p:cNvPr id="14" name="テキスト ボックス 13">
            <a:extLst xmlns:a="http://schemas.openxmlformats.org/drawingml/2006/main">
              <a:ext uri="{FF2B5EF4-FFF2-40B4-BE49-F238E27FC236}">
                <a16:creationId xmlns:a16="http://schemas.microsoft.com/office/drawing/2014/main" id="{3203A8CC-F7FE-9636-580B-423669C6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426" y="5094251"/>
            <a:ext cx="2262250" cy="7078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00">
                <a:latin typeface="Meiryo UI"/>
                <a:ea typeface="Meiryo UI"/>
                <a:cs typeface="Meiryo UI"/>
              </a:rPr>
              <a:t>4</a:t>
            </a:r>
            <a:r>
              <a:rPr sz="1000">
                <a:latin typeface="Meiryo UI"/>
                <a:ea typeface="Meiryo UI"/>
                <a:cs typeface="Meiryo UI"/>
              </a:rPr>
              <a:t>年連続、世界で最も優れた</a:t>
            </a:r>
          </a:p>
          <a:p xmlns:a="http://schemas.openxmlformats.org/drawingml/2006/main">
            <a:r>
              <a:rPr sz="1000">
                <a:latin typeface="Meiryo UI"/>
                <a:ea typeface="Meiryo UI"/>
                <a:cs typeface="Meiryo UI"/>
              </a:rPr>
              <a:t> </a:t>
            </a:r>
            <a:r>
              <a:rPr sz="1000">
                <a:latin typeface="Meiryo UI"/>
                <a:ea typeface="Meiryo UI"/>
                <a:cs typeface="Meiryo UI"/>
              </a:rPr>
              <a:t>IT </a:t>
            </a:r>
            <a:r>
              <a:rPr sz="1000">
                <a:latin typeface="Meiryo UI"/>
                <a:ea typeface="Meiryo UI"/>
                <a:cs typeface="Meiryo UI"/>
              </a:rPr>
              <a:t>研修企業 </a:t>
            </a:r>
            <a:r>
              <a:rPr sz="1000">
                <a:latin typeface="Meiryo UI"/>
                <a:ea typeface="Meiryo UI"/>
                <a:cs typeface="Meiryo UI"/>
              </a:rPr>
              <a:t>20 </a:t>
            </a:r>
          </a:p>
          <a:p xmlns:a="http://schemas.openxmlformats.org/drawingml/2006/main">
            <a:r>
              <a:rPr sz="1000">
                <a:latin typeface="Meiryo UI"/>
                <a:ea typeface="Meiryo UI"/>
                <a:cs typeface="Meiryo UI"/>
              </a:rPr>
              <a:t>Top IT &amp; Technical Training Companies</a:t>
            </a:r>
            <a:r>
              <a:rPr sz="1000">
                <a:latin typeface="Meiryo UI"/>
                <a:ea typeface="Meiryo UI"/>
                <a:cs typeface="Meiryo UI"/>
              </a:rPr>
              <a:t>選出</a:t>
            </a:r>
          </a:p>
        </p:txBody>
      </p:sp>
      <p:sp>
        <p:nvSpPr>
          <p:cNvPr id="15" name="テキスト ボックス 14">
            <a:extLst xmlns:a="http://schemas.openxmlformats.org/drawingml/2006/main">
              <a:ext uri="{FF2B5EF4-FFF2-40B4-BE49-F238E27FC236}">
                <a16:creationId xmlns:a16="http://schemas.microsoft.com/office/drawing/2014/main" id="{C830E030-37A4-5DC0-5C8F-8FB65BB9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5261" y="5089100"/>
            <a:ext cx="1531134" cy="738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r>
              <a:rPr sz="10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２年連続</a:t>
            </a:r>
          </a:p>
          <a:p xmlns:a="http://schemas.openxmlformats.org/drawingml/2006/main">
            <a:r>
              <a:rPr sz="10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AWS Training Partner of the Year</a:t>
            </a:r>
            <a:r>
              <a:rPr sz="10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 </a:t>
            </a:r>
            <a:r>
              <a:rPr sz="100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– Global Award</a:t>
            </a:r>
          </a:p>
        </p:txBody>
      </p:sp>
      <p:pic>
        <p:nvPicPr>
          <p:cNvPr id="51" name="グラフィックス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6745a0e3a34b15">
            <a:extLst>
              <a:ext uri="{96DAC541-7B7A-43D3-8B79-37D633B846F1}">
                <asvg:svgBlip xmlns:asvg="http://schemas.microsoft.com/office/drawing/2016/SVG/main" r:embed="Rd3349890b17348f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26898" y="5249869"/>
            <a:ext cx="453194" cy="453194"/>
          </a:xfrm>
          <a:prstGeom xmlns:a="http://schemas.openxmlformats.org/drawingml/2006/main" prst="rect">
            <a:avLst/>
          </a:prstGeom>
        </p:spPr>
      </p:pic>
      <p:sp>
        <p:nvSpPr>
          <p:cNvPr id="17" name="テキスト ボックス 16">
            <a:extLst xmlns:a="http://schemas.openxmlformats.org/drawingml/2006/main">
              <a:ext uri="{FF2B5EF4-FFF2-40B4-BE49-F238E27FC236}">
                <a16:creationId xmlns:a16="http://schemas.microsoft.com/office/drawing/2014/main" id="{A77552E6-A067-E901-AC3C-5785CAA0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8399" y="5096509"/>
            <a:ext cx="1531134" cy="738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chemeClr val="tx1">
                    <a:lumMod val="75000"/>
                    <a:lumOff val="25000"/>
                  </a:schemeClr>
                </a:solidFill>
                <a:latin typeface="Meiryo UI"/>
                <a:ea typeface="Meiryo UI"/>
                <a:cs typeface="Meiryo UI"/>
              </a:rPr>
              <a:t>Cisco Learning Partner of the Year APJC 2023</a:t>
            </a:r>
          </a:p>
        </p:txBody>
      </p:sp>
      <p:pic>
        <p:nvPicPr>
          <p:cNvPr id="53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b00ee658f454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04522" y="5077920"/>
            <a:ext cx="690592" cy="734672"/>
          </a:xfrm>
          <a:prstGeom xmlns:a="http://schemas.openxmlformats.org/drawingml/2006/main" prst="rect">
            <a:avLst/>
          </a:prstGeom>
        </p:spPr>
      </p:pic>
      <p:sp>
        <p:nvSpPr>
          <p:cNvPr id="19" name="テキスト ボックス 18">
            <a:extLst xmlns:a="http://schemas.openxmlformats.org/drawingml/2006/main">
              <a:ext uri="{FF2B5EF4-FFF2-40B4-BE49-F238E27FC236}">
                <a16:creationId xmlns:a16="http://schemas.microsoft.com/office/drawing/2014/main" id="{90ECAA77-0CB8-4A20-60B8-BDF95241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5617" y="5249869"/>
            <a:ext cx="1906965" cy="5078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latin typeface="Meiryo UI"/>
                <a:ea typeface="Meiryo UI"/>
                <a:cs typeface="Meiryo UI"/>
              </a:rPr>
              <a:t> 総務省主催</a:t>
            </a:r>
          </a:p>
          <a:p xmlns:a="http://schemas.openxmlformats.org/drawingml/2006/main">
            <a:r>
              <a:rPr sz="900">
                <a:latin typeface="Meiryo UI"/>
                <a:ea typeface="Meiryo UI"/>
                <a:cs typeface="Meiryo UI"/>
              </a:rPr>
              <a:t>「テレワーク先駆者百選」に選出</a:t>
            </a:r>
          </a:p>
          <a:p xmlns:a="http://schemas.openxmlformats.org/drawingml/2006/main">
            <a:r>
              <a:rPr sz="900">
                <a:latin typeface="Meiryo UI"/>
                <a:ea typeface="Meiryo UI"/>
                <a:cs typeface="Meiryo UI"/>
              </a:rPr>
              <a:t>(2022</a:t>
            </a:r>
            <a:r>
              <a:rPr sz="900">
                <a:latin typeface="Meiryo UI"/>
                <a:ea typeface="Meiryo UI"/>
                <a:cs typeface="Meiryo UI"/>
              </a:rPr>
              <a:t>年</a:t>
            </a:r>
            <a:r>
              <a:rPr sz="900">
                <a:latin typeface="Meiryo UI"/>
                <a:ea typeface="Meiryo UI"/>
                <a:cs typeface="Meiryo UI"/>
              </a:rPr>
              <a:t>11</a:t>
            </a:r>
            <a:r>
              <a:rPr sz="900">
                <a:latin typeface="Meiryo UI"/>
                <a:ea typeface="Meiryo UI"/>
                <a:cs typeface="Meiryo UI"/>
              </a:rPr>
              <a:t>月</a:t>
            </a:r>
            <a:r>
              <a:rPr sz="900">
                <a:latin typeface="Meiryo UI"/>
                <a:ea typeface="Meiryo UI"/>
                <a:cs typeface="Meiryo UI"/>
              </a:rPr>
              <a:t>)</a:t>
            </a:r>
          </a:p>
        </p:txBody>
      </p:sp>
      <p:pic>
        <p:nvPicPr>
          <p:cNvPr id="55" name="図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a9e9cc2c9e44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50332" y="5022445"/>
            <a:ext cx="747371" cy="910687"/>
          </a:xfrm>
          <a:prstGeom xmlns:a="http://schemas.openxmlformats.org/drawingml/2006/main" prst="rect">
            <a:avLst/>
          </a:prstGeom>
        </p:spPr>
      </p:pic>
      <p:sp>
        <p:nvSpPr>
          <p:cNvPr id="21" name="Freeform 10">
            <a:extLst xmlns:a="http://schemas.openxmlformats.org/drawingml/2006/main">
              <a:ext uri="{FF2B5EF4-FFF2-40B4-BE49-F238E27FC236}">
                <a16:creationId xmlns:a16="http://schemas.microsoft.com/office/drawing/2014/main" id="{7D34A842-F9CB-FBD5-2BDF-8AE4514E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086" y="5078548"/>
            <a:ext cx="775953" cy="806725"/>
          </a:xfrm>
          <a:custGeom xmlns:a="http://schemas.openxmlformats.org/drawingml/2006/main">
            <a:rect l="l" t="t" r="r" b="b"/>
            <a:pathLst>
              <a:path w="3358519" h="3491708">
                <a:moveTo>
                  <a:pt x="0" y="0"/>
                </a:moveTo>
                <a:lnTo>
                  <a:pt x="3358520" y="0"/>
                </a:lnTo>
                <a:lnTo>
                  <a:pt x="3358520" y="3491708"/>
                </a:lnTo>
                <a:lnTo>
                  <a:pt x="0" y="3491708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6971f3806b442c"/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正方形/長方形 21">
            <a:extLst xmlns:a="http://schemas.openxmlformats.org/drawingml/2006/main">
              <a:ext uri="{FF2B5EF4-FFF2-40B4-BE49-F238E27FC236}">
                <a16:creationId xmlns:a16="http://schemas.microsoft.com/office/drawing/2014/main" id="{A68DD0C3-5262-5306-C9D2-F3F35787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2546" y="4516120"/>
            <a:ext cx="2912533" cy="2675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451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>
                <a:latin typeface="Meiryo UI"/>
                <a:ea typeface="Meiryo UI"/>
                <a:cs typeface="Meiryo UI"/>
              </a:rPr>
              <a:t>受賞実績</a:t>
            </a:r>
          </a:p>
        </p:txBody>
      </p:sp>
      <p:pic>
        <p:nvPicPr>
          <p:cNvPr id="58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7e28366283436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29775" y="238127"/>
            <a:ext cx="2152650" cy="333375"/>
          </a:xfrm>
          <a:prstGeom xmlns:a="http://schemas.openxmlformats.org/drawingml/2006/main" prst="rect">
            <a:avLst/>
          </a:prstGeom>
        </p:spPr>
      </p:pic>
      <p:sp>
        <p:nvSpPr>
          <p:cNvPr id="27" name="直線コネクタ 26">
            <a:extLst xmlns:a="http://schemas.openxmlformats.org/drawingml/2006/main">
              <a:ext uri="{FF2B5EF4-FFF2-40B4-BE49-F238E27FC236}">
                <a16:creationId xmlns:a16="http://schemas.microsoft.com/office/drawing/2014/main" id="{24499805-861B-442E-A9E7-6F5DB909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9127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FA451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3" name="フッター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4EBA05D0-5197-2D93-FF99-8040261A9B8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7918393" y="6326826"/>
            <a:ext cx="32705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r>
              <a:t>Trainocate</a:t>
            </a:r>
            <a:r>
              <a:t> Japan, Ltd. All rights reserved.</a:t>
            </a:r>
          </a:p>
        </p:txBody>
      </p:sp>
      <p:sp>
        <p:nvSpPr>
          <p:cNvPr id="24" name="テキスト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990F967C-11A9-4603-8107-D53B1751A70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55144" y="262622"/>
            <a:ext cx="8574847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タイトル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Vision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図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211be866a44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51823" y="665959"/>
            <a:ext cx="9888354" cy="6166930"/>
          </a:xfrm>
          <a:prstGeom xmlns:a="http://schemas.openxmlformats.org/drawingml/2006/main" prst="rect">
            <a:avLst/>
          </a:prstGeom>
        </p:spPr>
      </p:pic>
      <p:sp>
        <p:nvSpPr>
          <p:cNvPr id="5" name="テキスト ボックス 4">
            <a:extLst xmlns:a="http://schemas.openxmlformats.org/drawingml/2006/main">
              <a:ext uri="{FF2B5EF4-FFF2-40B4-BE49-F238E27FC236}">
                <a16:creationId xmlns:a16="http://schemas.microsoft.com/office/drawing/2014/main" id="{C40CEB44-312D-725C-7E69-B5FF173B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3561" y="2403670"/>
            <a:ext cx="3778350" cy="11079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6600" b="1" i="0" u="none">
                <a:solidFill>
                  <a:srgbClr val="FA4515"/>
                </a:solidFill>
                <a:latin typeface="Malgun Gothic"/>
                <a:ea typeface="Malgun Gothic"/>
                <a:cs typeface="Malgun Gothic"/>
              </a:rPr>
              <a:t>Vision</a:t>
            </a:r>
          </a:p>
        </p:txBody>
      </p:sp>
      <p:sp>
        <p:nvSpPr>
          <p:cNvPr id="6" name="テキスト ボックス 5">
            <a:extLst xmlns:a="http://schemas.openxmlformats.org/drawingml/2006/main">
              <a:ext uri="{FF2B5EF4-FFF2-40B4-BE49-F238E27FC236}">
                <a16:creationId xmlns:a16="http://schemas.microsoft.com/office/drawing/2014/main" id="{247864EF-416C-FED0-9623-2E9DD845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773" y="3035579"/>
            <a:ext cx="5065294" cy="4924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600" b="1" i="0" u="none">
                <a:solidFill>
                  <a:schemeClr val="tx1">
                    <a:lumMod val="65000"/>
                    <a:lumOff val="35000"/>
                  </a:schemeClr>
                </a:solidFill>
                <a:latin typeface="HiraKakuStd-W8"/>
                <a:ea typeface="HiraKakuStd-W8"/>
                <a:cs typeface="HiraKakuStd-W8"/>
              </a:rPr>
              <a:t>世界を変える「人」を育てる</a:t>
            </a:r>
          </a:p>
        </p:txBody>
      </p:sp>
      <p:sp>
        <p:nvSpPr>
          <p:cNvPr id="7" name="テキスト ボックス 6">
            <a:extLst xmlns:a="http://schemas.openxmlformats.org/drawingml/2006/main">
              <a:ext uri="{FF2B5EF4-FFF2-40B4-BE49-F238E27FC236}">
                <a16:creationId xmlns:a16="http://schemas.microsoft.com/office/drawing/2014/main" id="{367A0BD9-23BC-2B08-C5A4-0A303744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3974" y="3706697"/>
            <a:ext cx="6097604" cy="1450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1200" b="1" i="0" u="none">
                <a:solidFill>
                  <a:schemeClr val="tx1">
                    <a:lumMod val="65000"/>
                    <a:lumOff val="35000"/>
                  </a:schemeClr>
                </a:solidFill>
                <a:latin typeface="游ゴシック"/>
                <a:ea typeface="游ゴシック"/>
                <a:cs typeface="游ゴシック"/>
              </a:rPr>
              <a:t>トレノケートは</a:t>
            </a:r>
            <a:r>
              <a:rPr sz="1200" b="1" i="0" u="none">
                <a:solidFill>
                  <a:schemeClr val="tx1">
                    <a:lumMod val="65000"/>
                    <a:lumOff val="35000"/>
                  </a:schemeClr>
                </a:solidFill>
                <a:latin typeface="游ゴシック"/>
                <a:ea typeface="游ゴシック"/>
                <a:cs typeface="游ゴシック"/>
              </a:rPr>
              <a:t>30 </a:t>
            </a:r>
            <a:r>
              <a:rPr sz="1200" b="1" i="0" u="none">
                <a:solidFill>
                  <a:schemeClr val="tx1">
                    <a:lumMod val="65000"/>
                    <a:lumOff val="35000"/>
                  </a:schemeClr>
                </a:solidFill>
                <a:latin typeface="游ゴシック"/>
                <a:ea typeface="游ゴシック"/>
                <a:cs typeface="游ゴシック"/>
              </a:rPr>
              <a:t>年の歴史を持つ人材育成の専門企業です。</a:t>
            </a:r>
          </a:p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1200" b="1" i="0" u="none">
                <a:solidFill>
                  <a:schemeClr val="tx1">
                    <a:lumMod val="65000"/>
                    <a:lumOff val="35000"/>
                  </a:schemeClr>
                </a:solidFill>
                <a:latin typeface="游ゴシック"/>
                <a:ea typeface="游ゴシック"/>
                <a:cs typeface="游ゴシック"/>
              </a:rPr>
              <a:t>「人」は学びや経験によって、</a:t>
            </a:r>
          </a:p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1200" b="1" i="0" u="none">
                <a:solidFill>
                  <a:schemeClr val="tx1">
                    <a:lumMod val="65000"/>
                    <a:lumOff val="35000"/>
                  </a:schemeClr>
                </a:solidFill>
                <a:latin typeface="游ゴシック"/>
                <a:ea typeface="游ゴシック"/>
                <a:cs typeface="游ゴシック"/>
              </a:rPr>
              <a:t>振る舞いや考え方が変わり能力が向上していきます。</a:t>
            </a:r>
          </a:p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1200" b="1" i="0" u="none">
                <a:solidFill>
                  <a:schemeClr val="tx1">
                    <a:lumMod val="65000"/>
                    <a:lumOff val="35000"/>
                  </a:schemeClr>
                </a:solidFill>
                <a:latin typeface="游ゴシック"/>
                <a:ea typeface="游ゴシック"/>
                <a:cs typeface="游ゴシック"/>
              </a:rPr>
              <a:t>トレノケートは人材育成の未来を主導することで、</a:t>
            </a:r>
          </a:p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1200" b="1" i="0" u="none">
                <a:solidFill>
                  <a:schemeClr val="tx1">
                    <a:lumMod val="65000"/>
                    <a:lumOff val="35000"/>
                  </a:schemeClr>
                </a:solidFill>
                <a:latin typeface="游ゴシック"/>
                <a:ea typeface="游ゴシック"/>
                <a:cs typeface="游ゴシック"/>
              </a:rPr>
              <a:t>そうした変化や向上を目指す全ての人を支援します。</a:t>
            </a:r>
          </a:p>
        </p:txBody>
      </p:sp>
      <p:pic>
        <p:nvPicPr>
          <p:cNvPr id="1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e5189a279442a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29775" y="238127"/>
            <a:ext cx="2152650" cy="333375"/>
          </a:xfrm>
          <a:prstGeom xmlns:a="http://schemas.openxmlformats.org/drawingml/2006/main" prst="rect">
            <a:avLst/>
          </a:prstGeom>
        </p:spPr>
      </p:pic>
      <p:sp>
        <p:nvSpPr>
          <p:cNvPr id="2" name="直線コネクタ 1">
            <a:extLst xmlns:a="http://schemas.openxmlformats.org/drawingml/2006/main">
              <a:ext uri="{FF2B5EF4-FFF2-40B4-BE49-F238E27FC236}">
                <a16:creationId xmlns:a16="http://schemas.microsoft.com/office/drawing/2014/main" id="{8DE56468-C38A-491B-8FB8-9300B4D1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9127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FA451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</p:spTree>
  </p:cSld>
</p:sldLayout>
</file>

<file path=ppt/slideLayouts/slideLayout8.xml><?xml version="1.0" encoding="utf-8"?>
<p:sldLayout xmlns:p="http://schemas.openxmlformats.org/presentationml/2006/main" preserve="1" userDrawn="1">
  <p:cSld name="エンドスライド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図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4167134bd470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18835" y="3011053"/>
            <a:ext cx="5293995" cy="835894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showMasterSp="0" userDrawn="1">
  <p:cSld name="ブリッジスライド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c2e58b162d446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V="1">
            <a:off x="0" y="3642337"/>
            <a:ext cx="12192000" cy="1320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" name="図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a4cfa7f55466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7785" y="4855683"/>
            <a:ext cx="2954215" cy="200231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9E05685-6020-F3AD-E9EE-A2BE3B0E528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877567" y="3042348"/>
            <a:ext cx="10440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b">
            <a:noAutofit/>
          </a:bodyPr>
          <a:lstStyle xmlns:a="http://schemas.openxmlformats.org/drawingml/2006/main">
            <a:lvl1pPr algn="ctr">
              <a:buNone/>
              <a:defRPr sz="2800" b="1" baseline="0">
                <a:solidFill>
                  <a:schemeClr val="tx2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pPr lvl="0">
              <a:buNone/>
            </a:pPr>
            <a:r>
              <a:t>マスター タイトルの書式設定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showMasterSp="0" userDrawn="1">
  <p:cSld name="白紙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5630435cda44eb" /><Relationship Type="http://schemas.openxmlformats.org/officeDocument/2006/relationships/slideLayout" Target="/ppt/slideLayouts/slideLayout1.xml" Id="R013f4b3d2d244252" /><Relationship Type="http://schemas.openxmlformats.org/officeDocument/2006/relationships/slideLayout" Target="/ppt/slideLayouts/slideLayout2.xml" Id="R63eac94af3bb47a3" /><Relationship Type="http://schemas.openxmlformats.org/officeDocument/2006/relationships/slideLayout" Target="/ppt/slideLayouts/slideLayout3.xml" Id="Rfb712a206c5b49ac" /><Relationship Type="http://schemas.openxmlformats.org/officeDocument/2006/relationships/slideLayout" Target="/ppt/slideLayouts/slideLayout4.xml" Id="R69f1adb029e74e1e" /><Relationship Type="http://schemas.openxmlformats.org/officeDocument/2006/relationships/slideLayout" Target="/ppt/slideLayouts/slideLayout5.xml" Id="Rabf94cb6483d4e38" /><Relationship Type="http://schemas.openxmlformats.org/officeDocument/2006/relationships/slideLayout" Target="/ppt/slideLayouts/slideLayout6.xml" Id="Rcfe12fcc9b5346d0" /><Relationship Type="http://schemas.openxmlformats.org/officeDocument/2006/relationships/slideLayout" Target="/ppt/slideLayouts/slideLayout7.xml" Id="R16c125804e984084" /><Relationship Type="http://schemas.openxmlformats.org/officeDocument/2006/relationships/slideLayout" Target="/ppt/slideLayouts/slideLayout8.xml" Id="R27b12218e4214d33" /><Relationship Type="http://schemas.openxmlformats.org/officeDocument/2006/relationships/slideLayout" Target="/ppt/slideLayouts/slideLayout9.xml" Id="Rf50f9a5de47e426f" /><Relationship Type="http://schemas.openxmlformats.org/officeDocument/2006/relationships/slideLayout" Target="/ppt/slideLayouts/slideLayout10.xml" Id="R9eb7a5cd7ef941d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テキスト ボックス 2">
            <a:extLst xmlns:a="http://schemas.openxmlformats.org/drawingml/2006/main">
              <a:ext uri="{FF2B5EF4-FFF2-40B4-BE49-F238E27FC236}">
                <a16:creationId xmlns:a16="http://schemas.microsoft.com/office/drawing/2014/main" id="{5CA366F5-A061-D445-2049-792361A2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996" y="6368391"/>
            <a:ext cx="1014153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fld id="{457F6346-B425-445C-8F68-AAACBD0D4168}" type="slidenum">
              <a:rPr sz="1200">
                <a:solidFill>
                  <a:schemeClr val="tx2"/>
                </a:solidFill>
              </a:rPr>
              <a:t>‹#›</a:t>
            </a:fld>
          </a:p>
        </p:txBody>
      </p:sp>
      <p:sp>
        <p:nvSpPr>
          <p:cNvPr id="4" name="フッター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3AB1CE96-6EA5-6FB1-776E-69CB060C7B3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7918393" y="6326826"/>
            <a:ext cx="32705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r>
              <a:t>Trainocate</a:t>
            </a:r>
            <a:r>
              <a:t> Japan, Ltd. All rights reserved.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3f4b3d2d244252"/>
    <p:sldLayoutId xmlns:r="http://schemas.openxmlformats.org/officeDocument/2006/relationships" id="2147483650" r:id="R63eac94af3bb47a3"/>
    <p:sldLayoutId xmlns:r="http://schemas.openxmlformats.org/officeDocument/2006/relationships" id="2147483651" r:id="Rfb712a206c5b49ac"/>
    <p:sldLayoutId xmlns:r="http://schemas.openxmlformats.org/officeDocument/2006/relationships" id="2147483652" r:id="R69f1adb029e74e1e"/>
    <p:sldLayoutId xmlns:r="http://schemas.openxmlformats.org/officeDocument/2006/relationships" id="2147483653" r:id="Rabf94cb6483d4e38"/>
    <p:sldLayoutId xmlns:r="http://schemas.openxmlformats.org/officeDocument/2006/relationships" id="2147483654" r:id="Rcfe12fcc9b5346d0"/>
    <p:sldLayoutId xmlns:r="http://schemas.openxmlformats.org/officeDocument/2006/relationships" id="2147483655" r:id="R16c125804e984084"/>
    <p:sldLayoutId xmlns:r="http://schemas.openxmlformats.org/officeDocument/2006/relationships" id="2147483656" r:id="R27b12218e4214d33"/>
    <p:sldLayoutId xmlns:r="http://schemas.openxmlformats.org/officeDocument/2006/relationships" id="2147483657" r:id="Rf50f9a5de47e426f"/>
    <p:sldLayoutId xmlns:r="http://schemas.openxmlformats.org/officeDocument/2006/relationships" id="2147483658" r:id="R9eb7a5cd7ef941d7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0" indent="0" algn="l" defTabSz="914400">
        <a:lnSpc>
          <a:spcPct val="90000"/>
        </a:lnSpc>
        <a:spcBef>
          <a:spcPts val="1000"/>
        </a:spcBef>
        <a:buFont typeface="Arial"/>
        <a:buNone/>
        <a:defRPr sz="1600" b="1" kern="1200">
          <a:solidFill>
            <a:schemeClr val="tx2"/>
          </a:solidFill>
          <a:latin typeface="+mj-ea"/>
          <a:ea typeface="+mj-ea"/>
          <a:cs typeface="+mj-ea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F26B43"/>
          </p15:clr>
        </p15:guide>
        <p15:guide id="2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テーマ">
  <a:themeElements>
    <a:clrScheme name="ユーザー定義 1">
      <a:dk1>
        <a:srgbClr val="000000"/>
      </a:dk1>
      <a:lt1>
        <a:srgbClr val="FFFFFF"/>
      </a:lt1>
      <a:dk2>
        <a:srgbClr val="808080"/>
      </a:dk2>
      <a:lt2>
        <a:srgbClr val="BFBFBF"/>
      </a:lt2>
      <a:accent1>
        <a:srgbClr val="F2F2F2"/>
      </a:accent1>
      <a:accent2>
        <a:srgbClr val="FA4515"/>
      </a:accent2>
      <a:accent3>
        <a:srgbClr val="FBE3D6"/>
      </a:accent3>
      <a:accent4>
        <a:srgbClr val="196B24"/>
      </a:accent4>
      <a:accent5>
        <a:srgbClr val="156082"/>
      </a:accent5>
      <a:accent6>
        <a:srgbClr val="FFC000"/>
      </a:accent6>
      <a:hlink>
        <a:srgbClr val="0563C1"/>
      </a:hlink>
      <a:folHlink>
        <a:srgbClr val="96607D"/>
      </a:folHlink>
    </a:clrScheme>
    <a:fontScheme name="Trainocateデフォルト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ff6f9e9b5c45f5" /><Relationship Type="http://schemas.openxmlformats.org/officeDocument/2006/relationships/image" Target="/ppt/media/image11.png" Id="R56c44839e7c04a4e" /><Relationship Type="http://schemas.openxmlformats.org/officeDocument/2006/relationships/image" Target="/ppt/media/image12.png" Id="R1890798bc85e4500" /><Relationship Type="http://schemas.openxmlformats.org/officeDocument/2006/relationships/notesSlide" Target="/ppt/notesSlides/notesSlide1.xml" Id="R74bc2e4014904b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a406210de4a27" /><Relationship Type="http://schemas.openxmlformats.org/officeDocument/2006/relationships/image" Target="/ppt/media/image13.png" Id="R4eb59d68fb614bd4" /><Relationship Type="http://schemas.openxmlformats.org/officeDocument/2006/relationships/notesSlide" Target="/ppt/notesSlides/notesSlide2.xml" Id="Rc38965952c264f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757e2450e944e1" /><Relationship Type="http://schemas.openxmlformats.org/officeDocument/2006/relationships/image" Target="/ppt/media/image2.svg" Id="Re996b09c88244090" /><Relationship Type="http://schemas.openxmlformats.org/officeDocument/2006/relationships/image" Target="/ppt/media/image2.jpeg" Id="Rab81dfe9db7c4d5e" /><Relationship Type="http://schemas.openxmlformats.org/officeDocument/2006/relationships/notesSlide" Target="/ppt/notesSlides/notesSlide3.xml" Id="R2fc1fb307bf64b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30e71a3afb493c" /><Relationship Type="http://schemas.openxmlformats.org/officeDocument/2006/relationships/image" Target="/ppt/media/image13.png" Id="R9275acec8741478c" /><Relationship Type="http://schemas.openxmlformats.org/officeDocument/2006/relationships/notesSlide" Target="/ppt/notesSlides/notesSlide4.xml" Id="Rb86f07e5ba194e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f67615ee364812" /><Relationship Type="http://schemas.openxmlformats.org/officeDocument/2006/relationships/image" Target="/ppt/media/image13.png" Id="R3cb5d80b5ff24d2b" /><Relationship Type="http://schemas.openxmlformats.org/officeDocument/2006/relationships/notesSlide" Target="/ppt/notesSlides/notesSlide5.xml" Id="R2992839f5ca54d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7e2a2b4959467b" /><Relationship Type="http://schemas.openxmlformats.org/officeDocument/2006/relationships/image" Target="/ppt/media/image13.png" Id="R7c03da89d8b1488f" /><Relationship Type="http://schemas.openxmlformats.org/officeDocument/2006/relationships/notesSlide" Target="/ppt/notesSlides/notesSlide6.xml" Id="Rebb705f6ced04a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6f5a582ed64553" /><Relationship Type="http://schemas.openxmlformats.org/officeDocument/2006/relationships/image" Target="/ppt/media/image13.png" Id="R26ced524734b45a9" /><Relationship Type="http://schemas.openxmlformats.org/officeDocument/2006/relationships/notesSlide" Target="/ppt/notesSlides/notesSlide7.xml" Id="R75444df517984d3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図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c44839e7c04a4e"/>
          <a:srcRect xmlns:a="http://schemas.openxmlformats.org/drawingml/2006/main" l="0" t="231" r="0" b="-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3" name="図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90798bc85e4500">
            <a:clrChange>
              <a:clrFrom>
                <a:srgbClr val="FA4515"/>
              </a:clrFrom>
              <a:clrTo>
                <a:srgbClr val="FA4515">
                  <a:alpha val="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119" y="3822574"/>
            <a:ext cx="3005395" cy="478016"/>
          </a:xfrm>
          <a:prstGeom xmlns:a="http://schemas.openxmlformats.org/drawingml/2006/main" prst="rect">
            <a:avLst/>
          </a:prstGeom>
        </p:spPr>
      </p:pic>
      <p:sp>
        <p:nvSpPr>
          <p:cNvPr id="15" name="テキスト ボックス 14">
            <a:extLst xmlns:a="http://schemas.openxmlformats.org/drawingml/2006/main">
              <a:ext uri="{FF2B5EF4-FFF2-40B4-BE49-F238E27FC236}">
                <a16:creationId xmlns:a16="http://schemas.microsoft.com/office/drawing/2014/main" id="{307C1EFD-B0BF-B1F1-AF51-FB281FD8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805" y="2905462"/>
            <a:ext cx="9100568" cy="7078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defRPr sz="3000"/>
            </a:pPr>
            <a:r>
              <a:rPr sz="3000" b="1" i="0" u="none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2027年度入社 内定者向け研修　カリキュラム改訂のご提案</a:t>
            </a:r>
          </a:p>
        </p:txBody>
      </p:sp>
      <p:sp>
        <p:nvSpPr>
          <p:cNvPr id="16" name="テキスト ボックス 15">
            <a:extLst xmlns:a="http://schemas.openxmlformats.org/drawingml/2006/main">
              <a:ext uri="{FF2B5EF4-FFF2-40B4-BE49-F238E27FC236}">
                <a16:creationId xmlns:a16="http://schemas.microsoft.com/office/drawing/2014/main" id="{18A09009-65E1-54DA-26EA-A11D40EA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5369" y="5898053"/>
            <a:ext cx="1989647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600" b="0" i="0" u="none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トレノケート株式会社</a:t>
            </a:r>
          </a:p>
          <a:p xmlns:a="http://schemas.openxmlformats.org/drawingml/2006/main">
            <a:pPr algn="r">
              <a:buNone/>
            </a:pPr>
            <a:r>
              <a:rPr sz="1600" b="0" i="0" u="none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2026/7/31</a:t>
            </a:r>
          </a:p>
        </p:txBody>
      </p:sp>
      <p:sp>
        <p:nvSpPr>
          <p:cNvPr id="19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2C22B32-35CB-FC2E-AA14-D12C790E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959" y="308531"/>
            <a:ext cx="5786041" cy="43207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2800" b="1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メイリオ"/>
                <a:ea typeface="メイリオ"/>
                <a:cs typeface="メイリオ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ニッセイ情報テクノロジー株式会社　</a:t>
            </a:r>
            <a:r>
              <a:rPr sz="20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 </a:t>
            </a:r>
            <a:r>
              <a:rPr sz="20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御中</a:t>
            </a:r>
          </a:p>
        </p:txBody>
      </p:sp>
      <p:sp>
        <p:nvSpPr>
          <p:cNvPr id="2" name="直線コネクタ 1">
            <a:extLst xmlns:a="http://schemas.openxmlformats.org/drawingml/2006/main">
              <a:ext uri="{FF2B5EF4-FFF2-40B4-BE49-F238E27FC236}">
                <a16:creationId xmlns:a16="http://schemas.microsoft.com/office/drawing/2014/main" id="{C4FD34D7-1D61-4B8D-A995-B5D47D9B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19" y="3662918"/>
            <a:ext cx="11626881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355296788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正方形/長方形 10">
            <a:extLst xmlns:a="http://schemas.openxmlformats.org/drawingml/2006/main">
              <a:ext uri="{FF2B5EF4-FFF2-40B4-BE49-F238E27FC236}">
                <a16:creationId xmlns:a16="http://schemas.microsoft.com/office/drawing/2014/main" id="{EDA89A8C-5F7D-7249-8BB9-77457307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933" y="4797636"/>
            <a:ext cx="10956537" cy="16454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BAB"/>
          </a:solidFill>
          <a:ln xmlns:a="http://schemas.openxmlformats.org/drawingml/2006/main">
            <a:solidFill>
              <a:srgbClr val="FFC00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D7DC214-5BA9-F74D-18B5-240DDB72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933" y="774206"/>
            <a:ext cx="10956537" cy="27017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午前対策は継続、午後対策を刷新</a:t>
            </a:r>
          </a:p>
        </p:txBody>
      </p:sp>
      <p:sp>
        <p:nvSpPr>
          <p:cNvPr id="25" name="正方形/長方形 17">
            <a:extLst xmlns:a="http://schemas.openxmlformats.org/drawingml/2006/main">
              <a:ext uri="{FF2B5EF4-FFF2-40B4-BE49-F238E27FC236}">
                <a16:creationId xmlns:a16="http://schemas.microsoft.com/office/drawing/2014/main" id="{2D974414-A64A-BB99-3DC8-040FD474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2135428"/>
            <a:ext cx="9778601" cy="81278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変更対象は科目Bのアルゴリズム対策です。</a:t>
            </a:r>
          </a:p>
          <a:p xmlns:a="http://schemas.openxmlformats.org/drawingml/2006/main">
            <a:pPr marL="628650" lvl="1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Meiryo UI"/>
              <a:buChar char="-"/>
              <a:defRPr sz="1500"/>
            </a:pPr>
            <a:r>
              <a:rPr sz="1500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フローチャートを除外し、試験形式の擬似言語とトレースへ重点を移します。</a:t>
            </a:r>
          </a:p>
        </p:txBody>
      </p:sp>
      <p:sp>
        <p:nvSpPr>
          <p:cNvPr id="35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0257D7E-5B0C-2195-E90C-7B8F801F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2134377"/>
            <a:ext cx="851709" cy="81278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午後</a:t>
            </a:r>
          </a:p>
        </p:txBody>
      </p:sp>
      <p:sp>
        <p:nvSpPr>
          <p:cNvPr id="37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3283FDEE-55CA-FB92-02CF-890A6ED9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3089911"/>
            <a:ext cx="9778601" cy="82178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講義は序盤の理解に集中します。</a:t>
            </a:r>
          </a:p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講義後は教材とNotebookLMを使い、過去問題まで自学できる状態をつくります。</a:t>
            </a:r>
          </a:p>
        </p:txBody>
      </p:sp>
      <p:sp>
        <p:nvSpPr>
          <p:cNvPr id="39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0C47B68-0ED1-F443-5964-42E63005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3088860"/>
            <a:ext cx="851709" cy="82178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目的</a:t>
            </a:r>
          </a:p>
        </p:txBody>
      </p:sp>
      <p:sp>
        <p:nvSpPr>
          <p:cNvPr id="41" name="正方形/長方形 101">
            <a:extLst xmlns:a="http://schemas.openxmlformats.org/drawingml/2006/main">
              <a:ext uri="{FF2B5EF4-FFF2-40B4-BE49-F238E27FC236}">
                <a16:creationId xmlns:a16="http://schemas.microsoft.com/office/drawing/2014/main" id="{1AEB95CE-E9D1-32A2-B9E2-C1815FF0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1165150"/>
            <a:ext cx="9778601" cy="82178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</a:rPr>
              <a:t>1〜4は従来どおりです。</a:t>
            </a:r>
          </a:p>
          <a:p xmlns:a="http://schemas.openxmlformats.org/drawingml/2006/main">
            <a:pPr marL="628650" lvl="1" indent="-171450">
              <a:buFont typeface="Meiryo UI"/>
              <a:buChar char="-"/>
              <a:defRPr sz="1500"/>
            </a:pPr>
            <a:r>
              <a:rPr sz="1500">
                <a:solidFill>
                  <a:schemeClr val="tx1"/>
                </a:solidFill>
              </a:rPr>
              <a:t>座学と演習で、ITシステム・Web・プログラミングの基礎知識をインプットします。</a:t>
            </a:r>
          </a:p>
        </p:txBody>
      </p:sp>
      <p:sp>
        <p:nvSpPr>
          <p:cNvPr id="43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0A79C38-95E9-EC23-BAE5-8F104F9C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1164099"/>
            <a:ext cx="851709" cy="82178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午前</a:t>
            </a:r>
          </a:p>
        </p:txBody>
      </p:sp>
      <p:sp>
        <p:nvSpPr>
          <p:cNvPr id="2" name="矢印: 右 1">
            <a:extLst xmlns:a="http://schemas.openxmlformats.org/drawingml/2006/main">
              <a:ext uri="{FF2B5EF4-FFF2-40B4-BE49-F238E27FC236}">
                <a16:creationId xmlns:a16="http://schemas.microsoft.com/office/drawing/2014/main" id="{C602800E-9489-3EDC-E9BE-D2BA0DE8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70038" y="3645842"/>
            <a:ext cx="327729" cy="1539102"/>
          </a:xfrm>
          <a:prstGeom xmlns:a="http://schemas.openxmlformats.org/drawingml/2006/main" prst="rightArrow">
            <a:avLst>
              <a:gd name="adj1" fmla="val 50000"/>
              <a:gd name="adj2" fmla="val 65531"/>
            </a:avLst>
          </a:prstGeom>
          <a:solidFill xmlns:a="http://schemas.openxmlformats.org/drawingml/2006/main">
            <a:srgbClr val="ABABA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テキスト ボックス 4">
            <a:extLst xmlns:a="http://schemas.openxmlformats.org/drawingml/2006/main">
              <a:ext uri="{FF2B5EF4-FFF2-40B4-BE49-F238E27FC236}">
                <a16:creationId xmlns:a16="http://schemas.microsoft.com/office/drawing/2014/main" id="{02B85E56-9DF8-4130-3EF0-A5426607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30" y="5053196"/>
            <a:ext cx="10710278" cy="13398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午前対策（1〜4）の座学＋演習は変更しません。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午後対策のみ、フローチャート中心から擬似言語・トレース・過去問題中心へ変更します。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生成AIは回答の提示ではなく、受講者が考え方を言語化する学習支援に使用します。</a:t>
            </a:r>
          </a:p>
        </p:txBody>
      </p:sp>
      <p:sp>
        <p:nvSpPr>
          <p:cNvPr id="12" name="正方形/長方形 11">
            <a:extLst xmlns:a="http://schemas.openxmlformats.org/drawingml/2006/main">
              <a:ext uri="{FF2B5EF4-FFF2-40B4-BE49-F238E27FC236}">
                <a16:creationId xmlns:a16="http://schemas.microsoft.com/office/drawing/2014/main" id="{80214B64-251B-5627-4E35-F6EDA7BE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1406" y="4675384"/>
            <a:ext cx="2912533" cy="3277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9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latin typeface="Meiryo UI"/>
                <a:ea typeface="Meiryo UI"/>
                <a:cs typeface="Meiryo UI"/>
              </a:rPr>
              <a:t>変更方針</a:t>
            </a:r>
          </a:p>
        </p:txBody>
      </p: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FB8EB8B5-9C76-A93D-807F-D4EFDEB4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336" y="774206"/>
            <a:ext cx="10975134" cy="3381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6350">
            <a:solidFill>
              <a:schemeClr val="bg2"/>
            </a:solidFill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</a:p>
        </p:txBody>
      </p:sp>
      <p:sp>
        <p:nvSpPr>
          <p:cNvPr id="4" name="コンテンツ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E77E5373-9FF8-715D-D82D-53BC50FB71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5187" y="262604"/>
            <a:ext cx="8191500" cy="3333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/>
            </a:pPr>
            <a:r>
              <a:rPr sz="1800">
                <a:solidFill>
                  <a:schemeClr val="tx1">
                    <a:lumMod val="65000"/>
                    <a:lumOff val="35000"/>
                  </a:schemeClr>
                </a:solidFill>
              </a:rPr>
              <a:t>今回のカリキュラム改訂範囲</a:t>
            </a:r>
          </a:p>
        </p:txBody>
      </p:sp>
      <p:sp>
        <p:nvSpPr>
          <p:cNvPr id="6" name="フッター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96208E47-0B6C-354C-9624-0436540548A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8250931" y="6343835"/>
            <a:ext cx="3270539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00"/>
              <a:t>Trainocate</a:t>
            </a:r>
            <a:r>
              <a:rPr sz="1000"/>
              <a:t> Japan, Ltd. All rights reserved.</a:t>
            </a:r>
          </a:p>
        </p:txBody>
      </p:sp>
      <p:pic>
        <p:nvPicPr>
          <p:cNvPr id="59" name="図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b59d68fb614b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617875" y="-120490"/>
            <a:ext cx="285790" cy="2600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49822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コンテンツ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F0029232-05A4-36B3-B8BF-42424FB0832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0"/>
              <a:t>IT</a:t>
            </a:r>
            <a:r>
              <a:rPr b="0"/>
              <a:t>システム入門（貴社向けカスタマイズ）オンライン開催</a:t>
            </a:r>
          </a:p>
        </p:txBody>
      </p:sp>
      <p:sp>
        <p:nvSpPr>
          <p:cNvPr id="3" name="フッター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88DC6629-5955-6381-7B32-2A60108E10E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Trainocate Japan, Ltd. All rights reserved.</a:t>
            </a:r>
          </a:p>
        </p:txBody>
      </p:sp>
      <p:graphicFrame>
        <p:nvGraphicFramePr>
          <p:cNvPr id="25" name="Group 42"/>
          <p:cNvGraphicFramePr/>
          <p:nvPr/>
        </p:nvGraphicFramePr>
        <p:xfrm>
          <a:off xmlns:a="http://schemas.openxmlformats.org/drawingml/2006/main" x="411480" y="2117834"/>
          <a:ext xmlns:a="http://schemas.openxmlformats.org/drawingml/2006/main" cx="11330941" cy="3699096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22960"/>
                <a:gridCol w="2653979"/>
                <a:gridCol w="7854002"/>
              </a:tblGrid>
              <a:tr h="3695898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  <a:r>
                        <a:rPr sz="1000" b="0" i="0" u="none" cap="none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latin typeface="Meiryo UI"/>
                          <a:ea typeface="Meiryo UI"/>
                          <a:cs typeface="Meiryo UI"/>
                        </a:rPr>
                        <a:t>９</a:t>
                      </a:r>
                      <a:r>
                        <a:rPr sz="1000" b="0" i="0" u="none" cap="none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latin typeface="Meiryo UI"/>
                          <a:ea typeface="Meiryo UI"/>
                          <a:cs typeface="Meiryo UI"/>
                        </a:rPr>
                        <a:t>:00</a:t>
                      </a:r>
                    </a:p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</a:p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</a:p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  <a:r>
                        <a:rPr sz="1200" b="0" i="0" u="none" cap="none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latin typeface="Meiryo UI"/>
                          <a:ea typeface="Meiryo UI"/>
                          <a:cs typeface="Meiryo UI"/>
                        </a:rPr>
                        <a:t>～</a:t>
                      </a:r>
                    </a:p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</a:p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</a:p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  <a:r>
                        <a:rPr sz="1000" b="0" i="0" u="none" cap="none">
                          <a:ln>
                            <a:noFill/>
                          </a:ln>
                          <a:solidFill>
                            <a:schemeClr val="bg2">
                              <a:lumMod val="50000"/>
                            </a:schemeClr>
                          </a:solidFill>
                          <a:latin typeface="Meiryo UI"/>
                          <a:ea typeface="Meiryo UI"/>
                          <a:cs typeface="Meiryo UI"/>
                        </a:rPr>
                        <a:t>17:30</a:t>
                      </a:r>
                    </a:p>
                  </a:txBody>
                  <a:tcPr marL="75614" marR="75614" marT="35988" marB="35988" anchor="ctr" horzOverflow="overflow">
                    <a:lnL w="3175" cmpd="sng">
                      <a:solidFill>
                        <a:schemeClr val="tx1"/>
                      </a:solidFill>
                      <a:prstDash val="solid"/>
                    </a:lnL>
                    <a:lnR w="3175" cmpd="sng">
                      <a:solidFill>
                        <a:schemeClr val="tx1"/>
                      </a:solidFill>
                      <a:prstDash val="solid"/>
                    </a:lnR>
                    <a:lnT w="3175" cmpd="sng">
                      <a:solidFill>
                        <a:schemeClr val="tx1"/>
                      </a:solidFill>
                      <a:prstDash val="solid"/>
                    </a:lnT>
                    <a:lnB w="3175" cmpd="sng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Meiryo UI"/>
                          <a:ea typeface="Meiryo UI"/>
                          <a:cs typeface="Meiryo UI"/>
                        </a:rPr>
                        <a:t>9:00</a:t>
                      </a: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Meiryo UI"/>
                          <a:ea typeface="Meiryo UI"/>
                          <a:cs typeface="Meiryo UI"/>
                        </a:rPr>
                        <a:t>～</a:t>
                      </a: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Meiryo UI"/>
                          <a:ea typeface="Meiryo UI"/>
                          <a:cs typeface="Meiryo UI"/>
                        </a:rPr>
                        <a:t>9:15</a:t>
                      </a: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Meiryo UI"/>
                          <a:ea typeface="Meiryo UI"/>
                          <a:cs typeface="Meiryo UI"/>
                        </a:rPr>
                        <a:t> </a:t>
                      </a:r>
                      <a:r>
                        <a:rPr sz="1000" b="1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NIT</a:t>
                      </a:r>
                      <a:r>
                        <a:rPr sz="1000" b="1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様講話</a:t>
                      </a:r>
                    </a:p>
                    <a:p>
                      <a:pPr algn="l">
                        <a:buNone/>
                      </a:pPr>
                    </a:p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Meiryo UI"/>
                          <a:ea typeface="Meiryo UI"/>
                          <a:cs typeface="Meiryo UI"/>
                        </a:rPr>
                        <a:t>9:15</a:t>
                      </a: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Meiryo UI"/>
                          <a:ea typeface="Meiryo UI"/>
                          <a:cs typeface="Meiryo UI"/>
                        </a:rPr>
                        <a:t>～</a:t>
                      </a: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Meiryo UI"/>
                          <a:ea typeface="Meiryo UI"/>
                          <a:cs typeface="Meiryo UI"/>
                        </a:rPr>
                        <a:t>17:10</a:t>
                      </a:r>
                    </a:p>
                    <a:p>
                      <a:pPr algn="l">
                        <a:buNone/>
                      </a:pPr>
                    </a:p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1.</a:t>
                      </a:r>
                      <a:r>
                        <a:rPr sz="1000" b="1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ビジネスと</a:t>
                      </a:r>
                      <a:r>
                        <a:rPr sz="1000" b="1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IT</a:t>
                      </a:r>
                      <a:r>
                        <a:rPr sz="1000" b="1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システム</a:t>
                      </a:r>
                    </a:p>
                    <a:p>
                      <a:pPr algn="l">
                        <a:buNone/>
                      </a:pPr>
                      <a:r>
                        <a:rPr sz="10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 </a:t>
                      </a:r>
                      <a:r>
                        <a:rPr sz="9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- </a:t>
                      </a:r>
                      <a:r>
                        <a:rPr sz="9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ビジネスとは</a:t>
                      </a:r>
                    </a:p>
                    <a:p>
                      <a:pPr algn="l">
                        <a:buNone/>
                      </a:pPr>
                      <a:r>
                        <a:rPr sz="9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 - </a:t>
                      </a:r>
                      <a:r>
                        <a:rPr sz="9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システムとは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 - </a:t>
                      </a:r>
                      <a:r>
                        <a:rPr sz="9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ビジネスと</a:t>
                      </a:r>
                      <a:r>
                        <a:rPr sz="9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IT</a:t>
                      </a:r>
                      <a:r>
                        <a:rPr sz="9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システムのかかわり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 - IT</a:t>
                      </a:r>
                      <a:r>
                        <a:rPr sz="9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システムの役割</a:t>
                      </a:r>
                    </a:p>
                    <a:p>
                      <a:pPr algn="l">
                        <a:buNone/>
                      </a:pPr>
                    </a:p>
                    <a:p>
                      <a:pPr marL="419100" marR="0" lvl="0" indent="-41910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  <a:r>
                        <a:rPr sz="10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2</a:t>
                      </a:r>
                      <a:r>
                        <a:rPr sz="10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．</a:t>
                      </a:r>
                      <a:r>
                        <a:rPr sz="10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Web</a:t>
                      </a:r>
                      <a:r>
                        <a:rPr sz="10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の仕組み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Tx/>
                        <a:buNone/>
                      </a:pP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- 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身近な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Web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システムについて考える</a:t>
                      </a:r>
                    </a:p>
                    <a:p>
                      <a:pPr marL="419100" marR="0" lvl="0" indent="-41910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- Web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の仕組み</a:t>
                      </a:r>
                    </a:p>
                    <a:p>
                      <a:pPr marL="419100" marR="0" lvl="0" indent="-41910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- Web3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層モデル</a:t>
                      </a:r>
                    </a:p>
                    <a:p>
                      <a:pPr marL="171450" marR="0" lvl="0" indent="-17145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Tx/>
                        <a:buChar char="-"/>
                      </a:pPr>
                    </a:p>
                    <a:p>
                      <a:pPr marL="419100" marR="0" lvl="0" indent="-41910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  <a:r>
                        <a:rPr sz="10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3</a:t>
                      </a:r>
                      <a:r>
                        <a:rPr sz="10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．</a:t>
                      </a:r>
                      <a:r>
                        <a:rPr sz="10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Web</a:t>
                      </a:r>
                      <a:r>
                        <a:rPr sz="10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を支える要素技術</a:t>
                      </a:r>
                    </a:p>
                    <a:p>
                      <a:pPr marL="419100" marR="0" lvl="0" indent="-41910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- HTTP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通信</a:t>
                      </a:r>
                    </a:p>
                    <a:p>
                      <a:pPr marL="419100" marR="0" lvl="0" indent="-41910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- 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静的コンテンツ（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HTML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、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CSS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、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JavaScript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）</a:t>
                      </a:r>
                    </a:p>
                    <a:p>
                      <a:pPr marL="419100" marR="0" lvl="0" indent="-41910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- Web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システムに関連する要素</a:t>
                      </a:r>
                    </a:p>
                    <a:p>
                      <a:pPr marL="419100" marR="0" lvl="0" indent="-41910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B98F00"/>
                        </a:buClr>
                        <a:buSzPct val="95000"/>
                        <a:buFont typeface="Wingdings"/>
                        <a:buNone/>
                      </a:pP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- Web3</a:t>
                      </a:r>
                      <a:r>
                        <a:rPr sz="9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層構造</a:t>
                      </a:r>
                    </a:p>
                  </a:txBody>
                  <a:tcPr marL="75614" marR="75614" marT="35988" marB="35988" horzOverflow="overflow">
                    <a:lnL w="3175" cmpd="sng">
                      <a:solidFill>
                        <a:schemeClr val="tx1"/>
                      </a:solidFill>
                      <a:prstDash val="solid"/>
                    </a:lnL>
                    <a:lnR w="3175" cmpd="sng">
                      <a:solidFill>
                        <a:schemeClr val="tx1"/>
                      </a:solidFill>
                      <a:prstDash val="solid"/>
                    </a:lnR>
                    <a:lnT w="3175" cmpd="sng">
                      <a:solidFill>
                        <a:schemeClr val="tx1"/>
                      </a:solidFill>
                      <a:prstDash val="solid"/>
                    </a:lnT>
                    <a:lnB w="3175" cmpd="sng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 b="1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4.</a:t>
                      </a:r>
                      <a:r>
                        <a:rPr sz="1000" b="1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 プログラミングとは  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・プログラミングとは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・コンピュータシステムとプログラミング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Meiryo UI"/>
                          <a:ea typeface="Meiryo UI"/>
                          <a:cs typeface="Meiryo UI"/>
                        </a:rPr>
                        <a:t>25</a:t>
                      </a: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Meiryo UI"/>
                          <a:ea typeface="Meiryo UI"/>
                          <a:cs typeface="Meiryo UI"/>
                        </a:rPr>
                        <a:t>年度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5.</a:t>
                      </a: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アルゴリズムとは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・アルゴリズムとは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・なぜアルゴリズムが必要か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6.</a:t>
                      </a: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フローチャートとは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・フローチャートとは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・フローチャートを考えてみよう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7.</a:t>
                      </a:r>
                      <a:r>
                        <a:rPr sz="1000" b="1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フローチャートを考えてみよう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・構造化プログラミング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・順次、選択、繰り返し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>
                          <a:solidFill>
                            <a:schemeClr val="tx1"/>
                          </a:solidFill>
                          <a:highlight>
                            <a:srgbClr val="FBE3D6"/>
                          </a:highlight>
                          <a:latin typeface="Meiryo UI"/>
                          <a:ea typeface="Meiryo UI"/>
                          <a:cs typeface="Meiryo UI"/>
                        </a:rPr>
                        <a:t>演習：フローチャート作成</a:t>
                      </a:r>
                    </a:p>
                    <a:p>
                      <a:pPr algn="l">
                        <a:buNone/>
                      </a:pPr>
                    </a:p>
                    <a:p>
                      <a:pPr algn="l">
                        <a:buNone/>
                      </a:pPr>
                    </a:p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8.</a:t>
                      </a:r>
                      <a:r>
                        <a:rPr sz="1000" b="1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ビジネスを遂行するうえで必要とされるスキル・心構え</a:t>
                      </a:r>
                    </a:p>
                    <a:p>
                      <a:pPr algn="l">
                        <a:buNone/>
                      </a:pPr>
                      <a:r>
                        <a:rPr sz="10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 - IT</a:t>
                      </a:r>
                      <a:r>
                        <a:rPr sz="10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エンジニアの役割 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br/>
                      <a:r>
                        <a:rPr sz="900" b="0">
                          <a:solidFill>
                            <a:srgbClr val="FF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</a:t>
                      </a:r>
                      <a:r>
                        <a:rPr sz="900" b="1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Meiryo UI"/>
                          <a:ea typeface="Meiryo UI"/>
                          <a:cs typeface="Meiryo UI"/>
                        </a:rPr>
                        <a:t>17:10</a:t>
                      </a:r>
                      <a:r>
                        <a:rPr sz="900" b="1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Meiryo UI"/>
                          <a:ea typeface="Meiryo UI"/>
                          <a:cs typeface="Meiryo UI"/>
                        </a:rPr>
                        <a:t>～</a:t>
                      </a:r>
                      <a:r>
                        <a:rPr sz="900" b="1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Meiryo UI"/>
                          <a:ea typeface="Meiryo UI"/>
                          <a:cs typeface="Meiryo UI"/>
                        </a:rPr>
                        <a:t>17:30</a:t>
                      </a:r>
                      <a:r>
                        <a:rPr sz="900" b="1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Meiryo UI"/>
                          <a:ea typeface="Meiryo UI"/>
                          <a:cs typeface="Meiryo UI"/>
                        </a:rPr>
                        <a:t>  </a:t>
                      </a:r>
                      <a:r>
                        <a:rPr sz="900" b="1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NIT</a:t>
                      </a:r>
                      <a:r>
                        <a:rPr sz="900" b="1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様より連絡事項</a:t>
                      </a:r>
                    </a:p>
                  </a:txBody>
                  <a:tcPr marL="75614" marR="75614" marT="35988" marB="35988" horzOverflow="overflow">
                    <a:lnL w="3175" cmpd="sng">
                      <a:solidFill>
                        <a:schemeClr val="tx1"/>
                      </a:solidFill>
                      <a:prstDash val="solid"/>
                    </a:lnL>
                    <a:lnR w="3175" cmpd="sng">
                      <a:solidFill>
                        <a:schemeClr val="tx1"/>
                      </a:solidFill>
                      <a:prstDash val="solid"/>
                    </a:lnR>
                    <a:lnT w="3175" cmpd="sng">
                      <a:solidFill>
                        <a:schemeClr val="tx1"/>
                      </a:solidFill>
                      <a:prstDash val="solid"/>
                    </a:lnT>
                    <a:lnB w="3175" cmpd="sng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26" name="Group 41"/>
          <p:cNvGraphicFramePr/>
          <p:nvPr/>
        </p:nvGraphicFramePr>
        <p:xfrm>
          <a:off xmlns:a="http://schemas.openxmlformats.org/drawingml/2006/main" x="411480" y="695464"/>
          <a:ext xmlns:a="http://schemas.openxmlformats.org/drawingml/2006/main" cx="11330941" cy="1404784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56075"/>
                <a:gridCol w="2618717"/>
                <a:gridCol w="786916"/>
                <a:gridCol w="681028"/>
                <a:gridCol w="1150771"/>
                <a:gridCol w="2618717"/>
                <a:gridCol w="2618717"/>
              </a:tblGrid>
              <a:tr h="347026">
                <a:tc>
                  <a:txBody>
                    <a:bodyPr/>
                    <a:lstStyle/>
                    <a:p>
                      <a:pPr marL="0" marR="0" lvl="0" indent="0" algn="ctr" defTabSz="871538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</a:pPr>
                      <a:r>
                        <a:rPr sz="10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Meiryo UI"/>
                          <a:ea typeface="Meiryo UI"/>
                          <a:cs typeface="Meiryo UI"/>
                        </a:rPr>
                        <a:t>日数</a:t>
                      </a:r>
                    </a:p>
                  </a:txBody>
                  <a:tcPr marL="75600" marR="75600" marT="35997" marB="35997" anchor="ctr" horzOverflow="overflow">
                    <a:lnL w="28575" cmpd="sng">
                      <a:solidFill>
                        <a:schemeClr val="bg1"/>
                      </a:solidFill>
                      <a:prstDash val="solid"/>
                    </a:lnL>
                    <a:lnR w="28575" cmpd="sng">
                      <a:solidFill>
                        <a:schemeClr val="bg1"/>
                      </a:solidFill>
                      <a:prstDash val="solid"/>
                    </a:lnR>
                    <a:lnT w="28575" cmpd="sng">
                      <a:solidFill>
                        <a:schemeClr val="bg1"/>
                      </a:solidFill>
                      <a:prstDash val="solid"/>
                    </a:lnT>
                    <a:lnB w="28575" cmpd="sng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871538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</a:pPr>
                      <a:r>
                        <a:rPr sz="11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1</a:t>
                      </a:r>
                      <a:r>
                        <a:rPr sz="11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日間 </a:t>
                      </a: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Meiryo UI"/>
                          <a:ea typeface="Meiryo UI"/>
                          <a:cs typeface="Meiryo UI"/>
                        </a:rPr>
                        <a:t>（</a:t>
                      </a: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Meiryo UI"/>
                          <a:ea typeface="Meiryo UI"/>
                          <a:cs typeface="Meiryo UI"/>
                        </a:rPr>
                        <a:t>9:15</a:t>
                      </a: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Meiryo UI"/>
                          <a:ea typeface="Meiryo UI"/>
                          <a:cs typeface="Meiryo UI"/>
                        </a:rPr>
                        <a:t>～</a:t>
                      </a: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17:10</a:t>
                      </a: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Meiryo UI"/>
                          <a:ea typeface="Meiryo UI"/>
                          <a:cs typeface="Meiryo UI"/>
                        </a:rPr>
                        <a:t>）</a:t>
                      </a:r>
                    </a:p>
                    <a:p>
                      <a:pPr marL="0" marR="0" lvl="0" indent="0" algn="ctr" defTabSz="871538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</a:pPr>
                      <a:r>
                        <a:rPr sz="1000" b="0" i="0" u="none" cap="none">
                          <a:ln>
                            <a:noFill/>
                          </a:ln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＊セミナー全体は</a:t>
                      </a:r>
                      <a:r>
                        <a:rPr sz="1000" b="0" i="0" u="none" cap="none">
                          <a:ln>
                            <a:noFill/>
                          </a:ln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9:00</a:t>
                      </a:r>
                      <a:r>
                        <a:rPr sz="1000" b="0" i="0" u="none" cap="none">
                          <a:ln>
                            <a:noFill/>
                          </a:ln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～</a:t>
                      </a:r>
                      <a:r>
                        <a:rPr sz="1000" b="0" i="0" u="none" cap="none">
                          <a:ln>
                            <a:noFill/>
                          </a:ln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17</a:t>
                      </a:r>
                      <a:r>
                        <a:rPr sz="1000" b="0" i="0" u="none" cap="none">
                          <a:ln>
                            <a:noFill/>
                          </a:ln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：</a:t>
                      </a:r>
                      <a:r>
                        <a:rPr sz="1000" b="0" i="0" u="none" cap="none">
                          <a:ln>
                            <a:noFill/>
                          </a:ln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30</a:t>
                      </a:r>
                    </a:p>
                  </a:txBody>
                  <a:tcPr marL="75600" marR="75600" marT="35997" marB="35997" anchor="ctr" horzOverflow="overflow">
                    <a:lnL w="28575" cmpd="sng">
                      <a:solidFill>
                        <a:schemeClr val="bg1"/>
                      </a:solidFill>
                      <a:prstDash val="solid"/>
                    </a:lnL>
                    <a:lnR w="28575" cmpd="sng">
                      <a:solidFill>
                        <a:schemeClr val="bg1"/>
                      </a:solidFill>
                      <a:prstDash val="solid"/>
                    </a:lnR>
                    <a:lnT w="28575" cmpd="sng">
                      <a:solidFill>
                        <a:schemeClr val="bg1"/>
                      </a:solidFill>
                      <a:prstDash val="solid"/>
                    </a:lnT>
                    <a:lnB w="28575" cmpd="sng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marL="0" marR="0" lvl="0" indent="0" algn="ctr" defTabSz="871538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</a:pPr>
                      <a:r>
                        <a:rPr sz="10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Meiryo UI"/>
                          <a:ea typeface="Meiryo UI"/>
                          <a:cs typeface="Meiryo UI"/>
                        </a:rPr>
                        <a:t>形式</a:t>
                      </a:r>
                    </a:p>
                  </a:txBody>
                  <a:tcPr marL="75600" marR="75600" marT="35997" marB="35997" anchor="ctr" horzOverflow="overflow">
                    <a:lnL w="28575" cmpd="sng">
                      <a:solidFill>
                        <a:schemeClr val="bg1"/>
                      </a:solidFill>
                      <a:prstDash val="solid"/>
                    </a:lnL>
                    <a:lnR w="28575" cmpd="sng">
                      <a:solidFill>
                        <a:schemeClr val="bg1"/>
                      </a:solidFill>
                      <a:prstDash val="solid"/>
                    </a:lnR>
                    <a:lnT w="28575" cmpd="sng">
                      <a:solidFill>
                        <a:schemeClr val="bg1"/>
                      </a:solidFill>
                      <a:prstDash val="solid"/>
                    </a:lnT>
                    <a:lnB w="28575" cmpd="sng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871538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</a:pPr>
                      <a:r>
                        <a:rPr sz="10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講義＋演習</a:t>
                      </a:r>
                    </a:p>
                  </a:txBody>
                  <a:tcPr marL="75600" marR="75600" marT="35997" marB="35997" anchor="ctr" horzOverflow="overflow">
                    <a:lnL w="28575" cmpd="sng">
                      <a:solidFill>
                        <a:schemeClr val="bg1"/>
                      </a:solidFill>
                      <a:prstDash val="solid"/>
                    </a:lnL>
                    <a:lnR w="28575" cmpd="sng">
                      <a:solidFill>
                        <a:schemeClr val="bg1"/>
                      </a:solidFill>
                      <a:prstDash val="solid"/>
                    </a:lnR>
                    <a:lnT w="28575" cmpd="sng">
                      <a:solidFill>
                        <a:schemeClr val="bg1"/>
                      </a:solidFill>
                      <a:prstDash val="solid"/>
                    </a:lnT>
                    <a:lnB w="28575" cmpd="sng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/>
                  </a:txBody>
                  <a:tcPr marL="91440" marR="91440" marT="45720" marB="45720"/>
                </a:tc>
              </a:tr>
              <a:tr h="453076">
                <a:tc>
                  <a:txBody>
                    <a:bodyPr/>
                    <a:lstStyle/>
                    <a:p>
                      <a:pPr marL="0" marR="0" lvl="0" indent="0" algn="ctr" defTabSz="871538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</a:pPr>
                      <a:r>
                        <a:rPr sz="10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Meiryo UI"/>
                          <a:ea typeface="Meiryo UI"/>
                          <a:cs typeface="Meiryo UI"/>
                        </a:rPr>
                        <a:t>概要</a:t>
                      </a:r>
                    </a:p>
                  </a:txBody>
                  <a:tcPr marL="75600" marR="75600" marT="35997" marB="35997" anchor="ctr" horzOverflow="overflow">
                    <a:lnL w="28575" cmpd="sng">
                      <a:solidFill>
                        <a:schemeClr val="bg1"/>
                      </a:solidFill>
                      <a:prstDash val="solid"/>
                    </a:lnL>
                    <a:lnR w="28575" cmpd="sng">
                      <a:solidFill>
                        <a:schemeClr val="bg1"/>
                      </a:solidFill>
                      <a:prstDash val="solid"/>
                    </a:lnR>
                    <a:lnT w="28575" cmpd="sng">
                      <a:solidFill>
                        <a:schemeClr val="bg1"/>
                      </a:solidFill>
                      <a:prstDash val="solid"/>
                    </a:lnT>
                    <a:lnB w="28575" cmpd="sng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入社後、</a:t>
                      </a: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IT</a:t>
                      </a: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スキルを学ぶ動機付けとして研修を行います。</a:t>
                      </a: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IT</a:t>
                      </a: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システムがどのように使われ構成されているかを知り、身近な</a:t>
                      </a: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Web</a:t>
                      </a: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システムの仕組みを具体的にイメージできるように講義・演習を進めます。また、プログラミング思考力のベース作りと</a:t>
                      </a: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FE</a:t>
                      </a: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対策として基本をかみ砕いてご説明し、なぜアルゴリズムが必要なのか、ロジカルな思考力の必要性を理解できるような構成とします。最後に</a:t>
                      </a: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IT</a:t>
                      </a: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エンジニアの役割とは何なのかを知り考えることで、</a:t>
                      </a: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10</a:t>
                      </a:r>
                      <a:r>
                        <a:rPr sz="1000">
                          <a:latin typeface="Meiryo UI"/>
                          <a:ea typeface="Meiryo UI"/>
                          <a:cs typeface="Meiryo UI"/>
                        </a:rPr>
                        <a:t>月以降の学びの動機づけを狙います。</a:t>
                      </a:r>
                    </a:p>
                  </a:txBody>
                  <a:tcPr marL="75600" marR="75600" marT="35997" marB="35997" horzOverflow="overflow">
                    <a:lnL w="28575" cmpd="sng">
                      <a:solidFill>
                        <a:schemeClr val="bg1"/>
                      </a:solidFill>
                      <a:prstDash val="solid"/>
                    </a:lnL>
                    <a:lnR w="28575" cmpd="sng">
                      <a:solidFill>
                        <a:schemeClr val="bg1"/>
                      </a:solidFill>
                      <a:prstDash val="solid"/>
                    </a:lnR>
                    <a:lnT w="28575" cmpd="sng">
                      <a:solidFill>
                        <a:schemeClr val="bg1"/>
                      </a:solidFill>
                      <a:prstDash val="solid"/>
                    </a:lnT>
                    <a:lnB w="28575" cmpd="sng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/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/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/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/>
                  </a:txBody>
                  <a:tcPr marL="91440" marR="91440" marT="45720" marB="45720"/>
                </a:tc>
              </a:tr>
              <a:tr h="453076">
                <a:tc>
                  <a:txBody>
                    <a:bodyPr/>
                    <a:lstStyle/>
                    <a:p>
                      <a:pPr marL="0" marR="0" lvl="0" indent="0" algn="ctr" defTabSz="871538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</a:pPr>
                      <a:r>
                        <a:rPr sz="10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Meiryo UI"/>
                          <a:ea typeface="Meiryo UI"/>
                          <a:cs typeface="Meiryo UI"/>
                        </a:rPr>
                        <a:t>学習目標</a:t>
                      </a:r>
                    </a:p>
                  </a:txBody>
                  <a:tcPr marL="75600" marR="75600" marT="35997" marB="35997" anchor="ctr" horzOverflow="overflow">
                    <a:lnL w="28575" cmpd="sng">
                      <a:solidFill>
                        <a:schemeClr val="bg1"/>
                      </a:solidFill>
                      <a:prstDash val="solid"/>
                    </a:lnL>
                    <a:lnR w="28575" cmpd="sng">
                      <a:solidFill>
                        <a:schemeClr val="bg1"/>
                      </a:solidFill>
                      <a:prstDash val="solid"/>
                    </a:lnR>
                    <a:lnT w="28575" cmpd="sng">
                      <a:solidFill>
                        <a:schemeClr val="bg1"/>
                      </a:solidFill>
                      <a:prstDash val="solid"/>
                    </a:lnT>
                    <a:lnB w="28575" cmpd="sng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</a:pPr>
                      <a:r>
                        <a:rPr sz="10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ビジネスと</a:t>
                      </a:r>
                      <a:r>
                        <a:rPr sz="10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IT</a:t>
                      </a:r>
                      <a:r>
                        <a:rPr sz="10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システムとのかかわりを理解する</a:t>
                      </a:r>
                    </a:p>
                  </a:txBody>
                  <a:tcPr marL="75600" marR="75600" marT="35997" marB="35997" anchor="ctr" horzOverflow="overflow">
                    <a:lnL w="28575" cmpd="sng">
                      <a:solidFill>
                        <a:schemeClr val="bg1"/>
                      </a:solidFill>
                      <a:prstDash val="solid"/>
                    </a:lnL>
                    <a:lnR w="28575" cmpd="sng">
                      <a:solidFill>
                        <a:schemeClr val="bg1"/>
                      </a:solidFill>
                      <a:prstDash val="solid"/>
                    </a:lnR>
                    <a:lnT w="28575" cmpd="sng">
                      <a:solidFill>
                        <a:schemeClr val="bg1"/>
                      </a:solidFill>
                      <a:prstDash val="solid"/>
                    </a:lnT>
                    <a:lnB w="28575" cmpd="sng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171450" marR="0" lvl="0" indent="-17145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</a:pPr>
                      <a:r>
                        <a:rPr sz="10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Web</a:t>
                      </a:r>
                      <a:r>
                        <a:rPr sz="10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システムの全体像を理解する</a:t>
                      </a:r>
                    </a:p>
                  </a:txBody>
                  <a:tcPr marL="75600" marR="75600" marT="35997" marB="35997" anchor="ctr" horzOverflow="overflow">
                    <a:lnL w="28575" cmpd="sng">
                      <a:solidFill>
                        <a:schemeClr val="bg1"/>
                      </a:solidFill>
                      <a:prstDash val="solid"/>
                    </a:lnL>
                    <a:lnR w="28575" cmpd="sng">
                      <a:solidFill>
                        <a:schemeClr val="bg1"/>
                      </a:solidFill>
                      <a:prstDash val="solid"/>
                    </a:lnR>
                    <a:lnT w="28575" cmpd="sng">
                      <a:solidFill>
                        <a:schemeClr val="bg1"/>
                      </a:solidFill>
                      <a:prstDash val="solid"/>
                    </a:lnT>
                    <a:lnB w="28575" cmpd="sng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/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marL="171450" marR="0" lvl="0" indent="-17145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</a:pPr>
                      <a:r>
                        <a:rPr sz="10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アルゴリズムの必要性を理解する</a:t>
                      </a:r>
                    </a:p>
                  </a:txBody>
                  <a:tcPr marL="75600" marR="75600" marT="35997" marB="35997" anchor="ctr" horzOverflow="overflow">
                    <a:lnL w="28575" cmpd="sng">
                      <a:solidFill>
                        <a:schemeClr val="bg1"/>
                      </a:solidFill>
                      <a:prstDash val="solid"/>
                    </a:lnL>
                    <a:lnR w="28575" cmpd="sng">
                      <a:solidFill>
                        <a:schemeClr val="bg1"/>
                      </a:solidFill>
                      <a:prstDash val="solid"/>
                    </a:lnR>
                    <a:lnT w="28575" cmpd="sng">
                      <a:solidFill>
                        <a:schemeClr val="bg1"/>
                      </a:solidFill>
                      <a:prstDash val="solid"/>
                    </a:lnT>
                    <a:lnB w="28575" cmpd="sng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</a:pPr>
                      <a:r>
                        <a:rPr sz="1000">
                          <a:solidFill>
                            <a:schemeClr val="tx1"/>
                          </a:solidFill>
                          <a:latin typeface="Meiryo UI"/>
                          <a:ea typeface="Meiryo UI"/>
                          <a:cs typeface="Meiryo UI"/>
                        </a:rPr>
                        <a:t>基本制御構造を理解する</a:t>
                      </a:r>
                    </a:p>
                  </a:txBody>
                  <a:tcPr marL="75600" marR="75600" marT="35997" marB="35997" anchor="ctr" horzOverflow="overflow">
                    <a:lnL w="28575" cmpd="sng">
                      <a:solidFill>
                        <a:schemeClr val="bg1"/>
                      </a:solidFill>
                      <a:prstDash val="solid"/>
                    </a:lnL>
                    <a:lnR w="28575" cmpd="sng">
                      <a:solidFill>
                        <a:schemeClr val="bg1"/>
                      </a:solidFill>
                      <a:prstDash val="solid"/>
                    </a:lnR>
                    <a:lnT w="28575" cmpd="sng">
                      <a:solidFill>
                        <a:schemeClr val="bg1"/>
                      </a:solidFill>
                      <a:prstDash val="solid"/>
                    </a:lnT>
                    <a:lnB w="28575" cmpd="sng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</a:tr>
            </a:tbl>
          </a:graphicData>
        </a:graphic>
      </p:graphicFrame>
      <p:pic>
        <p:nvPicPr>
          <p:cNvPr id="27" name="グラフィックス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1dfe9db7c4d5e">
            <a:extLst>
              <a:ext uri="{96DAC541-7B7A-43D3-8B79-37D633B846F1}">
                <asvg:svgBlip xmlns:asvg="http://schemas.microsoft.com/office/drawing/2016/SVG/main" r:embed="Re996b09c8824409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6359" y="6081101"/>
            <a:ext cx="522766" cy="522766"/>
          </a:xfrm>
          <a:prstGeom xmlns:a="http://schemas.openxmlformats.org/drawingml/2006/main" prst="rect">
            <a:avLst/>
          </a:prstGeom>
        </p:spPr>
      </p:pic>
      <p:sp>
        <p:nvSpPr>
          <p:cNvPr id="13" name="正方形/長方形 12">
            <a:extLst xmlns:a="http://schemas.openxmlformats.org/drawingml/2006/main">
              <a:ext uri="{FF2B5EF4-FFF2-40B4-BE49-F238E27FC236}">
                <a16:creationId xmlns:a16="http://schemas.microsoft.com/office/drawing/2014/main" id="{9E23C021-464B-1633-AA3D-49E75C6D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773" y="5844793"/>
            <a:ext cx="11330941" cy="57755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175">
            <a:solidFill>
              <a:schemeClr val="bg1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ot="0" spcFirstLastPara="0" vert="horz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/>
            </a:pPr>
            <a:r>
              <a:rPr sz="12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＜今回の改訂ポイント＞</a:t>
            </a:r>
          </a:p>
          <a:p xmlns:a="http://schemas.openxmlformats.org/drawingml/2006/main">
            <a:pPr>
              <a:defRPr sz="1200"/>
            </a:pPr>
            <a:r>
              <a:rPr sz="1200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・午前対策（1〜4）は変更なし　・午後対策のみフローチャートを除外し、擬似言語中心へ変更</a:t>
            </a:r>
          </a:p>
          <a:p xmlns:a="http://schemas.openxmlformats.org/drawingml/2006/main">
            <a:pPr>
              <a:defRPr sz="1200"/>
            </a:pPr>
            <a:r>
              <a:rPr sz="1200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・NotebookLMで教材に基づく質問、動画・音声による自学を支援</a:t>
            </a:r>
          </a:p>
        </p:txBody>
      </p:sp>
      <p:sp>
        <p:nvSpPr>
          <p:cNvPr id="19" name="正方形/長方形 18">
            <a:extLst xmlns:a="http://schemas.openxmlformats.org/drawingml/2006/main">
              <a:ext uri="{FF2B5EF4-FFF2-40B4-BE49-F238E27FC236}">
                <a16:creationId xmlns:a16="http://schemas.microsoft.com/office/drawing/2014/main" id="{197E67AF-8B6D-8A12-2E2A-49228E81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0717" y="5420046"/>
            <a:ext cx="1752600" cy="906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DE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sz="1050" b="1" u="sng">
                <a:solidFill>
                  <a:schemeClr val="tx1">
                    <a:lumMod val="65000"/>
                    <a:lumOff val="35000"/>
                  </a:schemeClr>
                </a:solidFill>
              </a:rPr>
              <a:t>グループ構成について</a:t>
            </a:r>
            <a:br/>
            <a:r>
              <a:rPr sz="1000">
                <a:solidFill>
                  <a:schemeClr val="tx1">
                    <a:lumMod val="65000"/>
                    <a:lumOff val="35000"/>
                  </a:schemeClr>
                </a:solidFill>
              </a:rPr>
              <a:t>6</a:t>
            </a:r>
            <a:r>
              <a:rPr sz="1000">
                <a:solidFill>
                  <a:schemeClr val="tx1">
                    <a:lumMod val="65000"/>
                    <a:lumOff val="35000"/>
                  </a:schemeClr>
                </a:solidFill>
              </a:rPr>
              <a:t>名</a:t>
            </a:r>
            <a:r>
              <a:rPr sz="100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  <a:r>
              <a:rPr sz="1000">
                <a:solidFill>
                  <a:schemeClr val="tx1">
                    <a:lumMod val="65000"/>
                    <a:lumOff val="35000"/>
                  </a:schemeClr>
                </a:solidFill>
              </a:rPr>
              <a:t>グループを基本として</a:t>
            </a:r>
          </a:p>
          <a:p xmlns:a="http://schemas.openxmlformats.org/drawingml/2006/main">
            <a:r>
              <a:rPr sz="1000">
                <a:solidFill>
                  <a:schemeClr val="tx1">
                    <a:lumMod val="65000"/>
                    <a:lumOff val="35000"/>
                  </a:schemeClr>
                </a:solidFill>
              </a:rPr>
              <a:t>構成をお願いいたします</a:t>
            </a: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。</a:t>
            </a:r>
          </a:p>
        </p:txBody>
      </p:sp>
      <p:sp>
        <p:nvSpPr>
          <p:cNvPr id="6" name="テキスト ボックス 5">
            <a:extLst xmlns:a="http://schemas.openxmlformats.org/drawingml/2006/main">
              <a:ext uri="{FF2B5EF4-FFF2-40B4-BE49-F238E27FC236}">
                <a16:creationId xmlns:a16="http://schemas.microsoft.com/office/drawing/2014/main" id="{27CE03AA-DB7F-5D5F-6886-4BD0EF88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87370"/>
            <a:ext cx="2530136" cy="1584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1000" b="1">
                <a:highlight>
                  <a:srgbClr val="00FFFF"/>
                </a:highlight>
                <a:latin typeface="Meiryo UI"/>
                <a:ea typeface="Meiryo UI"/>
                <a:cs typeface="Meiryo UI"/>
              </a:rPr>
              <a:t>今回案</a:t>
            </a:r>
          </a:p>
          <a:p xmlns:a="http://schemas.openxmlformats.org/drawingml/2006/main">
            <a:pPr lvl="0">
              <a:buNone/>
            </a:pPr>
          </a:p>
          <a:p xmlns:a="http://schemas.openxmlformats.org/drawingml/2006/main">
            <a:pPr lvl="0">
              <a:buNone/>
            </a:pPr>
            <a:r>
              <a:rPr sz="1000" b="1">
                <a:highlight>
                  <a:srgbClr val="FBE3D6"/>
                </a:highlight>
                <a:latin typeface="Meiryo UI"/>
                <a:ea typeface="Meiryo UI"/>
                <a:cs typeface="Meiryo UI"/>
              </a:rPr>
              <a:t>5. 擬似言語と生成AIでFE科目B対策</a:t>
            </a:r>
          </a:p>
          <a:p xmlns:a="http://schemas.openxmlformats.org/drawingml/2006/main">
            <a:pPr lvl="0">
              <a:buNone/>
            </a:pPr>
            <a:r>
              <a:rPr sz="1000">
                <a:highlight>
                  <a:srgbClr val="FBE3D6"/>
                </a:highlight>
                <a:latin typeface="Meiryo UI"/>
                <a:ea typeface="Meiryo UI"/>
                <a:cs typeface="Meiryo UI"/>
              </a:rPr>
              <a:t>・アルゴリズムとは</a:t>
            </a:r>
          </a:p>
          <a:p xmlns:a="http://schemas.openxmlformats.org/drawingml/2006/main">
            <a:pPr lvl="0">
              <a:buNone/>
            </a:pPr>
            <a:r>
              <a:rPr sz="1000">
                <a:highlight>
                  <a:srgbClr val="FBE3D6"/>
                </a:highlight>
                <a:latin typeface="Meiryo UI"/>
                <a:ea typeface="Meiryo UI"/>
                <a:cs typeface="Meiryo UI"/>
              </a:rPr>
              <a:t>・なぜアルゴリズムが必要か</a:t>
            </a:r>
          </a:p>
          <a:p xmlns:a="http://schemas.openxmlformats.org/drawingml/2006/main">
            <a:pPr lvl="0">
              <a:buNone/>
            </a:pPr>
            <a:r>
              <a:rPr sz="1000">
                <a:highlight>
                  <a:srgbClr val="FBE3D6"/>
                </a:highlight>
                <a:latin typeface="Meiryo UI"/>
                <a:ea typeface="Meiryo UI"/>
                <a:cs typeface="Meiryo UI"/>
              </a:rPr>
              <a:t>・FE試験形式の擬似言語</a:t>
            </a:r>
          </a:p>
          <a:p xmlns:a="http://schemas.openxmlformats.org/drawingml/2006/main">
            <a:pPr lvl="0">
              <a:buNone/>
            </a:pPr>
            <a:r>
              <a:rPr sz="1000">
                <a:highlight>
                  <a:srgbClr val="FBE3D6"/>
                </a:highlight>
                <a:latin typeface="Meiryo UI"/>
                <a:ea typeface="Meiryo UI"/>
                <a:cs typeface="Meiryo UI"/>
              </a:rPr>
              <a:t>・コードを一行ずつ追うトレース</a:t>
            </a:r>
          </a:p>
          <a:p xmlns:a="http://schemas.openxmlformats.org/drawingml/2006/main">
            <a:pPr lvl="0">
              <a:buNone/>
            </a:pPr>
            <a:r>
              <a:rPr sz="1000">
                <a:highlight>
                  <a:srgbClr val="FBE3D6"/>
                </a:highlight>
                <a:latin typeface="Meiryo UI"/>
                <a:ea typeface="Meiryo UI"/>
                <a:cs typeface="Meiryo UI"/>
              </a:rPr>
              <a:t>・配列と基本制御構造</a:t>
            </a:r>
          </a:p>
          <a:p xmlns:a="http://schemas.openxmlformats.org/drawingml/2006/main">
            <a:pPr lvl="0">
              <a:buNone/>
            </a:pPr>
            <a:r>
              <a:rPr sz="1000">
                <a:highlight>
                  <a:srgbClr val="FBE3D6"/>
                </a:highlight>
                <a:latin typeface="Meiryo UI"/>
                <a:ea typeface="Meiryo UI"/>
                <a:cs typeface="Meiryo UI"/>
              </a:rPr>
              <a:t>・過去問題による解法演習</a:t>
            </a:r>
          </a:p>
        </p:txBody>
      </p:sp>
      <p:sp>
        <p:nvSpPr>
          <p:cNvPr id="8" name="テキスト ボックス 7">
            <a:extLst xmlns:a="http://schemas.openxmlformats.org/drawingml/2006/main">
              <a:ext uri="{FF2B5EF4-FFF2-40B4-BE49-F238E27FC236}">
                <a16:creationId xmlns:a16="http://schemas.microsoft.com/office/drawing/2014/main" id="{7E0AFFF4-1E97-B63C-D7E3-9484015D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1" y="4290593"/>
            <a:ext cx="5543920" cy="6743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defRPr sz="1275"/>
            </a:pPr>
            <a:r>
              <a:rPr sz="1275" b="1">
                <a:solidFill>
                  <a:srgbClr val="FF0000"/>
                </a:solidFill>
              </a:rPr>
              <a:t>変更対象は午後の科目B（アルゴリズム）対策のみです。</a:t>
            </a:r>
          </a:p>
          <a:p xmlns:a="http://schemas.openxmlformats.org/drawingml/2006/main">
            <a:pPr>
              <a:defRPr sz="1275"/>
            </a:pPr>
            <a:r>
              <a:rPr sz="1275" b="1">
                <a:solidFill>
                  <a:srgbClr val="FF0000"/>
                </a:solidFill>
              </a:rPr>
              <a:t>午前の1〜4は従来どおり座学＋演習で学び、午後は擬似言語・トレース・過去問題へ重点を移します。</a:t>
            </a:r>
          </a:p>
        </p:txBody>
      </p:sp>
      <p:sp>
        <p:nvSpPr>
          <p:cNvPr id="10" name="正方形/長方形 9">
            <a:extLst xmlns:a="http://schemas.openxmlformats.org/drawingml/2006/main">
              <a:ext uri="{FF2B5EF4-FFF2-40B4-BE49-F238E27FC236}">
                <a16:creationId xmlns:a16="http://schemas.microsoft.com/office/drawing/2014/main" id="{4BBC5E0E-99FD-A4B7-11F1-1915105B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0866" y="2657231"/>
            <a:ext cx="8194089" cy="24119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000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矢印: 右 11">
            <a:extLst xmlns:a="http://schemas.openxmlformats.org/drawingml/2006/main">
              <a:ext uri="{FF2B5EF4-FFF2-40B4-BE49-F238E27FC236}">
                <a16:creationId xmlns:a16="http://schemas.microsoft.com/office/drawing/2014/main" id="{381C92CF-71CA-ABAD-5F5A-0DD7D48E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6154" y="3488554"/>
            <a:ext cx="267312" cy="578339"/>
          </a:xfrm>
          <a:prstGeom xmlns:a="http://schemas.openxmlformats.org/drawingml/2006/main" prst="rightArrow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5467230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正方形/長方形 10">
            <a:extLst xmlns:a="http://schemas.openxmlformats.org/drawingml/2006/main">
              <a:ext uri="{FF2B5EF4-FFF2-40B4-BE49-F238E27FC236}">
                <a16:creationId xmlns:a16="http://schemas.microsoft.com/office/drawing/2014/main" id="{EDA89A8C-5F7D-7249-8BB9-77457307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933" y="4797636"/>
            <a:ext cx="10956537" cy="16454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BAB"/>
          </a:solidFill>
          <a:ln xmlns:a="http://schemas.openxmlformats.org/drawingml/2006/main">
            <a:solidFill>
              <a:srgbClr val="FFC00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D7DC214-5BA9-F74D-18B5-240DDB72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933" y="774206"/>
            <a:ext cx="10956537" cy="27017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対象者限定・教材限定で運用</a:t>
            </a:r>
          </a:p>
        </p:txBody>
      </p:sp>
      <p:sp>
        <p:nvSpPr>
          <p:cNvPr id="25" name="正方形/長方形 17">
            <a:extLst xmlns:a="http://schemas.openxmlformats.org/drawingml/2006/main">
              <a:ext uri="{FF2B5EF4-FFF2-40B4-BE49-F238E27FC236}">
                <a16:creationId xmlns:a16="http://schemas.microsoft.com/office/drawing/2014/main" id="{2D974414-A64A-BB99-3DC8-040FD474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2135428"/>
            <a:ext cx="9778601" cy="81278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講師が承認済み教材をソースとして事前登録します。</a:t>
            </a:r>
          </a:p>
          <a:p xmlns:a="http://schemas.openxmlformats.org/drawingml/2006/main">
            <a:pPr marL="628650" lvl="1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Meiryo UI"/>
              <a:buChar char="-"/>
              <a:defRPr sz="1500"/>
            </a:pPr>
            <a:r>
              <a:rPr sz="1500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質問と回答は、そのノートブックに登録された教材を根拠に行います。</a:t>
            </a:r>
          </a:p>
        </p:txBody>
      </p:sp>
      <p:sp>
        <p:nvSpPr>
          <p:cNvPr id="35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0257D7E-5B0C-2195-E90C-7B8F801F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2134377"/>
            <a:ext cx="851709" cy="81278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教材範囲</a:t>
            </a:r>
          </a:p>
        </p:txBody>
      </p:sp>
      <p:sp>
        <p:nvSpPr>
          <p:cNvPr id="37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3283FDEE-55CA-FB92-02CF-890A6ED9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3089911"/>
            <a:ext cx="9778601" cy="82178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個人情報・顧客情報・社内機密は入力しません。</a:t>
            </a:r>
          </a:p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教材以外のアップロードは禁止し、AI回答は必ず教材の記述と照合します。</a:t>
            </a:r>
          </a:p>
        </p:txBody>
      </p:sp>
      <p:sp>
        <p:nvSpPr>
          <p:cNvPr id="39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0C47B68-0ED1-F443-5964-42E63005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3088860"/>
            <a:ext cx="851709" cy="82178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運用ルール</a:t>
            </a:r>
          </a:p>
        </p:txBody>
      </p:sp>
      <p:sp>
        <p:nvSpPr>
          <p:cNvPr id="41" name="正方形/長方形 101">
            <a:extLst xmlns:a="http://schemas.openxmlformats.org/drawingml/2006/main">
              <a:ext uri="{FF2B5EF4-FFF2-40B4-BE49-F238E27FC236}">
                <a16:creationId xmlns:a16="http://schemas.microsoft.com/office/drawing/2014/main" id="{1AEB95CE-E9D1-32A2-B9E2-C1815FF0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1165150"/>
            <a:ext cx="9778601" cy="82178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</a:rPr>
              <a:t>受講者は個人のGoogleアカウントでログインします。</a:t>
            </a:r>
          </a:p>
          <a:p xmlns:a="http://schemas.openxmlformats.org/drawingml/2006/main">
            <a:pPr marL="628650" lvl="1" indent="-171450">
              <a:buFont typeface="Meiryo UI"/>
              <a:buChar char="-"/>
              <a:defRPr sz="1500"/>
            </a:pPr>
            <a:r>
              <a:rPr sz="1500">
                <a:solidFill>
                  <a:schemeClr val="tx1"/>
                </a:solidFill>
              </a:rPr>
              <a:t>対象者のメールアドレスへ閲覧者権限を付与し、非公開の共有URLから利用します。</a:t>
            </a:r>
          </a:p>
        </p:txBody>
      </p:sp>
      <p:sp>
        <p:nvSpPr>
          <p:cNvPr id="43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0A79C38-95E9-EC23-BAE5-8F104F9C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1164099"/>
            <a:ext cx="851709" cy="82178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アクセス</a:t>
            </a:r>
          </a:p>
        </p:txBody>
      </p:sp>
      <p:sp>
        <p:nvSpPr>
          <p:cNvPr id="2" name="矢印: 右 1">
            <a:extLst xmlns:a="http://schemas.openxmlformats.org/drawingml/2006/main">
              <a:ext uri="{FF2B5EF4-FFF2-40B4-BE49-F238E27FC236}">
                <a16:creationId xmlns:a16="http://schemas.microsoft.com/office/drawing/2014/main" id="{C602800E-9489-3EDC-E9BE-D2BA0DE8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70038" y="3645842"/>
            <a:ext cx="327729" cy="1539102"/>
          </a:xfrm>
          <a:prstGeom xmlns:a="http://schemas.openxmlformats.org/drawingml/2006/main" prst="rightArrow">
            <a:avLst>
              <a:gd name="adj1" fmla="val 50000"/>
              <a:gd name="adj2" fmla="val 65531"/>
            </a:avLst>
          </a:prstGeom>
          <a:solidFill xmlns:a="http://schemas.openxmlformats.org/drawingml/2006/main">
            <a:srgbClr val="ABABA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テキスト ボックス 4">
            <a:extLst xmlns:a="http://schemas.openxmlformats.org/drawingml/2006/main">
              <a:ext uri="{FF2B5EF4-FFF2-40B4-BE49-F238E27FC236}">
                <a16:creationId xmlns:a16="http://schemas.microsoft.com/office/drawing/2014/main" id="{02B85E56-9DF8-4130-3EF0-A5426607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30" y="5053196"/>
            <a:ext cx="10710278" cy="13398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公開リンクは使用せず、対象者をメールアドレスで指定する非公開共有を前提とします。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閲覧者は共有されたソースや成果物へアクセスできるため、ノートブックには研修用として公開可能な教材のみを登録します。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NotebookLMでは『教材を学習させる』のではなく、『教材を参照ソースとして登録する』運用です。</a:t>
            </a:r>
          </a:p>
        </p:txBody>
      </p:sp>
      <p:sp>
        <p:nvSpPr>
          <p:cNvPr id="12" name="正方形/長方形 11">
            <a:extLst xmlns:a="http://schemas.openxmlformats.org/drawingml/2006/main">
              <a:ext uri="{FF2B5EF4-FFF2-40B4-BE49-F238E27FC236}">
                <a16:creationId xmlns:a16="http://schemas.microsoft.com/office/drawing/2014/main" id="{80214B64-251B-5627-4E35-F6EDA7BE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1406" y="4675384"/>
            <a:ext cx="2912533" cy="3277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9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latin typeface="Meiryo UI"/>
                <a:ea typeface="Meiryo UI"/>
                <a:cs typeface="Meiryo UI"/>
              </a:rPr>
              <a:t>安全な共有方式</a:t>
            </a:r>
          </a:p>
        </p:txBody>
      </p: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FB8EB8B5-9C76-A93D-807F-D4EFDEB4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336" y="774206"/>
            <a:ext cx="10975134" cy="3381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6350">
            <a:solidFill>
              <a:schemeClr val="bg2"/>
            </a:solidFill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</a:p>
        </p:txBody>
      </p:sp>
      <p:sp>
        <p:nvSpPr>
          <p:cNvPr id="4" name="コンテンツ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E77E5373-9FF8-715D-D82D-53BC50FB71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5187" y="262604"/>
            <a:ext cx="8191500" cy="3333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/>
            </a:pPr>
            <a:r>
              <a:rPr sz="1800">
                <a:solidFill>
                  <a:schemeClr val="tx1">
                    <a:lumMod val="65000"/>
                    <a:lumOff val="35000"/>
                  </a:schemeClr>
                </a:solidFill>
              </a:rPr>
              <a:t>NotebookLMによる学習環境（セキュリティ設計）</a:t>
            </a:r>
          </a:p>
        </p:txBody>
      </p:sp>
      <p:sp>
        <p:nvSpPr>
          <p:cNvPr id="6" name="フッター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96208E47-0B6C-354C-9624-0436540548A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8250931" y="6343835"/>
            <a:ext cx="3270539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00"/>
              <a:t>Trainocate</a:t>
            </a:r>
            <a:r>
              <a:rPr sz="1000"/>
              <a:t> Japan, Ltd. All rights reserved.</a:t>
            </a:r>
          </a:p>
        </p:txBody>
      </p:sp>
      <p:pic>
        <p:nvPicPr>
          <p:cNvPr id="59" name="図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5acec874147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617875" y="-120490"/>
            <a:ext cx="285790" cy="2600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49822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正方形/長方形 10">
            <a:extLst xmlns:a="http://schemas.openxmlformats.org/drawingml/2006/main">
              <a:ext uri="{FF2B5EF4-FFF2-40B4-BE49-F238E27FC236}">
                <a16:creationId xmlns:a16="http://schemas.microsoft.com/office/drawing/2014/main" id="{EDA89A8C-5F7D-7249-8BB9-77457307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933" y="4797636"/>
            <a:ext cx="10956537" cy="16454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BAB"/>
          </a:solidFill>
          <a:ln xmlns:a="http://schemas.openxmlformats.org/drawingml/2006/main">
            <a:solidFill>
              <a:srgbClr val="FFC00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D7DC214-5BA9-F74D-18B5-240DDB72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933" y="774206"/>
            <a:ext cx="10956537" cy="27017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視聴型コンテンツで復習のハードルを下げる</a:t>
            </a:r>
          </a:p>
        </p:txBody>
      </p:sp>
      <p:sp>
        <p:nvSpPr>
          <p:cNvPr id="25" name="正方形/長方形 17">
            <a:extLst xmlns:a="http://schemas.openxmlformats.org/drawingml/2006/main">
              <a:ext uri="{FF2B5EF4-FFF2-40B4-BE49-F238E27FC236}">
                <a16:creationId xmlns:a16="http://schemas.microsoft.com/office/drawing/2014/main" id="{2D974414-A64A-BB99-3DC8-040FD474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2135428"/>
            <a:ext cx="9778601" cy="81278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NotebookLMの動画解説で、教材の要点を短時間で確認できます。</a:t>
            </a:r>
          </a:p>
          <a:p xmlns:a="http://schemas.openxmlformats.org/drawingml/2006/main">
            <a:pPr marL="628650" lvl="1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Meiryo UI"/>
              <a:buChar char="-"/>
              <a:defRPr sz="1500"/>
            </a:pPr>
            <a:r>
              <a:rPr sz="1500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YouTubeを見るような感覚で、理解しにくいテーマを復習できます。</a:t>
            </a:r>
          </a:p>
        </p:txBody>
      </p:sp>
      <p:sp>
        <p:nvSpPr>
          <p:cNvPr id="35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0257D7E-5B0C-2195-E90C-7B8F801F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2134377"/>
            <a:ext cx="851709" cy="81278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動画</a:t>
            </a:r>
          </a:p>
        </p:txBody>
      </p:sp>
      <p:sp>
        <p:nvSpPr>
          <p:cNvPr id="37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3283FDEE-55CA-FB92-02CF-890A6ED9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3089911"/>
            <a:ext cx="9778601" cy="82178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音声解説はラジオのように聞き流せます。</a:t>
            </a:r>
          </a:p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スマートフォンやタブレットで、移動中や自宅でも気軽に学習できます。</a:t>
            </a:r>
          </a:p>
        </p:txBody>
      </p:sp>
      <p:sp>
        <p:nvSpPr>
          <p:cNvPr id="39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0C47B68-0ED1-F443-5964-42E63005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3088860"/>
            <a:ext cx="851709" cy="82178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音声</a:t>
            </a:r>
          </a:p>
        </p:txBody>
      </p:sp>
      <p:sp>
        <p:nvSpPr>
          <p:cNvPr id="41" name="正方形/長方形 101">
            <a:extLst xmlns:a="http://schemas.openxmlformats.org/drawingml/2006/main">
              <a:ext uri="{FF2B5EF4-FFF2-40B4-BE49-F238E27FC236}">
                <a16:creationId xmlns:a16="http://schemas.microsoft.com/office/drawing/2014/main" id="{1AEB95CE-E9D1-32A2-B9E2-C1815FF0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1165150"/>
            <a:ext cx="9778601" cy="82178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</a:rPr>
              <a:t>午前対策の1〜4で扱うIT基礎です。</a:t>
            </a:r>
          </a:p>
          <a:p xmlns:a="http://schemas.openxmlformats.org/drawingml/2006/main">
            <a:pPr marL="628650" lvl="1" indent="-171450">
              <a:buFont typeface="Meiryo UI"/>
              <a:buChar char="-"/>
              <a:defRPr sz="1500"/>
            </a:pPr>
            <a:r>
              <a:rPr sz="1500">
                <a:solidFill>
                  <a:schemeClr val="tx1"/>
                </a:solidFill>
              </a:rPr>
              <a:t>ITシステム、Webの仕組み、要素技術、プログラミング概論を対象にします。</a:t>
            </a:r>
          </a:p>
        </p:txBody>
      </p:sp>
      <p:sp>
        <p:nvSpPr>
          <p:cNvPr id="43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0A79C38-95E9-EC23-BAE5-8F104F9C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1164099"/>
            <a:ext cx="851709" cy="82178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対象</a:t>
            </a:r>
          </a:p>
        </p:txBody>
      </p:sp>
      <p:sp>
        <p:nvSpPr>
          <p:cNvPr id="2" name="矢印: 右 1">
            <a:extLst xmlns:a="http://schemas.openxmlformats.org/drawingml/2006/main">
              <a:ext uri="{FF2B5EF4-FFF2-40B4-BE49-F238E27FC236}">
                <a16:creationId xmlns:a16="http://schemas.microsoft.com/office/drawing/2014/main" id="{C602800E-9489-3EDC-E9BE-D2BA0DE8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70038" y="3645842"/>
            <a:ext cx="327729" cy="1539102"/>
          </a:xfrm>
          <a:prstGeom xmlns:a="http://schemas.openxmlformats.org/drawingml/2006/main" prst="rightArrow">
            <a:avLst>
              <a:gd name="adj1" fmla="val 50000"/>
              <a:gd name="adj2" fmla="val 65531"/>
            </a:avLst>
          </a:prstGeom>
          <a:solidFill xmlns:a="http://schemas.openxmlformats.org/drawingml/2006/main">
            <a:srgbClr val="ABABA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テキスト ボックス 4">
            <a:extLst xmlns:a="http://schemas.openxmlformats.org/drawingml/2006/main">
              <a:ext uri="{FF2B5EF4-FFF2-40B4-BE49-F238E27FC236}">
                <a16:creationId xmlns:a16="http://schemas.microsoft.com/office/drawing/2014/main" id="{02B85E56-9DF8-4130-3EF0-A5426607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30" y="5053196"/>
            <a:ext cx="10710278" cy="13398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NotebookLMモバイルアプリでは、音声概要の再生・バックグラウンド再生・オフライン利用が可能です。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動画概要もモバイル端末で再生できます。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動画・音声はAI生成のため誤りを含む可能性があり、最終確認は登録教材で行います。</a:t>
            </a:r>
          </a:p>
        </p:txBody>
      </p:sp>
      <p:sp>
        <p:nvSpPr>
          <p:cNvPr id="12" name="正方形/長方形 11">
            <a:extLst xmlns:a="http://schemas.openxmlformats.org/drawingml/2006/main">
              <a:ext uri="{FF2B5EF4-FFF2-40B4-BE49-F238E27FC236}">
                <a16:creationId xmlns:a16="http://schemas.microsoft.com/office/drawing/2014/main" id="{80214B64-251B-5627-4E35-F6EDA7BE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1406" y="4675384"/>
            <a:ext cx="2912533" cy="3277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9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latin typeface="Meiryo UI"/>
                <a:ea typeface="Meiryo UI"/>
                <a:cs typeface="Meiryo UI"/>
              </a:rPr>
              <a:t>スマホ・タブレット対応</a:t>
            </a:r>
          </a:p>
        </p:txBody>
      </p: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FB8EB8B5-9C76-A93D-807F-D4EFDEB4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336" y="774206"/>
            <a:ext cx="10975134" cy="3381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6350">
            <a:solidFill>
              <a:schemeClr val="bg2"/>
            </a:solidFill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</a:p>
        </p:txBody>
      </p:sp>
      <p:sp>
        <p:nvSpPr>
          <p:cNvPr id="4" name="コンテンツ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E77E5373-9FF8-715D-D82D-53BC50FB71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5187" y="262604"/>
            <a:ext cx="8191500" cy="3333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/>
            </a:pPr>
            <a:r>
              <a:rPr sz="1800">
                <a:solidFill>
                  <a:schemeClr val="tx1">
                    <a:lumMod val="65000"/>
                    <a:lumOff val="35000"/>
                  </a:schemeClr>
                </a:solidFill>
              </a:rPr>
              <a:t>午前のIT基礎は、動画・音声で繰り返し学べます</a:t>
            </a:r>
          </a:p>
        </p:txBody>
      </p:sp>
      <p:sp>
        <p:nvSpPr>
          <p:cNvPr id="6" name="フッター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96208E47-0B6C-354C-9624-0436540548A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8250931" y="6343835"/>
            <a:ext cx="3270539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00"/>
              <a:t>Trainocate</a:t>
            </a:r>
            <a:r>
              <a:rPr sz="1000"/>
              <a:t> Japan, Ltd. All rights reserved.</a:t>
            </a:r>
          </a:p>
        </p:txBody>
      </p:sp>
      <p:pic>
        <p:nvPicPr>
          <p:cNvPr id="59" name="図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b5d80b5ff24d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617875" y="-120490"/>
            <a:ext cx="285790" cy="2600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4982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正方形/長方形 10">
            <a:extLst xmlns:a="http://schemas.openxmlformats.org/drawingml/2006/main">
              <a:ext uri="{FF2B5EF4-FFF2-40B4-BE49-F238E27FC236}">
                <a16:creationId xmlns:a16="http://schemas.microsoft.com/office/drawing/2014/main" id="{EDA89A8C-5F7D-7249-8BB9-77457307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933" y="4797636"/>
            <a:ext cx="10956537" cy="16454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BAB"/>
          </a:solidFill>
          <a:ln xmlns:a="http://schemas.openxmlformats.org/drawingml/2006/main">
            <a:solidFill>
              <a:srgbClr val="FFC00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D7DC214-5BA9-F74D-18B5-240DDB72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933" y="774206"/>
            <a:ext cx="10956537" cy="27017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受講者の考えた過程を引き出す</a:t>
            </a:r>
          </a:p>
        </p:txBody>
      </p:sp>
      <p:sp>
        <p:nvSpPr>
          <p:cNvPr id="25" name="正方形/長方形 17">
            <a:extLst xmlns:a="http://schemas.openxmlformats.org/drawingml/2006/main">
              <a:ext uri="{FF2B5EF4-FFF2-40B4-BE49-F238E27FC236}">
                <a16:creationId xmlns:a16="http://schemas.microsoft.com/office/drawing/2014/main" id="{2D974414-A64A-BB99-3DC8-040FD474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2135428"/>
            <a:ext cx="9778601" cy="81278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『分かっていること』『分からないこと』『自分で試したこと』を入力します。</a:t>
            </a:r>
          </a:p>
          <a:p xmlns:a="http://schemas.openxmlformats.org/drawingml/2006/main">
            <a:pPr marL="628650" lvl="1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Meiryo UI"/>
              <a:buChar char="-"/>
              <a:defRPr sz="1500"/>
            </a:pPr>
            <a:r>
              <a:rPr sz="1500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AIには、次に確認する値を一つずつ質問させます。</a:t>
            </a:r>
          </a:p>
        </p:txBody>
      </p:sp>
      <p:sp>
        <p:nvSpPr>
          <p:cNvPr id="35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0257D7E-5B0C-2195-E90C-7B8F801F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2134377"/>
            <a:ext cx="851709" cy="81278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考えを整理</a:t>
            </a:r>
          </a:p>
        </p:txBody>
      </p:sp>
      <p:sp>
        <p:nvSpPr>
          <p:cNvPr id="37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3283FDEE-55CA-FB92-02CF-890A6ED9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3089911"/>
            <a:ext cx="9778601" cy="82178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説明を読んだ後はAIを閉じ、コードを自分でもう一度追います。</a:t>
            </a:r>
          </a:p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最終回答ではなく、解き方を身につけるために使います。</a:t>
            </a:r>
          </a:p>
        </p:txBody>
      </p:sp>
      <p:sp>
        <p:nvSpPr>
          <p:cNvPr id="39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0C47B68-0ED1-F443-5964-42E63005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3088860"/>
            <a:ext cx="851709" cy="82178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再検証</a:t>
            </a:r>
          </a:p>
        </p:txBody>
      </p:sp>
      <p:sp>
        <p:nvSpPr>
          <p:cNvPr id="41" name="正方形/長方形 101">
            <a:extLst xmlns:a="http://schemas.openxmlformats.org/drawingml/2006/main">
              <a:ext uri="{FF2B5EF4-FFF2-40B4-BE49-F238E27FC236}">
                <a16:creationId xmlns:a16="http://schemas.microsoft.com/office/drawing/2014/main" id="{1AEB95CE-E9D1-32A2-B9E2-C1815FF0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1165150"/>
            <a:ext cx="9778601" cy="82178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</a:rPr>
              <a:t>問題文をコピーする、またはスクリーンショットを貼ります。</a:t>
            </a:r>
          </a:p>
          <a:p xmlns:a="http://schemas.openxmlformats.org/drawingml/2006/main">
            <a:pPr marL="628650" lvl="1" indent="-171450">
              <a:buFont typeface="Meiryo UI"/>
              <a:buChar char="-"/>
              <a:defRPr sz="1500"/>
            </a:pPr>
            <a:r>
              <a:rPr sz="1500">
                <a:solidFill>
                  <a:schemeClr val="tx1"/>
                </a:solidFill>
              </a:rPr>
              <a:t>質問から回答まで、共有されたNotebookLMの中で進めます。</a:t>
            </a:r>
          </a:p>
        </p:txBody>
      </p:sp>
      <p:sp>
        <p:nvSpPr>
          <p:cNvPr id="43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0A79C38-95E9-EC23-BAE5-8F104F9C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1164099"/>
            <a:ext cx="851709" cy="82178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問題共有</a:t>
            </a:r>
          </a:p>
        </p:txBody>
      </p:sp>
      <p:sp>
        <p:nvSpPr>
          <p:cNvPr id="2" name="矢印: 右 1">
            <a:extLst xmlns:a="http://schemas.openxmlformats.org/drawingml/2006/main">
              <a:ext uri="{FF2B5EF4-FFF2-40B4-BE49-F238E27FC236}">
                <a16:creationId xmlns:a16="http://schemas.microsoft.com/office/drawing/2014/main" id="{C602800E-9489-3EDC-E9BE-D2BA0DE8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70038" y="3645842"/>
            <a:ext cx="327729" cy="1539102"/>
          </a:xfrm>
          <a:prstGeom xmlns:a="http://schemas.openxmlformats.org/drawingml/2006/main" prst="rightArrow">
            <a:avLst>
              <a:gd name="adj1" fmla="val 50000"/>
              <a:gd name="adj2" fmla="val 65531"/>
            </a:avLst>
          </a:prstGeom>
          <a:solidFill xmlns:a="http://schemas.openxmlformats.org/drawingml/2006/main">
            <a:srgbClr val="ABABA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テキスト ボックス 4">
            <a:extLst xmlns:a="http://schemas.openxmlformats.org/drawingml/2006/main">
              <a:ext uri="{FF2B5EF4-FFF2-40B4-BE49-F238E27FC236}">
                <a16:creationId xmlns:a16="http://schemas.microsoft.com/office/drawing/2014/main" id="{02B85E56-9DF8-4130-3EF0-A5426607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30" y="5053196"/>
            <a:ext cx="10710278" cy="13398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事前登録した教材を共通の参照先とするため、一般的なチャットAIへ問題や資料を都度アップロードする運用は行いません。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受講者は閲覧者として利用し、教材ソースの追加・削除は行いません。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個人情報・顧客情報・社内機密は入力しないルールを、研修開始時に明示します。</a:t>
            </a:r>
          </a:p>
        </p:txBody>
      </p:sp>
      <p:sp>
        <p:nvSpPr>
          <p:cNvPr id="12" name="正方形/長方形 11">
            <a:extLst xmlns:a="http://schemas.openxmlformats.org/drawingml/2006/main">
              <a:ext uri="{FF2B5EF4-FFF2-40B4-BE49-F238E27FC236}">
                <a16:creationId xmlns:a16="http://schemas.microsoft.com/office/drawing/2014/main" id="{80214B64-251B-5627-4E35-F6EDA7BE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1406" y="4675384"/>
            <a:ext cx="2912533" cy="3277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9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latin typeface="Meiryo UI"/>
                <a:ea typeface="Meiryo UI"/>
                <a:cs typeface="Meiryo UI"/>
              </a:rPr>
              <a:t>NotebookLM内で完結</a:t>
            </a:r>
          </a:p>
        </p:txBody>
      </p: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FB8EB8B5-9C76-A93D-807F-D4EFDEB4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336" y="774206"/>
            <a:ext cx="10975134" cy="3381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6350">
            <a:solidFill>
              <a:schemeClr val="bg2"/>
            </a:solidFill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</a:p>
        </p:txBody>
      </p:sp>
      <p:sp>
        <p:nvSpPr>
          <p:cNvPr id="4" name="コンテンツ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E77E5373-9FF8-715D-D82D-53BC50FB71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5187" y="262604"/>
            <a:ext cx="8191500" cy="3333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/>
            </a:pPr>
            <a:r>
              <a:rPr sz="1800">
                <a:solidFill>
                  <a:schemeClr val="tx1">
                    <a:lumMod val="65000"/>
                    <a:lumOff val="35000"/>
                  </a:schemeClr>
                </a:solidFill>
              </a:rPr>
              <a:t>午後の演習は、教材に基づく質問で自学を支援します</a:t>
            </a:r>
          </a:p>
        </p:txBody>
      </p:sp>
      <p:sp>
        <p:nvSpPr>
          <p:cNvPr id="6" name="フッター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96208E47-0B6C-354C-9624-0436540548A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8250931" y="6343835"/>
            <a:ext cx="3270539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00"/>
              <a:t>Trainocate</a:t>
            </a:r>
            <a:r>
              <a:rPr sz="1000"/>
              <a:t> Japan, Ltd. All rights reserved.</a:t>
            </a:r>
          </a:p>
        </p:txBody>
      </p:sp>
      <p:pic>
        <p:nvPicPr>
          <p:cNvPr id="59" name="図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03da89d8b148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617875" y="-120490"/>
            <a:ext cx="285790" cy="2600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4982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正方形/長方形 10">
            <a:extLst xmlns:a="http://schemas.openxmlformats.org/drawingml/2006/main">
              <a:ext uri="{FF2B5EF4-FFF2-40B4-BE49-F238E27FC236}">
                <a16:creationId xmlns:a16="http://schemas.microsoft.com/office/drawing/2014/main" id="{EDA89A8C-5F7D-7249-8BB9-77457307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933" y="4797636"/>
            <a:ext cx="10956537" cy="16454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BAB"/>
          </a:solidFill>
          <a:ln xmlns:a="http://schemas.openxmlformats.org/drawingml/2006/main">
            <a:solidFill>
              <a:srgbClr val="FFC00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D7DC214-5BA9-F74D-18B5-240DDB72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933" y="774206"/>
            <a:ext cx="10956537" cy="27017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基礎インプットは維持し、科目B対策を刷新</a:t>
            </a:r>
          </a:p>
        </p:txBody>
      </p:sp>
      <p:sp>
        <p:nvSpPr>
          <p:cNvPr id="25" name="正方形/長方形 17">
            <a:extLst xmlns:a="http://schemas.openxmlformats.org/drawingml/2006/main">
              <a:ext uri="{FF2B5EF4-FFF2-40B4-BE49-F238E27FC236}">
                <a16:creationId xmlns:a16="http://schemas.microsoft.com/office/drawing/2014/main" id="{2D974414-A64A-BB99-3DC8-040FD474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2135428"/>
            <a:ext cx="9778601" cy="81278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午後のアルゴリズム対策からフローチャートを除外します。</a:t>
            </a:r>
          </a:p>
          <a:p xmlns:a="http://schemas.openxmlformats.org/drawingml/2006/main">
            <a:pPr marL="628650" lvl="1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Meiryo UI"/>
              <a:buChar char="-"/>
              <a:defRPr sz="1500"/>
            </a:pPr>
            <a:r>
              <a:rPr sz="1500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FE試験形式の擬似言語、トレース、過去問題を中心にします。</a:t>
            </a:r>
          </a:p>
        </p:txBody>
      </p:sp>
      <p:sp>
        <p:nvSpPr>
          <p:cNvPr id="35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0257D7E-5B0C-2195-E90C-7B8F801F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2134377"/>
            <a:ext cx="851709" cy="81278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変える</a:t>
            </a:r>
          </a:p>
        </p:txBody>
      </p:sp>
      <p:sp>
        <p:nvSpPr>
          <p:cNvPr id="37" name="正方形/長方形 8">
            <a:extLst xmlns:a="http://schemas.openxmlformats.org/drawingml/2006/main">
              <a:ext uri="{FF2B5EF4-FFF2-40B4-BE49-F238E27FC236}">
                <a16:creationId xmlns:a16="http://schemas.microsoft.com/office/drawing/2014/main" id="{3283FDEE-55CA-FB92-02CF-890A6ED9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3089911"/>
            <a:ext cx="9778601" cy="82178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教材を事前登録したNotebookLMを非公開共有します。</a:t>
            </a:r>
          </a:p>
          <a:p xmlns:a="http://schemas.openxmlformats.org/drawingml/2006/main">
            <a:pPr marL="171450" indent="-1714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質問、動画、音声により、講義後の自学と復習を支援します。</a:t>
            </a:r>
          </a:p>
        </p:txBody>
      </p:sp>
      <p:sp>
        <p:nvSpPr>
          <p:cNvPr id="39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0C47B68-0ED1-F443-5964-42E63005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3088860"/>
            <a:ext cx="851709" cy="82178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支える</a:t>
            </a:r>
          </a:p>
        </p:txBody>
      </p:sp>
      <p:sp>
        <p:nvSpPr>
          <p:cNvPr id="41" name="正方形/長方形 101">
            <a:extLst xmlns:a="http://schemas.openxmlformats.org/drawingml/2006/main">
              <a:ext uri="{FF2B5EF4-FFF2-40B4-BE49-F238E27FC236}">
                <a16:creationId xmlns:a16="http://schemas.microsoft.com/office/drawing/2014/main" id="{1AEB95CE-E9D1-32A2-B9E2-C1815FF0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2206" y="1165150"/>
            <a:ext cx="9778601" cy="82178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marL="171450" indent="-171450">
              <a:buFont typeface="Wingdings"/>
              <a:buChar char="l"/>
              <a:defRPr sz="1500"/>
            </a:pPr>
            <a:r>
              <a:rPr sz="1500" b="1">
                <a:solidFill>
                  <a:schemeClr val="tx1"/>
                </a:solidFill>
              </a:rPr>
              <a:t>午前対策の1〜4は従来どおりです。</a:t>
            </a:r>
          </a:p>
          <a:p xmlns:a="http://schemas.openxmlformats.org/drawingml/2006/main">
            <a:pPr marL="628650" lvl="1" indent="-171450">
              <a:buFont typeface="Meiryo UI"/>
              <a:buChar char="-"/>
              <a:defRPr sz="1500"/>
            </a:pPr>
            <a:r>
              <a:rPr sz="1500">
                <a:solidFill>
                  <a:schemeClr val="tx1"/>
                </a:solidFill>
              </a:rPr>
              <a:t>座学と演習を通じて、IT基礎知識を確実にインプットします。</a:t>
            </a:r>
          </a:p>
        </p:txBody>
      </p:sp>
      <p:sp>
        <p:nvSpPr>
          <p:cNvPr id="43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0A79C38-95E9-EC23-BAE5-8F104F9C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172" y="1164099"/>
            <a:ext cx="851709" cy="82178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8100">
            <a:noFill/>
          </a:ln>
        </p:spPr>
        <p:txBody>
          <a:bodyPr xmlns:a="http://schemas.openxmlformats.org/drawingml/2006/main" wrap="none" lIns="91440" tIns="45720" rIns="91440" bIns="45720" anchor="ctr"/>
          <a:lstStyle xmlns:a="http://schemas.openxmlformats.org/drawingml/2006/main">
            <a:lvl1pPr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</a:pPr>
            <a:r>
              <a:rPr sz="1400">
                <a:solidFill>
                  <a:schemeClr val="bg1"/>
                </a:solidFill>
                <a:latin typeface="Meiryo UI"/>
                <a:ea typeface="Meiryo UI"/>
                <a:cs typeface="Meiryo UI"/>
              </a:rPr>
              <a:t>変えない</a:t>
            </a:r>
          </a:p>
        </p:txBody>
      </p:sp>
      <p:sp>
        <p:nvSpPr>
          <p:cNvPr id="2" name="矢印: 右 1">
            <a:extLst xmlns:a="http://schemas.openxmlformats.org/drawingml/2006/main">
              <a:ext uri="{FF2B5EF4-FFF2-40B4-BE49-F238E27FC236}">
                <a16:creationId xmlns:a16="http://schemas.microsoft.com/office/drawing/2014/main" id="{C602800E-9489-3EDC-E9BE-D2BA0DE8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70038" y="3645842"/>
            <a:ext cx="327729" cy="1539102"/>
          </a:xfrm>
          <a:prstGeom xmlns:a="http://schemas.openxmlformats.org/drawingml/2006/main" prst="rightArrow">
            <a:avLst>
              <a:gd name="adj1" fmla="val 50000"/>
              <a:gd name="adj2" fmla="val 65531"/>
            </a:avLst>
          </a:prstGeom>
          <a:solidFill xmlns:a="http://schemas.openxmlformats.org/drawingml/2006/main">
            <a:srgbClr val="ABABA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テキスト ボックス 4">
            <a:extLst xmlns:a="http://schemas.openxmlformats.org/drawingml/2006/main">
              <a:ext uri="{FF2B5EF4-FFF2-40B4-BE49-F238E27FC236}">
                <a16:creationId xmlns:a16="http://schemas.microsoft.com/office/drawing/2014/main" id="{02B85E56-9DF8-4130-3EF0-A5426607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30" y="5053196"/>
            <a:ext cx="10710278" cy="13398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既存研修の分かりやすさと基礎インプットを維持します。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試験で必要な『擬似言語を読む・値を追う・問題を解く』力へ重点を移します。</a:t>
            </a:r>
          </a:p>
          <a:p xmlns:a="http://schemas.openxmlformats.org/drawingml/2006/main">
            <a:pPr marL="285750" indent="-285750">
              <a:lnSpc>
                <a:spcPct val="150000"/>
              </a:lnSpc>
              <a:buFont typeface="Wingdings"/>
              <a:buChar char="l"/>
              <a:defRPr sz="1350"/>
            </a:pPr>
            <a:r>
              <a:rPr sz="135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セキュリティルールを明示したNotebookLM環境で、内定者がスマホやタブレットでも継続学習できる構成とします。</a:t>
            </a:r>
          </a:p>
        </p:txBody>
      </p:sp>
      <p:sp>
        <p:nvSpPr>
          <p:cNvPr id="12" name="正方形/長方形 11">
            <a:extLst xmlns:a="http://schemas.openxmlformats.org/drawingml/2006/main">
              <a:ext uri="{FF2B5EF4-FFF2-40B4-BE49-F238E27FC236}">
                <a16:creationId xmlns:a16="http://schemas.microsoft.com/office/drawing/2014/main" id="{80214B64-251B-5627-4E35-F6EDA7BE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1406" y="4675384"/>
            <a:ext cx="2912533" cy="3277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9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latin typeface="Meiryo UI"/>
                <a:ea typeface="Meiryo UI"/>
                <a:cs typeface="Meiryo UI"/>
              </a:rPr>
              <a:t>採用方針</a:t>
            </a:r>
          </a:p>
        </p:txBody>
      </p:sp>
      <p:sp>
        <p:nvSpPr>
          <p:cNvPr id="3" name="正方形/長方形 2">
            <a:extLst xmlns:a="http://schemas.openxmlformats.org/drawingml/2006/main">
              <a:ext uri="{FF2B5EF4-FFF2-40B4-BE49-F238E27FC236}">
                <a16:creationId xmlns:a16="http://schemas.microsoft.com/office/drawing/2014/main" id="{FB8EB8B5-9C76-A93D-807F-D4EFDEB4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336" y="774206"/>
            <a:ext cx="10975134" cy="3381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6350">
            <a:solidFill>
              <a:schemeClr val="bg2"/>
            </a:solidFill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</a:p>
        </p:txBody>
      </p:sp>
      <p:sp>
        <p:nvSpPr>
          <p:cNvPr id="4" name="コンテンツ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E77E5373-9FF8-715D-D82D-53BC50FB71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5187" y="262604"/>
            <a:ext cx="8191500" cy="3333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/>
            </a:pPr>
            <a:r>
              <a:rPr sz="1800">
                <a:solidFill>
                  <a:schemeClr val="tx1">
                    <a:lumMod val="65000"/>
                    <a:lumOff val="35000"/>
                  </a:schemeClr>
                </a:solidFill>
              </a:rPr>
              <a:t>今回案の要点</a:t>
            </a:r>
          </a:p>
        </p:txBody>
      </p:sp>
      <p:sp>
        <p:nvSpPr>
          <p:cNvPr id="6" name="フッター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96208E47-0B6C-354C-9624-0436540548A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8250931" y="6343835"/>
            <a:ext cx="3270539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00"/>
              <a:t>Trainocate</a:t>
            </a:r>
            <a:r>
              <a:rPr sz="1000"/>
              <a:t> Japan, Ltd. All rights reserved.</a:t>
            </a:r>
          </a:p>
        </p:txBody>
      </p:sp>
      <p:pic>
        <p:nvPicPr>
          <p:cNvPr id="59" name="図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ced524734b45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617875" y="-120490"/>
            <a:ext cx="285790" cy="2600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498227"/>
      </p:ext>
    </p:extLst>
  </p:cSld>
</p:sld>
</file>

<file path=ppt/theme/theme1.xml><?xml version="1.0" encoding="utf-8"?>
<a:theme xmlns:a="http://schemas.openxmlformats.org/drawingml/2006/main" name="Office テーマ">
  <a:themeElements>
    <a:clrScheme name="ユーザー定義 1">
      <a:dk1>
        <a:srgbClr val="000000"/>
      </a:dk1>
      <a:lt1>
        <a:srgbClr val="FFFFFF"/>
      </a:lt1>
      <a:dk2>
        <a:srgbClr val="808080"/>
      </a:dk2>
      <a:lt2>
        <a:srgbClr val="BFBFBF"/>
      </a:lt2>
      <a:accent1>
        <a:srgbClr val="F2F2F2"/>
      </a:accent1>
      <a:accent2>
        <a:srgbClr val="FA4515"/>
      </a:accent2>
      <a:accent3>
        <a:srgbClr val="FBE3D6"/>
      </a:accent3>
      <a:accent4>
        <a:srgbClr val="196B24"/>
      </a:accent4>
      <a:accent5>
        <a:srgbClr val="156082"/>
      </a:accent5>
      <a:accent6>
        <a:srgbClr val="FFC000"/>
      </a:accent6>
      <a:hlink>
        <a:srgbClr val="0563C1"/>
      </a:hlink>
      <a:folHlink>
        <a:srgbClr val="96607D"/>
      </a:folHlink>
    </a:clrScheme>
    <a:fontScheme name="Trainocateデフォルト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2026-07-31T01:29:31.2870000Z</dcterms:created>
  <dcterms:modified xsi:type="dcterms:W3CDTF">2026-07-31T01:29:31.2870000Z</dcterms:modified>
</coreProperties>
</file>