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2" r:id="rId4"/>
    <p:sldId id="260" r:id="rId5"/>
    <p:sldId id="263" r:id="rId6"/>
    <p:sldId id="257" r:id="rId7"/>
    <p:sldId id="259" r:id="rId8"/>
    <p:sldId id="26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jpeg"/><Relationship Id="rId9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準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F9821D3D-65CC-D779-AD69-6C9E39B6A3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144" y="262622"/>
            <a:ext cx="8574847" cy="33337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buNone/>
            </a:pPr>
            <a:r>
              <a:t>タイトル</a:t>
            </a:r>
          </a:p>
        </p:txBody>
      </p:sp>
      <p:pic>
        <p:nvPicPr>
          <p:cNvPr id="7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29775" y="238127"/>
            <a:ext cx="2152650" cy="333375"/>
          </a:xfrm>
          <a:prstGeom prst="rect">
            <a:avLst/>
          </a:prstGeom>
        </p:spPr>
      </p:pic>
      <p:sp>
        <p:nvSpPr>
          <p:cNvPr id="4" name="フッター プレースホルダー 5">
            <a:extLst>
              <a:ext uri="{FF2B5EF4-FFF2-40B4-BE49-F238E27FC236}">
                <a16:creationId xmlns:a16="http://schemas.microsoft.com/office/drawing/2014/main" id="{8F8EBF6F-5E96-E63B-D304-91F254ACA07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918393" y="6326826"/>
            <a:ext cx="32705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t>Trainocate Japan, Ltd. All rights reserved.</a:t>
            </a:r>
          </a:p>
        </p:txBody>
      </p:sp>
      <p:sp>
        <p:nvSpPr>
          <p:cNvPr id="2" name="直線コネクタ 1">
            <a:extLst>
              <a:ext uri="{FF2B5EF4-FFF2-40B4-BE49-F238E27FC236}">
                <a16:creationId xmlns:a16="http://schemas.microsoft.com/office/drawing/2014/main" id="{805C22BE-AAC2-4F84-9B60-BBBBC93FC395}"/>
              </a:ext>
            </a:extLst>
          </p:cNvPr>
          <p:cNvSpPr>
            <a:spLocks noGrp="1"/>
          </p:cNvSpPr>
          <p:nvPr/>
        </p:nvSpPr>
        <p:spPr>
          <a:xfrm>
            <a:off x="323850" y="619127"/>
            <a:ext cx="11520000" cy="0"/>
          </a:xfrm>
          <a:prstGeom prst="line">
            <a:avLst/>
          </a:prstGeom>
          <a:ln>
            <a:solidFill>
              <a:srgbClr val="FA4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ja-JP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F9821D3D-65CC-D779-AD69-6C9E39B6A3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144" y="262622"/>
            <a:ext cx="8574847" cy="33337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buNone/>
            </a:pPr>
            <a:r>
              <a:t>タイトル</a:t>
            </a:r>
          </a:p>
        </p:txBody>
      </p:sp>
      <p:pic>
        <p:nvPicPr>
          <p:cNvPr id="27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29775" y="238127"/>
            <a:ext cx="2152650" cy="333375"/>
          </a:xfrm>
          <a:prstGeom prst="rect">
            <a:avLst/>
          </a:prstGeom>
        </p:spPr>
      </p:pic>
      <p:sp>
        <p:nvSpPr>
          <p:cNvPr id="4" name="フッター プレースホルダー 5">
            <a:extLst>
              <a:ext uri="{FF2B5EF4-FFF2-40B4-BE49-F238E27FC236}">
                <a16:creationId xmlns:a16="http://schemas.microsoft.com/office/drawing/2014/main" id="{8F8EBF6F-5E96-E63B-D304-91F254ACA07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918393" y="6326826"/>
            <a:ext cx="32705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t>Trainocate Japan, Ltd. All rights reserved.</a:t>
            </a:r>
          </a:p>
        </p:txBody>
      </p:sp>
      <p:sp>
        <p:nvSpPr>
          <p:cNvPr id="2" name="直線コネクタ 1">
            <a:extLst>
              <a:ext uri="{FF2B5EF4-FFF2-40B4-BE49-F238E27FC236}">
                <a16:creationId xmlns:a16="http://schemas.microsoft.com/office/drawing/2014/main" id="{E56E08FA-2762-48AA-9C81-7EDE3EE091A1}"/>
              </a:ext>
            </a:extLst>
          </p:cNvPr>
          <p:cNvSpPr>
            <a:spLocks noGrp="1"/>
          </p:cNvSpPr>
          <p:nvPr/>
        </p:nvSpPr>
        <p:spPr>
          <a:xfrm>
            <a:off x="323850" y="619127"/>
            <a:ext cx="11520000" cy="0"/>
          </a:xfrm>
          <a:prstGeom prst="line">
            <a:avLst/>
          </a:prstGeom>
          <a:ln>
            <a:solidFill>
              <a:srgbClr val="FA4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721B770-D5A1-F52C-B9F0-6A0C1E0C2F8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377693" y="1275247"/>
            <a:ext cx="6439710" cy="36512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8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2DEE5631-BFBB-A7AA-92AC-438E269DB810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424382" y="1275247"/>
            <a:ext cx="700391" cy="36512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/>
            </a:lvl1pPr>
          </a:lstStyle>
          <a:p>
            <a:pPr lvl="0">
              <a:buNone/>
            </a:pPr>
            <a:r>
              <a:t>1</a:t>
            </a:r>
          </a:p>
        </p:txBody>
      </p:sp>
      <p:sp>
        <p:nvSpPr>
          <p:cNvPr id="9" name="テキスト プレースホルダー 5">
            <a:extLst>
              <a:ext uri="{FF2B5EF4-FFF2-40B4-BE49-F238E27FC236}">
                <a16:creationId xmlns:a16="http://schemas.microsoft.com/office/drawing/2014/main" id="{2185F09E-1BF9-804D-F2CE-8B0C37E628A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2377693" y="1788794"/>
            <a:ext cx="6439710" cy="36512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8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0" name="テキスト プレースホルダー 5">
            <a:extLst>
              <a:ext uri="{FF2B5EF4-FFF2-40B4-BE49-F238E27FC236}">
                <a16:creationId xmlns:a16="http://schemas.microsoft.com/office/drawing/2014/main" id="{8F79B8CE-ECCC-BCD3-CF11-318A6714402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24382" y="1788794"/>
            <a:ext cx="700391" cy="36512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/>
            </a:lvl1pPr>
          </a:lstStyle>
          <a:p>
            <a:pPr lvl="0">
              <a:buNone/>
            </a:pPr>
            <a:r>
              <a:t>2</a:t>
            </a:r>
          </a:p>
        </p:txBody>
      </p:sp>
      <p:sp>
        <p:nvSpPr>
          <p:cNvPr id="11" name="テキスト プレースホルダー 5">
            <a:extLst>
              <a:ext uri="{FF2B5EF4-FFF2-40B4-BE49-F238E27FC236}">
                <a16:creationId xmlns:a16="http://schemas.microsoft.com/office/drawing/2014/main" id="{2FFAAECC-74B2-3036-0E64-D93FA1E7BA0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377693" y="2302341"/>
            <a:ext cx="6439710" cy="36512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8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2" name="テキスト プレースホルダー 5">
            <a:extLst>
              <a:ext uri="{FF2B5EF4-FFF2-40B4-BE49-F238E27FC236}">
                <a16:creationId xmlns:a16="http://schemas.microsoft.com/office/drawing/2014/main" id="{5394647F-3C8D-7F92-4D70-BACE58F5BAC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424382" y="2302341"/>
            <a:ext cx="700391" cy="36512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/>
            </a:lvl1pPr>
          </a:lstStyle>
          <a:p>
            <a:pPr lvl="0">
              <a:buNone/>
            </a:pPr>
            <a:r>
              <a:t>3</a:t>
            </a:r>
          </a:p>
        </p:txBody>
      </p:sp>
      <p:sp>
        <p:nvSpPr>
          <p:cNvPr id="13" name="テキスト プレースホルダー 5">
            <a:extLst>
              <a:ext uri="{FF2B5EF4-FFF2-40B4-BE49-F238E27FC236}">
                <a16:creationId xmlns:a16="http://schemas.microsoft.com/office/drawing/2014/main" id="{20B091CB-20D5-214F-93C1-45FE2CD357BB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2377693" y="2815888"/>
            <a:ext cx="6439710" cy="36512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8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4" name="テキスト プレースホルダー 5">
            <a:extLst>
              <a:ext uri="{FF2B5EF4-FFF2-40B4-BE49-F238E27FC236}">
                <a16:creationId xmlns:a16="http://schemas.microsoft.com/office/drawing/2014/main" id="{3978276B-D489-5FF8-6E3F-298036D55C9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424382" y="2815888"/>
            <a:ext cx="700391" cy="36512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/>
            </a:lvl1pPr>
          </a:lstStyle>
          <a:p>
            <a:pPr lvl="0">
              <a:buNone/>
            </a:pPr>
            <a:r>
              <a:t>4</a:t>
            </a:r>
          </a:p>
        </p:txBody>
      </p:sp>
      <p:sp>
        <p:nvSpPr>
          <p:cNvPr id="15" name="テキスト プレースホルダー 5">
            <a:extLst>
              <a:ext uri="{FF2B5EF4-FFF2-40B4-BE49-F238E27FC236}">
                <a16:creationId xmlns:a16="http://schemas.microsoft.com/office/drawing/2014/main" id="{9219D0FB-590E-F868-C3BB-39327DE8C9A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2377693" y="3329435"/>
            <a:ext cx="6439710" cy="36512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8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6" name="テキスト プレースホルダー 5">
            <a:extLst>
              <a:ext uri="{FF2B5EF4-FFF2-40B4-BE49-F238E27FC236}">
                <a16:creationId xmlns:a16="http://schemas.microsoft.com/office/drawing/2014/main" id="{D575AAFF-1C98-3D7A-3543-F067D95F634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424382" y="3329435"/>
            <a:ext cx="700391" cy="36512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/>
            </a:lvl1pPr>
          </a:lstStyle>
          <a:p>
            <a:pPr lvl="0">
              <a:buNone/>
            </a:pPr>
            <a:r>
              <a:t>5</a:t>
            </a:r>
          </a:p>
        </p:txBody>
      </p:sp>
      <p:sp>
        <p:nvSpPr>
          <p:cNvPr id="17" name="テキスト プレースホルダー 5">
            <a:extLst>
              <a:ext uri="{FF2B5EF4-FFF2-40B4-BE49-F238E27FC236}">
                <a16:creationId xmlns:a16="http://schemas.microsoft.com/office/drawing/2014/main" id="{3281ACFC-2E6D-7490-39F2-CDB0B0B8A77D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2377693" y="3842982"/>
            <a:ext cx="6439710" cy="36512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8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18" name="テキスト プレースホルダー 5">
            <a:extLst>
              <a:ext uri="{FF2B5EF4-FFF2-40B4-BE49-F238E27FC236}">
                <a16:creationId xmlns:a16="http://schemas.microsoft.com/office/drawing/2014/main" id="{CD2E2B26-8F31-BA09-750E-131BB520DDD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24382" y="3842982"/>
            <a:ext cx="700391" cy="36512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/>
            </a:lvl1pPr>
          </a:lstStyle>
          <a:p>
            <a:pPr lvl="0">
              <a:buNone/>
            </a:pPr>
            <a:r>
              <a:t>6</a:t>
            </a:r>
          </a:p>
        </p:txBody>
      </p:sp>
      <p:sp>
        <p:nvSpPr>
          <p:cNvPr id="19" name="テキスト プレースホルダー 5">
            <a:extLst>
              <a:ext uri="{FF2B5EF4-FFF2-40B4-BE49-F238E27FC236}">
                <a16:creationId xmlns:a16="http://schemas.microsoft.com/office/drawing/2014/main" id="{777B207C-877E-04D7-E6E5-E40BC7C6401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2377693" y="4356529"/>
            <a:ext cx="6439710" cy="36512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8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0" name="テキスト プレースホルダー 5">
            <a:extLst>
              <a:ext uri="{FF2B5EF4-FFF2-40B4-BE49-F238E27FC236}">
                <a16:creationId xmlns:a16="http://schemas.microsoft.com/office/drawing/2014/main" id="{3D2708C4-D307-E962-46C8-66243B545CBB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1424382" y="4356529"/>
            <a:ext cx="700391" cy="36512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/>
            </a:lvl1pPr>
          </a:lstStyle>
          <a:p>
            <a:pPr lvl="0">
              <a:buNone/>
            </a:pPr>
            <a:r>
              <a:t>7</a:t>
            </a:r>
          </a:p>
        </p:txBody>
      </p:sp>
      <p:sp>
        <p:nvSpPr>
          <p:cNvPr id="21" name="テキスト プレースホルダー 5">
            <a:extLst>
              <a:ext uri="{FF2B5EF4-FFF2-40B4-BE49-F238E27FC236}">
                <a16:creationId xmlns:a16="http://schemas.microsoft.com/office/drawing/2014/main" id="{2A1E7782-AFD8-B7C2-F239-B8865FAB8E0D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2377693" y="4870076"/>
            <a:ext cx="6439710" cy="36512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8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2" name="テキスト プレースホルダー 5">
            <a:extLst>
              <a:ext uri="{FF2B5EF4-FFF2-40B4-BE49-F238E27FC236}">
                <a16:creationId xmlns:a16="http://schemas.microsoft.com/office/drawing/2014/main" id="{3BC35CCD-5E22-AFC7-E2E8-564C361C3F4C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424382" y="4870076"/>
            <a:ext cx="700391" cy="36512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/>
            </a:lvl1pPr>
          </a:lstStyle>
          <a:p>
            <a:pPr lvl="0">
              <a:buNone/>
            </a:pPr>
            <a:r>
              <a:t>8</a:t>
            </a:r>
          </a:p>
        </p:txBody>
      </p:sp>
      <p:sp>
        <p:nvSpPr>
          <p:cNvPr id="23" name="テキスト プレースホルダー 5">
            <a:extLst>
              <a:ext uri="{FF2B5EF4-FFF2-40B4-BE49-F238E27FC236}">
                <a16:creationId xmlns:a16="http://schemas.microsoft.com/office/drawing/2014/main" id="{BB4683FA-4B87-A78A-B910-4589A9D7C9CC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2377693" y="5383624"/>
            <a:ext cx="6439710" cy="36512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800"/>
            </a:lvl1pPr>
          </a:lstStyle>
          <a:p>
            <a:pPr lvl="0">
              <a:buNone/>
            </a:pPr>
            <a:endParaRPr/>
          </a:p>
        </p:txBody>
      </p:sp>
      <p:sp>
        <p:nvSpPr>
          <p:cNvPr id="24" name="テキスト プレースホルダー 5">
            <a:extLst>
              <a:ext uri="{FF2B5EF4-FFF2-40B4-BE49-F238E27FC236}">
                <a16:creationId xmlns:a16="http://schemas.microsoft.com/office/drawing/2014/main" id="{E2171636-54EA-73E9-05DB-139F60E7009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424382" y="5383624"/>
            <a:ext cx="700391" cy="36512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800"/>
            </a:lvl1pPr>
          </a:lstStyle>
          <a:p>
            <a:pPr lvl="0">
              <a:buNone/>
            </a:pPr>
            <a:r>
              <a:t>9</a:t>
            </a:r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ブリッ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94C6338-1E6B-15AB-4256-BAC36376EF76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Trainocate Japan, Ltd. All rights reserved.</a:t>
            </a:r>
          </a:p>
        </p:txBody>
      </p:sp>
      <p:pic>
        <p:nvPicPr>
          <p:cNvPr id="1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3376613"/>
            <a:ext cx="12192000" cy="104775"/>
          </a:xfrm>
          <a:prstGeom prst="rect">
            <a:avLst/>
          </a:prstGeom>
        </p:spPr>
      </p:pic>
      <p:sp>
        <p:nvSpPr>
          <p:cNvPr id="8" name="テキスト プレースホルダー 5">
            <a:extLst>
              <a:ext uri="{FF2B5EF4-FFF2-40B4-BE49-F238E27FC236}">
                <a16:creationId xmlns:a16="http://schemas.microsoft.com/office/drawing/2014/main" id="{AEDF78B1-BE5B-48EC-9361-84750B056AF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066800" y="2540006"/>
            <a:ext cx="10058400" cy="83091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4000"/>
            </a:lvl1pPr>
          </a:lstStyle>
          <a:p>
            <a:pPr lvl="0">
              <a:buNone/>
            </a:pPr>
            <a:r>
              <a:t>ブリッジタイトル</a:t>
            </a:r>
          </a:p>
        </p:txBody>
      </p:sp>
      <p:sp>
        <p:nvSpPr>
          <p:cNvPr id="9" name="テキスト プレースホルダー 5">
            <a:extLst>
              <a:ext uri="{FF2B5EF4-FFF2-40B4-BE49-F238E27FC236}">
                <a16:creationId xmlns:a16="http://schemas.microsoft.com/office/drawing/2014/main" id="{E982413E-7304-6189-9280-6ABF7212D9F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66800" y="3557595"/>
            <a:ext cx="10058400" cy="47253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2000"/>
            </a:lvl1pPr>
          </a:lstStyle>
          <a:p>
            <a:pPr lvl="0">
              <a:buNone/>
            </a:pPr>
            <a:r>
              <a:t>サブタイトル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契約スケジュー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直線コネクタ 32">
            <a:extLst>
              <a:ext uri="{FF2B5EF4-FFF2-40B4-BE49-F238E27FC236}">
                <a16:creationId xmlns:a16="http://schemas.microsoft.com/office/drawing/2014/main" id="{CFF05926-AF00-40FF-BE9C-D3D796AF7F35}"/>
              </a:ext>
            </a:extLst>
          </p:cNvPr>
          <p:cNvSpPr>
            <a:spLocks noGrp="1"/>
          </p:cNvSpPr>
          <p:nvPr/>
        </p:nvSpPr>
        <p:spPr>
          <a:xfrm>
            <a:off x="323850" y="619127"/>
            <a:ext cx="11520000" cy="0"/>
          </a:xfrm>
          <a:prstGeom prst="line">
            <a:avLst/>
          </a:prstGeom>
          <a:ln>
            <a:solidFill>
              <a:srgbClr val="FA4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70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29775" y="238127"/>
            <a:ext cx="2152650" cy="333375"/>
          </a:xfrm>
          <a:prstGeom prst="rect">
            <a:avLst/>
          </a:prstGeom>
        </p:spPr>
      </p:pic>
      <p:sp>
        <p:nvSpPr>
          <p:cNvPr id="23" name="フッター プレースホルダー 5">
            <a:extLst>
              <a:ext uri="{FF2B5EF4-FFF2-40B4-BE49-F238E27FC236}">
                <a16:creationId xmlns:a16="http://schemas.microsoft.com/office/drawing/2014/main" id="{AAC6FDC8-51DD-83AD-60EA-EB6B3B1F993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918393" y="6326826"/>
            <a:ext cx="32705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t>Trainocate Japan, Ltd. All rights reserved.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C6B974B-767C-7A17-2CD2-92E4C4FC9008}"/>
              </a:ext>
            </a:extLst>
          </p:cNvPr>
          <p:cNvSpPr>
            <a:spLocks noGrp="1"/>
          </p:cNvSpPr>
          <p:nvPr/>
        </p:nvSpPr>
        <p:spPr>
          <a:xfrm>
            <a:off x="5151805" y="1583266"/>
            <a:ext cx="1905557" cy="43726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8BB9583-C1C7-55C8-F73D-5802BD320D05}"/>
              </a:ext>
            </a:extLst>
          </p:cNvPr>
          <p:cNvSpPr>
            <a:spLocks noGrp="1"/>
          </p:cNvSpPr>
          <p:nvPr/>
        </p:nvSpPr>
        <p:spPr>
          <a:xfrm>
            <a:off x="3162067" y="1583265"/>
            <a:ext cx="1905557" cy="43726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9115815-7375-D0F8-E9F0-D31B09EEC1B9}"/>
              </a:ext>
            </a:extLst>
          </p:cNvPr>
          <p:cNvSpPr>
            <a:spLocks noGrp="1"/>
          </p:cNvSpPr>
          <p:nvPr/>
        </p:nvSpPr>
        <p:spPr>
          <a:xfrm>
            <a:off x="1188411" y="1583265"/>
            <a:ext cx="1905557" cy="4372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C1C36BF-C9F6-E37D-EB6B-261B05878B4A}"/>
              </a:ext>
            </a:extLst>
          </p:cNvPr>
          <p:cNvSpPr>
            <a:spLocks noGrp="1"/>
          </p:cNvSpPr>
          <p:nvPr/>
        </p:nvSpPr>
        <p:spPr>
          <a:xfrm>
            <a:off x="7134925" y="1583266"/>
            <a:ext cx="1905557" cy="43726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39C0EA1-C7A9-61A4-5B20-9948DDE9C9CA}"/>
              </a:ext>
            </a:extLst>
          </p:cNvPr>
          <p:cNvSpPr>
            <a:spLocks noGrp="1"/>
          </p:cNvSpPr>
          <p:nvPr/>
        </p:nvSpPr>
        <p:spPr>
          <a:xfrm>
            <a:off x="9118045" y="1583266"/>
            <a:ext cx="1905557" cy="43726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cxnSp>
        <p:nvCxnSpPr>
          <p:cNvPr id="77" name="直線矢印コネクタ 28"/>
          <p:cNvCxnSpPr/>
          <p:nvPr/>
        </p:nvCxnSpPr>
        <p:spPr>
          <a:xfrm>
            <a:off x="8925418" y="2450216"/>
            <a:ext cx="2216716" cy="0"/>
          </a:xfrm>
          <a:prstGeom prst="straightConnector1">
            <a:avLst/>
          </a:prstGeom>
          <a:ln w="76200">
            <a:solidFill>
              <a:srgbClr val="FA451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6FD4D07D-6E77-01E5-1920-4E9C44A574C2}"/>
              </a:ext>
            </a:extLst>
          </p:cNvPr>
          <p:cNvSpPr>
            <a:spLocks noGrp="1"/>
          </p:cNvSpPr>
          <p:nvPr/>
        </p:nvSpPr>
        <p:spPr>
          <a:xfrm>
            <a:off x="1589004" y="1772825"/>
            <a:ext cx="1193361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実施</a:t>
            </a:r>
          </a:p>
          <a:p>
            <a:pPr algn="ctr">
              <a:buNone/>
            </a:pPr>
            <a:r>
              <a:rPr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1ヶ月前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045956D-A8AC-1F06-563B-F748A1272E8B}"/>
              </a:ext>
            </a:extLst>
          </p:cNvPr>
          <p:cNvSpPr>
            <a:spLocks noGrp="1"/>
          </p:cNvSpPr>
          <p:nvPr/>
        </p:nvSpPr>
        <p:spPr>
          <a:xfrm>
            <a:off x="3483864" y="1772825"/>
            <a:ext cx="1193361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実施</a:t>
            </a:r>
          </a:p>
          <a:p>
            <a:pPr algn="ctr">
              <a:buNone/>
            </a:pPr>
            <a:r>
              <a:rPr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3週間前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30ED1F8-48ED-47BE-405D-B1EDED3FE5AA}"/>
              </a:ext>
            </a:extLst>
          </p:cNvPr>
          <p:cNvSpPr>
            <a:spLocks noGrp="1"/>
          </p:cNvSpPr>
          <p:nvPr/>
        </p:nvSpPr>
        <p:spPr>
          <a:xfrm>
            <a:off x="5280951" y="1772825"/>
            <a:ext cx="1604214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実施</a:t>
            </a:r>
          </a:p>
          <a:p>
            <a:pPr algn="ctr">
              <a:buNone/>
            </a:pPr>
            <a:r>
              <a:rPr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2~3営業日前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169062A-D3D5-BE64-1AC6-08F6EC3AAFB3}"/>
              </a:ext>
            </a:extLst>
          </p:cNvPr>
          <p:cNvSpPr>
            <a:spLocks noGrp="1"/>
          </p:cNvSpPr>
          <p:nvPr/>
        </p:nvSpPr>
        <p:spPr>
          <a:xfrm>
            <a:off x="9443080" y="1772825"/>
            <a:ext cx="1193361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5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実施</a:t>
            </a:r>
          </a:p>
          <a:p>
            <a:pPr algn="ctr">
              <a:buNone/>
            </a:pPr>
            <a:r>
              <a:rPr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2週間後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0C9C8D2-2804-61F8-A487-47499F17C1E1}"/>
              </a:ext>
            </a:extLst>
          </p:cNvPr>
          <p:cNvSpPr>
            <a:spLocks noGrp="1"/>
          </p:cNvSpPr>
          <p:nvPr/>
        </p:nvSpPr>
        <p:spPr>
          <a:xfrm>
            <a:off x="7382397" y="2282504"/>
            <a:ext cx="1418146" cy="338554"/>
          </a:xfrm>
          <a:prstGeom prst="rect">
            <a:avLst/>
          </a:prstGeom>
          <a:solidFill>
            <a:schemeClr val="bg1"/>
          </a:solidFill>
          <a:ln>
            <a:solidFill>
              <a:srgbClr val="FA4515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60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施策実施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A3BF1F2-75AF-5763-E2F0-EB15101A574A}"/>
              </a:ext>
            </a:extLst>
          </p:cNvPr>
          <p:cNvSpPr>
            <a:spLocks noGrp="1"/>
          </p:cNvSpPr>
          <p:nvPr/>
        </p:nvSpPr>
        <p:spPr>
          <a:xfrm>
            <a:off x="1251370" y="2856019"/>
            <a:ext cx="209016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sz="1600" b="1">
                <a:latin typeface="Meiryo UI"/>
                <a:ea typeface="Meiryo UI"/>
                <a:cs typeface="Meiryo UI"/>
              </a:rPr>
              <a:t>①研修内容の合意</a:t>
            </a:r>
          </a:p>
        </p:txBody>
      </p:sp>
      <p:cxnSp>
        <p:nvCxnSpPr>
          <p:cNvPr id="84" name="直線矢印コネクタ 38"/>
          <p:cNvCxnSpPr/>
          <p:nvPr/>
        </p:nvCxnSpPr>
        <p:spPr>
          <a:xfrm>
            <a:off x="1083733" y="2450216"/>
            <a:ext cx="6178677" cy="0"/>
          </a:xfrm>
          <a:prstGeom prst="straightConnector1">
            <a:avLst/>
          </a:prstGeom>
          <a:ln w="76200">
            <a:solidFill>
              <a:srgbClr val="FA451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FDB67BB-B1E5-3408-86EC-15A3369C8E26}"/>
              </a:ext>
            </a:extLst>
          </p:cNvPr>
          <p:cNvSpPr>
            <a:spLocks noGrp="1"/>
          </p:cNvSpPr>
          <p:nvPr/>
        </p:nvSpPr>
        <p:spPr>
          <a:xfrm>
            <a:off x="3230800" y="2856019"/>
            <a:ext cx="2126354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sz="1600" b="1">
                <a:latin typeface="Meiryo UI"/>
                <a:ea typeface="Meiryo UI"/>
                <a:cs typeface="Meiryo UI"/>
              </a:rPr>
              <a:t>③実施前のご確認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E26E712-0EAF-B04C-6E6C-1761D73E1472}"/>
              </a:ext>
            </a:extLst>
          </p:cNvPr>
          <p:cNvSpPr>
            <a:spLocks noGrp="1"/>
          </p:cNvSpPr>
          <p:nvPr/>
        </p:nvSpPr>
        <p:spPr>
          <a:xfrm>
            <a:off x="5307833" y="2856019"/>
            <a:ext cx="1705688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sz="1600" b="1">
                <a:latin typeface="Meiryo UI"/>
                <a:ea typeface="Meiryo UI"/>
                <a:cs typeface="Meiryo UI"/>
              </a:rPr>
              <a:t>④資材の到着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33A65B7-7C6A-1F3B-3CBD-F5C97FE4B8B2}"/>
              </a:ext>
            </a:extLst>
          </p:cNvPr>
          <p:cNvSpPr>
            <a:spLocks noGrp="1"/>
          </p:cNvSpPr>
          <p:nvPr/>
        </p:nvSpPr>
        <p:spPr>
          <a:xfrm>
            <a:off x="7262413" y="2856019"/>
            <a:ext cx="1571998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sz="1600" b="1">
                <a:latin typeface="Meiryo UI"/>
                <a:ea typeface="Meiryo UI"/>
                <a:cs typeface="Meiryo UI"/>
              </a:rPr>
              <a:t>⑤研修の実施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CA98464-3C9D-86F5-C9B7-E29EFC50DA01}"/>
              </a:ext>
            </a:extLst>
          </p:cNvPr>
          <p:cNvSpPr>
            <a:spLocks noGrp="1"/>
          </p:cNvSpPr>
          <p:nvPr/>
        </p:nvSpPr>
        <p:spPr>
          <a:xfrm>
            <a:off x="9202990" y="2856019"/>
            <a:ext cx="1786467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sz="1600" b="1">
                <a:latin typeface="Meiryo UI"/>
                <a:ea typeface="Meiryo UI"/>
                <a:cs typeface="Meiryo UI"/>
              </a:rPr>
              <a:t>⑥研修の評価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7A004F1-A5B4-9312-BDAF-FF78BA826A2E}"/>
              </a:ext>
            </a:extLst>
          </p:cNvPr>
          <p:cNvSpPr>
            <a:spLocks noGrp="1"/>
          </p:cNvSpPr>
          <p:nvPr/>
        </p:nvSpPr>
        <p:spPr>
          <a:xfrm>
            <a:off x="3240386" y="3166360"/>
            <a:ext cx="2126354" cy="1663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・研修会場の確認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・資材の確認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・運営方法の確認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・受講者に関する確認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・研修内容の確認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B94DBFB-088A-72E7-8CCB-F9AE904BBB82}"/>
              </a:ext>
            </a:extLst>
          </p:cNvPr>
          <p:cNvSpPr>
            <a:spLocks noGrp="1"/>
          </p:cNvSpPr>
          <p:nvPr/>
        </p:nvSpPr>
        <p:spPr>
          <a:xfrm>
            <a:off x="1292739" y="3164511"/>
            <a:ext cx="2126354" cy="133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・研修カリキュラム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・実施日程/実施場所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・講師人数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・実施方法等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0C1A22B-6EA6-28F1-8B28-114C76F3F7B3}"/>
              </a:ext>
            </a:extLst>
          </p:cNvPr>
          <p:cNvSpPr>
            <a:spLocks noGrp="1"/>
          </p:cNvSpPr>
          <p:nvPr/>
        </p:nvSpPr>
        <p:spPr>
          <a:xfrm>
            <a:off x="1205547" y="4692036"/>
            <a:ext cx="209016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sz="1600" b="1">
                <a:latin typeface="Meiryo UI"/>
                <a:ea typeface="Meiryo UI"/>
                <a:cs typeface="Meiryo UI"/>
              </a:rPr>
              <a:t>②ご契約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E874ADDA-C7A1-22F7-F306-41B894E61F9C}"/>
              </a:ext>
            </a:extLst>
          </p:cNvPr>
          <p:cNvSpPr>
            <a:spLocks noGrp="1"/>
          </p:cNvSpPr>
          <p:nvPr/>
        </p:nvSpPr>
        <p:spPr>
          <a:xfrm>
            <a:off x="1292739" y="5002377"/>
            <a:ext cx="2126354" cy="69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・日程/人数の確定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・契約合意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FB1EF9CC-2A8C-FAC6-7995-3E9DD4EB7B4D}"/>
              </a:ext>
            </a:extLst>
          </p:cNvPr>
          <p:cNvSpPr>
            <a:spLocks noGrp="1"/>
          </p:cNvSpPr>
          <p:nvPr/>
        </p:nvSpPr>
        <p:spPr>
          <a:xfrm>
            <a:off x="5347651" y="3166360"/>
            <a:ext cx="2126354" cy="37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・テキスト/資材納品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0B878E59-D9EE-A5E0-8166-A874D80874DD}"/>
              </a:ext>
            </a:extLst>
          </p:cNvPr>
          <p:cNvSpPr>
            <a:spLocks noGrp="1"/>
          </p:cNvSpPr>
          <p:nvPr/>
        </p:nvSpPr>
        <p:spPr>
          <a:xfrm>
            <a:off x="7299252" y="3194393"/>
            <a:ext cx="2126354" cy="37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・テキスト/資材返送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4830B77A-463A-4F85-BAB1-2094FD314518}"/>
              </a:ext>
            </a:extLst>
          </p:cNvPr>
          <p:cNvSpPr>
            <a:spLocks noGrp="1"/>
          </p:cNvSpPr>
          <p:nvPr/>
        </p:nvSpPr>
        <p:spPr>
          <a:xfrm>
            <a:off x="9268095" y="3194393"/>
            <a:ext cx="2126354" cy="1016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・講師所感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・アンケート結果</a:t>
            </a:r>
          </a:p>
          <a:p>
            <a:pPr>
              <a:lnSpc>
                <a:spcPct val="150000"/>
              </a:lnSpc>
              <a:buNone/>
            </a:pPr>
            <a:r>
              <a:rPr sz="1400">
                <a:latin typeface="Meiryo UI"/>
                <a:ea typeface="Meiryo UI"/>
                <a:cs typeface="Meiryo UI"/>
              </a:rPr>
              <a:t>・振り返り</a:t>
            </a:r>
          </a:p>
        </p:txBody>
      </p:sp>
      <p:sp>
        <p:nvSpPr>
          <p:cNvPr id="4" name="テキスト プレースホルダー 1">
            <a:extLst>
              <a:ext uri="{FF2B5EF4-FFF2-40B4-BE49-F238E27FC236}">
                <a16:creationId xmlns:a16="http://schemas.microsoft.com/office/drawing/2014/main" id="{73AA49D9-DAFB-5CC6-B14F-363A4FA08C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144" y="262622"/>
            <a:ext cx="8574847" cy="33337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buNone/>
            </a:pPr>
            <a:r>
              <a:t>タイトル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会社概要・実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図 3"/>
          <p:cNvPicPr>
            <a:picLocks noChangeAspect="1"/>
          </p:cNvPicPr>
          <p:nvPr/>
        </p:nvPicPr>
        <p:blipFill>
          <a:blip r:embed="rId2"/>
          <a:srcRect t="1330"/>
          <a:stretch/>
        </p:blipFill>
        <p:spPr>
          <a:xfrm rot="5400000">
            <a:off x="5266076" y="-5965"/>
            <a:ext cx="1576245" cy="10583118"/>
          </a:xfrm>
          <a:prstGeom prst="rect">
            <a:avLst/>
          </a:prstGeom>
        </p:spPr>
      </p:pic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F64FB920-E807-57A7-19A3-617014D2391F}"/>
              </a:ext>
            </a:extLst>
          </p:cNvPr>
          <p:cNvSpPr>
            <a:spLocks noGrp="1"/>
          </p:cNvSpPr>
          <p:nvPr/>
        </p:nvSpPr>
        <p:spPr>
          <a:xfrm>
            <a:off x="4913744" y="4652583"/>
            <a:ext cx="3859260" cy="137503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Wingdings"/>
              <a:buChar char="n"/>
              <a:defRPr sz="1400">
                <a:solidFill>
                  <a:schemeClr val="tx1"/>
                </a:solidFill>
                <a:latin typeface="Meiryo UI"/>
                <a:ea typeface="Meiryo UI"/>
                <a:cs typeface="Meiryo U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535113" indent="-285750" algn="l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200">
                <a:solidFill>
                  <a:schemeClr val="tx1"/>
                </a:solidFill>
                <a:latin typeface="Meiryo UI"/>
                <a:ea typeface="Meiryo UI"/>
                <a:cs typeface="Meiryo U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ctr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ctr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ctr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ctr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R="0" lvl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Tx/>
              <a:buNone/>
            </a:pPr>
            <a:r>
              <a:rPr b="1" i="0" u="none" cap="none">
                <a:ln>
                  <a:noFill/>
                </a:ln>
                <a:solidFill>
                  <a:srgbClr val="F36C37"/>
                </a:solidFill>
              </a:rPr>
              <a:t>所在地　</a:t>
            </a:r>
          </a:p>
          <a:p>
            <a:pPr marL="185738">
              <a:lnSpc>
                <a:spcPct val="100000"/>
              </a:lnSpc>
              <a:buClr>
                <a:prstClr val="black"/>
              </a:buCl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</a:rPr>
              <a:t>東京都新宿区西新宿6丁目8番1号</a:t>
            </a:r>
          </a:p>
          <a:p>
            <a:pPr marL="185738">
              <a:lnSpc>
                <a:spcPct val="100000"/>
              </a:lnSpc>
              <a:buClr>
                <a:prstClr val="black"/>
              </a:buCl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</a:rPr>
              <a:t>住友不動産新宿オークタワー20階</a:t>
            </a:r>
          </a:p>
          <a:p>
            <a:pPr marR="0" lvl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Tx/>
              <a:buNone/>
            </a:pPr>
            <a:r>
              <a:rPr b="1">
                <a:solidFill>
                  <a:srgbClr val="F36C37"/>
                </a:solidFill>
              </a:rPr>
              <a:t>代表取締役</a:t>
            </a:r>
          </a:p>
          <a:p>
            <a:pPr marL="185738" marR="0" lvl="0" indent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Tx/>
              <a:buFont typeface="Wingdings"/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</a:rPr>
              <a:t>早津　昌夫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CC58483-CF8C-90E9-4FF7-D7197DA61CA4}"/>
              </a:ext>
            </a:extLst>
          </p:cNvPr>
          <p:cNvSpPr>
            <a:spLocks noGrp="1"/>
          </p:cNvSpPr>
          <p:nvPr/>
        </p:nvSpPr>
        <p:spPr>
          <a:xfrm>
            <a:off x="3457464" y="1914230"/>
            <a:ext cx="2430474" cy="144655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2000">
                <a:latin typeface="Meiryo UI"/>
                <a:ea typeface="Meiryo UI"/>
                <a:cs typeface="Meiryo UI"/>
              </a:rPr>
              <a:t>世界</a:t>
            </a:r>
            <a:r>
              <a:rPr sz="4800">
                <a:solidFill>
                  <a:srgbClr val="FF0000"/>
                </a:solidFill>
                <a:latin typeface="Meiryo UI"/>
                <a:ea typeface="Meiryo UI"/>
                <a:cs typeface="Meiryo UI"/>
              </a:rPr>
              <a:t>15</a:t>
            </a:r>
            <a:r>
              <a:rPr sz="2000">
                <a:latin typeface="Meiryo UI"/>
                <a:ea typeface="Meiryo UI"/>
                <a:cs typeface="Meiryo UI"/>
              </a:rPr>
              <a:t>の</a:t>
            </a:r>
          </a:p>
          <a:p>
            <a:pPr algn="ctr">
              <a:buNone/>
            </a:pPr>
            <a:r>
              <a:rPr sz="2000">
                <a:latin typeface="Meiryo UI"/>
                <a:ea typeface="Meiryo UI"/>
                <a:cs typeface="Meiryo UI"/>
              </a:rPr>
              <a:t>国と地域に</a:t>
            </a:r>
          </a:p>
          <a:p>
            <a:pPr algn="ctr">
              <a:buNone/>
            </a:pPr>
            <a:r>
              <a:rPr sz="2000">
                <a:latin typeface="Meiryo UI"/>
                <a:ea typeface="Meiryo UI"/>
                <a:cs typeface="Meiryo UI"/>
              </a:rPr>
              <a:t>人材育成事業を展開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212D752-68E3-CE20-5E17-A3ED4F17DCA6}"/>
              </a:ext>
            </a:extLst>
          </p:cNvPr>
          <p:cNvSpPr>
            <a:spLocks noGrp="1"/>
          </p:cNvSpPr>
          <p:nvPr/>
        </p:nvSpPr>
        <p:spPr>
          <a:xfrm>
            <a:off x="1492074" y="5294226"/>
            <a:ext cx="231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chemeClr val="tx1">
                    <a:lumMod val="50000"/>
                    <a:lumOff val="50000"/>
                  </a:schemeClr>
                </a:solidFill>
                <a:latin typeface="Meiryo UI"/>
                <a:ea typeface="Meiryo UI"/>
                <a:cs typeface="Meiryo UI"/>
              </a:rPr>
              <a:t>トレノケート株式会社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14BECBB-E581-C6A7-0FBE-F46A42A7C498}"/>
              </a:ext>
            </a:extLst>
          </p:cNvPr>
          <p:cNvSpPr>
            <a:spLocks noGrp="1"/>
          </p:cNvSpPr>
          <p:nvPr/>
        </p:nvSpPr>
        <p:spPr>
          <a:xfrm>
            <a:off x="9638992" y="5821781"/>
            <a:ext cx="127797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>
                <a:latin typeface="Meiryo UI"/>
                <a:ea typeface="Meiryo UI"/>
                <a:cs typeface="Meiryo UI"/>
              </a:rPr>
              <a:t>※2024年5月時点</a:t>
            </a:r>
          </a:p>
        </p:txBody>
      </p:sp>
      <p:pic>
        <p:nvPicPr>
          <p:cNvPr id="32" name="図 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40498" y="4915686"/>
            <a:ext cx="2687955" cy="424414"/>
          </a:xfrm>
          <a:prstGeom prst="rect">
            <a:avLst/>
          </a:prstGeom>
        </p:spPr>
      </p:pic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2BCDB371-F3DF-7FE2-F28F-FA0FB02B7D90}"/>
              </a:ext>
            </a:extLst>
          </p:cNvPr>
          <p:cNvSpPr>
            <a:spLocks noGrp="1"/>
          </p:cNvSpPr>
          <p:nvPr/>
        </p:nvSpPr>
        <p:spPr>
          <a:xfrm>
            <a:off x="8162342" y="4649613"/>
            <a:ext cx="2754627" cy="116264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Wingdings"/>
              <a:buChar char="n"/>
              <a:defRPr sz="1400">
                <a:solidFill>
                  <a:schemeClr val="tx1"/>
                </a:solidFill>
                <a:latin typeface="Meiryo UI"/>
                <a:ea typeface="Meiryo UI"/>
                <a:cs typeface="Meiryo U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535113" indent="-285750" algn="l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1200">
                <a:solidFill>
                  <a:schemeClr val="tx1"/>
                </a:solidFill>
                <a:latin typeface="Meiryo UI"/>
                <a:ea typeface="Meiryo UI"/>
                <a:cs typeface="Meiryo U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ctr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ctr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ctr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ctr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R="0" lvl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Tx/>
              <a:buNone/>
            </a:pPr>
            <a:r>
              <a:rPr b="1" i="0" u="none" cap="none">
                <a:ln>
                  <a:noFill/>
                </a:ln>
                <a:solidFill>
                  <a:srgbClr val="F36C37"/>
                </a:solidFill>
              </a:rPr>
              <a:t>設立</a:t>
            </a:r>
          </a:p>
          <a:p>
            <a:pPr>
              <a:buClr>
                <a:prstClr val="black"/>
              </a:buCl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</a:rPr>
              <a:t>　　1995年12月6日</a:t>
            </a:r>
          </a:p>
          <a:p>
            <a:pPr marR="0" lvl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Tx/>
              <a:buNone/>
            </a:pPr>
            <a:endParaRPr sz="12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R="0" lvl="0" algn="l" defTabSz="45720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Tx/>
              <a:buNone/>
            </a:pPr>
            <a:r>
              <a:rPr b="1">
                <a:solidFill>
                  <a:srgbClr val="F36C37"/>
                </a:solidFill>
              </a:rPr>
              <a:t>従業員数</a:t>
            </a:r>
          </a:p>
          <a:p>
            <a:pPr>
              <a:buClr>
                <a:prstClr val="black"/>
              </a:buClr>
              <a:buNone/>
            </a:pPr>
            <a:r>
              <a:rPr sz="1800" b="1">
                <a:solidFill>
                  <a:srgbClr val="F0A22E"/>
                </a:solidFill>
              </a:rPr>
              <a:t>　 </a:t>
            </a: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</a:rPr>
              <a:t>159名</a:t>
            </a:r>
            <a:r>
              <a:rPr sz="1000">
                <a:solidFill>
                  <a:schemeClr val="tx1">
                    <a:lumMod val="75000"/>
                    <a:lumOff val="25000"/>
                  </a:schemeClr>
                </a:solidFill>
              </a:rPr>
              <a:t>（2024年7月時点）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D84945C-1CD2-38F6-1AFF-BFFC58801447}"/>
              </a:ext>
            </a:extLst>
          </p:cNvPr>
          <p:cNvSpPr>
            <a:spLocks noGrp="1"/>
          </p:cNvSpPr>
          <p:nvPr/>
        </p:nvSpPr>
        <p:spPr>
          <a:xfrm>
            <a:off x="816589" y="1785657"/>
            <a:ext cx="2069273" cy="2069273"/>
          </a:xfrm>
          <a:prstGeom prst="ellipse">
            <a:avLst/>
          </a:prstGeom>
          <a:noFill/>
          <a:ln>
            <a:solidFill>
              <a:srgbClr val="FA4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5ED8160-E0A1-B87B-B04E-698906A0A122}"/>
              </a:ext>
            </a:extLst>
          </p:cNvPr>
          <p:cNvSpPr>
            <a:spLocks noGrp="1"/>
          </p:cNvSpPr>
          <p:nvPr/>
        </p:nvSpPr>
        <p:spPr>
          <a:xfrm>
            <a:off x="423119" y="2305691"/>
            <a:ext cx="2856212" cy="113877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年間お取引企業</a:t>
            </a:r>
          </a:p>
          <a:p>
            <a:pPr algn="ctr">
              <a:buNone/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約</a:t>
            </a:r>
            <a:r>
              <a:rPr sz="480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1</a:t>
            </a:r>
            <a:r>
              <a:rPr sz="320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,</a:t>
            </a:r>
            <a:r>
              <a:rPr sz="480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400</a:t>
            </a: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社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EDEA8317-7B95-B12A-77DA-8E04690DD5C4}"/>
              </a:ext>
            </a:extLst>
          </p:cNvPr>
          <p:cNvSpPr>
            <a:spLocks noGrp="1"/>
          </p:cNvSpPr>
          <p:nvPr/>
        </p:nvSpPr>
        <p:spPr>
          <a:xfrm>
            <a:off x="3633258" y="1785657"/>
            <a:ext cx="2069273" cy="2069273"/>
          </a:xfrm>
          <a:prstGeom prst="ellipse">
            <a:avLst/>
          </a:prstGeom>
          <a:noFill/>
          <a:ln>
            <a:solidFill>
              <a:srgbClr val="FA4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B17A6A2-6C6B-CC2C-107C-856B2927D35F}"/>
              </a:ext>
            </a:extLst>
          </p:cNvPr>
          <p:cNvSpPr>
            <a:spLocks noGrp="1"/>
          </p:cNvSpPr>
          <p:nvPr/>
        </p:nvSpPr>
        <p:spPr>
          <a:xfrm>
            <a:off x="3395852" y="2103831"/>
            <a:ext cx="2430474" cy="144655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2000">
                <a:latin typeface="Meiryo UI"/>
                <a:ea typeface="Meiryo UI"/>
                <a:cs typeface="Meiryo UI"/>
              </a:rPr>
              <a:t>世界</a:t>
            </a:r>
            <a:r>
              <a:rPr sz="480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15</a:t>
            </a:r>
            <a:r>
              <a:rPr sz="2000">
                <a:latin typeface="Meiryo UI"/>
                <a:ea typeface="Meiryo UI"/>
                <a:cs typeface="Meiryo UI"/>
              </a:rPr>
              <a:t>の</a:t>
            </a:r>
          </a:p>
          <a:p>
            <a:pPr algn="ctr">
              <a:buNone/>
            </a:pPr>
            <a:r>
              <a:rPr sz="2000">
                <a:latin typeface="Meiryo UI"/>
                <a:ea typeface="Meiryo UI"/>
                <a:cs typeface="Meiryo UI"/>
              </a:rPr>
              <a:t>国と地域に</a:t>
            </a:r>
          </a:p>
          <a:p>
            <a:pPr algn="ctr">
              <a:buNone/>
            </a:pPr>
            <a:r>
              <a:rPr sz="2000">
                <a:latin typeface="Meiryo UI"/>
                <a:ea typeface="Meiryo UI"/>
                <a:cs typeface="Meiryo UI"/>
              </a:rPr>
              <a:t>人材育成事業を展開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A0F94E14-D798-8593-976B-40FBE5A2D514}"/>
              </a:ext>
            </a:extLst>
          </p:cNvPr>
          <p:cNvSpPr>
            <a:spLocks noGrp="1"/>
          </p:cNvSpPr>
          <p:nvPr/>
        </p:nvSpPr>
        <p:spPr>
          <a:xfrm>
            <a:off x="6422867" y="1744841"/>
            <a:ext cx="2069273" cy="2069273"/>
          </a:xfrm>
          <a:prstGeom prst="ellipse">
            <a:avLst/>
          </a:prstGeom>
          <a:noFill/>
          <a:ln>
            <a:solidFill>
              <a:srgbClr val="FA4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54507D49-9D25-389E-7010-258CF8722CCB}"/>
              </a:ext>
            </a:extLst>
          </p:cNvPr>
          <p:cNvSpPr>
            <a:spLocks noGrp="1"/>
          </p:cNvSpPr>
          <p:nvPr/>
        </p:nvSpPr>
        <p:spPr>
          <a:xfrm>
            <a:off x="9339284" y="1744841"/>
            <a:ext cx="2069273" cy="2069273"/>
          </a:xfrm>
          <a:prstGeom prst="ellipse">
            <a:avLst/>
          </a:prstGeom>
          <a:noFill/>
          <a:ln>
            <a:solidFill>
              <a:srgbClr val="FA4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563C356-A513-AAF1-6238-3E2F9F97F97F}"/>
              </a:ext>
            </a:extLst>
          </p:cNvPr>
          <p:cNvSpPr>
            <a:spLocks noGrp="1"/>
          </p:cNvSpPr>
          <p:nvPr/>
        </p:nvSpPr>
        <p:spPr>
          <a:xfrm>
            <a:off x="8963554" y="2259069"/>
            <a:ext cx="2747575" cy="113877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提供コース数</a:t>
            </a:r>
          </a:p>
          <a:p>
            <a:pPr algn="ctr">
              <a:buNone/>
            </a:pPr>
            <a:r>
              <a:rPr sz="480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1</a:t>
            </a:r>
            <a:r>
              <a:rPr sz="320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,</a:t>
            </a:r>
            <a:r>
              <a:rPr sz="480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500</a:t>
            </a:r>
            <a:r>
              <a:rPr sz="200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以上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82940DD-8D16-2054-2B89-2E49325C2DF1}"/>
              </a:ext>
            </a:extLst>
          </p:cNvPr>
          <p:cNvSpPr>
            <a:spLocks noGrp="1"/>
          </p:cNvSpPr>
          <p:nvPr/>
        </p:nvSpPr>
        <p:spPr>
          <a:xfrm>
            <a:off x="6004459" y="2222749"/>
            <a:ext cx="2906090" cy="113877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受講者数</a:t>
            </a:r>
          </a:p>
          <a:p>
            <a:pPr algn="ctr">
              <a:buNone/>
            </a:pPr>
            <a:r>
              <a:rPr sz="200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年間約</a:t>
            </a:r>
            <a:r>
              <a:rPr sz="4800" b="1">
                <a:solidFill>
                  <a:srgbClr val="FA4515"/>
                </a:solidFill>
                <a:latin typeface="Meiryo UI"/>
                <a:ea typeface="Meiryo UI"/>
                <a:cs typeface="Meiryo UI"/>
              </a:rPr>
              <a:t>6.9</a:t>
            </a:r>
            <a:r>
              <a:rPr sz="200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万人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2E5C442-4BAE-4C76-AEB0-085CBC9E9C4D}"/>
              </a:ext>
            </a:extLst>
          </p:cNvPr>
          <p:cNvSpPr>
            <a:spLocks noGrp="1"/>
          </p:cNvSpPr>
          <p:nvPr/>
        </p:nvSpPr>
        <p:spPr>
          <a:xfrm>
            <a:off x="697340" y="6197253"/>
            <a:ext cx="57255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latin typeface="Meiryo UI"/>
                <a:ea typeface="Meiryo UI"/>
                <a:cs typeface="Meiryo UI"/>
              </a:rPr>
              <a:t>＊ 2017年10月、社名を グローバルナレッジネットワーク株式会社 からトレノケート株式会社 へ変更いたしました。</a:t>
            </a:r>
          </a:p>
        </p:txBody>
      </p:sp>
      <p:sp>
        <p:nvSpPr>
          <p:cNvPr id="21" name="直線コネクタ 20">
            <a:extLst>
              <a:ext uri="{FF2B5EF4-FFF2-40B4-BE49-F238E27FC236}">
                <a16:creationId xmlns:a16="http://schemas.microsoft.com/office/drawing/2014/main" id="{B7C42026-8485-4D79-A97D-342DF2589EED}"/>
              </a:ext>
            </a:extLst>
          </p:cNvPr>
          <p:cNvSpPr>
            <a:spLocks noGrp="1"/>
          </p:cNvSpPr>
          <p:nvPr/>
        </p:nvSpPr>
        <p:spPr>
          <a:xfrm>
            <a:off x="323850" y="619127"/>
            <a:ext cx="11520000" cy="0"/>
          </a:xfrm>
          <a:prstGeom prst="line">
            <a:avLst/>
          </a:prstGeom>
          <a:ln>
            <a:solidFill>
              <a:srgbClr val="FA4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44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629775" y="238127"/>
            <a:ext cx="2152650" cy="333375"/>
          </a:xfrm>
          <a:prstGeom prst="rect">
            <a:avLst/>
          </a:prstGeom>
        </p:spPr>
      </p:pic>
      <p:sp>
        <p:nvSpPr>
          <p:cNvPr id="19" name="フッター プレースホルダー 5">
            <a:extLst>
              <a:ext uri="{FF2B5EF4-FFF2-40B4-BE49-F238E27FC236}">
                <a16:creationId xmlns:a16="http://schemas.microsoft.com/office/drawing/2014/main" id="{BBC96DD9-1296-FDFB-1F00-490AD265890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918393" y="6326826"/>
            <a:ext cx="32705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t>Trainocate Japan, Ltd. All rights reserved.</a:t>
            </a:r>
          </a:p>
        </p:txBody>
      </p:sp>
      <p:sp>
        <p:nvSpPr>
          <p:cNvPr id="23" name="テキスト プレースホルダー 1">
            <a:extLst>
              <a:ext uri="{FF2B5EF4-FFF2-40B4-BE49-F238E27FC236}">
                <a16:creationId xmlns:a16="http://schemas.microsoft.com/office/drawing/2014/main" id="{FC4D17F3-0482-9444-4CD3-B78751C51C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144" y="262622"/>
            <a:ext cx="8574847" cy="33337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buNone/>
            </a:pPr>
            <a:r>
              <a:t>タイトル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ートナーシップ・受賞実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475BC49-809D-8113-37D2-98E4F0B4F17D}"/>
              </a:ext>
            </a:extLst>
          </p:cNvPr>
          <p:cNvSpPr>
            <a:spLocks noGrp="1"/>
          </p:cNvSpPr>
          <p:nvPr/>
        </p:nvSpPr>
        <p:spPr>
          <a:xfrm>
            <a:off x="602804" y="4669977"/>
            <a:ext cx="10748368" cy="1453747"/>
          </a:xfrm>
          <a:prstGeom prst="rect">
            <a:avLst/>
          </a:prstGeom>
          <a:noFill/>
          <a:ln>
            <a:solidFill>
              <a:srgbClr val="FA4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AD7871-4DC0-E172-A8A4-DD836487CEBF}"/>
              </a:ext>
            </a:extLst>
          </p:cNvPr>
          <p:cNvSpPr>
            <a:spLocks noGrp="1"/>
          </p:cNvSpPr>
          <p:nvPr/>
        </p:nvSpPr>
        <p:spPr>
          <a:xfrm>
            <a:off x="10798963" y="5794632"/>
            <a:ext cx="5179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prstClr val="black"/>
              </a:buCl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など</a:t>
            </a:r>
          </a:p>
        </p:txBody>
      </p:sp>
      <p:pic>
        <p:nvPicPr>
          <p:cNvPr id="41" name="図 5"/>
          <p:cNvPicPr>
            <a:picLocks noChangeAspect="1"/>
          </p:cNvPicPr>
          <p:nvPr/>
        </p:nvPicPr>
        <p:blipFill rotWithShape="1">
          <a:blip r:embed="rId2"/>
          <a:srcRect l="38268" t="34277" r="52366" b="58397"/>
          <a:stretch/>
        </p:blipFill>
        <p:spPr>
          <a:xfrm>
            <a:off x="7041103" y="1942835"/>
            <a:ext cx="2340947" cy="991806"/>
          </a:xfrm>
          <a:prstGeom prst="rect">
            <a:avLst/>
          </a:prstGeom>
        </p:spPr>
      </p:pic>
      <p:pic>
        <p:nvPicPr>
          <p:cNvPr id="42" name="図 6"/>
          <p:cNvPicPr>
            <a:picLocks noChangeAspect="1"/>
          </p:cNvPicPr>
          <p:nvPr/>
        </p:nvPicPr>
        <p:blipFill rotWithShape="1">
          <a:blip r:embed="rId2"/>
          <a:srcRect l="39976" t="24766" r="52875" b="65823"/>
          <a:stretch/>
        </p:blipFill>
        <p:spPr>
          <a:xfrm>
            <a:off x="4068726" y="1874350"/>
            <a:ext cx="1860025" cy="1326371"/>
          </a:xfrm>
          <a:prstGeom prst="rect">
            <a:avLst/>
          </a:prstGeom>
        </p:spPr>
      </p:pic>
      <p:pic>
        <p:nvPicPr>
          <p:cNvPr id="43" name="図 7"/>
          <p:cNvPicPr>
            <a:picLocks noChangeAspect="1"/>
          </p:cNvPicPr>
          <p:nvPr/>
        </p:nvPicPr>
        <p:blipFill rotWithShape="1">
          <a:blip r:embed="rId2"/>
          <a:srcRect l="50106" t="24766" r="38259" b="65823"/>
          <a:stretch/>
        </p:blipFill>
        <p:spPr>
          <a:xfrm>
            <a:off x="5244104" y="3339414"/>
            <a:ext cx="2424308" cy="1062184"/>
          </a:xfrm>
          <a:prstGeom prst="rect">
            <a:avLst/>
          </a:prstGeom>
        </p:spPr>
      </p:pic>
      <p:pic>
        <p:nvPicPr>
          <p:cNvPr id="44" name="図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71" y="3304948"/>
            <a:ext cx="1362767" cy="1081852"/>
          </a:xfrm>
          <a:prstGeom prst="rect">
            <a:avLst/>
          </a:prstGeom>
        </p:spPr>
      </p:pic>
      <p:pic>
        <p:nvPicPr>
          <p:cNvPr id="45" name="図 9"/>
          <p:cNvPicPr>
            <a:picLocks noChangeAspect="1"/>
          </p:cNvPicPr>
          <p:nvPr/>
        </p:nvPicPr>
        <p:blipFill rotWithShape="1">
          <a:blip r:embed="rId2"/>
          <a:srcRect l="18318" t="24766" r="75583" b="65823"/>
          <a:stretch/>
        </p:blipFill>
        <p:spPr>
          <a:xfrm>
            <a:off x="2767616" y="1876213"/>
            <a:ext cx="1410988" cy="1179501"/>
          </a:xfrm>
          <a:prstGeom prst="rect">
            <a:avLst/>
          </a:prstGeom>
        </p:spPr>
      </p:pic>
      <p:pic>
        <p:nvPicPr>
          <p:cNvPr id="46" name="図 10"/>
          <p:cNvPicPr>
            <a:picLocks noChangeAspect="1"/>
          </p:cNvPicPr>
          <p:nvPr/>
        </p:nvPicPr>
        <p:blipFill rotWithShape="1">
          <a:blip r:embed="rId2"/>
          <a:srcRect l="62095" t="33588" r="25007" b="58397"/>
          <a:stretch/>
        </p:blipFill>
        <p:spPr>
          <a:xfrm>
            <a:off x="2827108" y="3323158"/>
            <a:ext cx="2702992" cy="909785"/>
          </a:xfrm>
          <a:prstGeom prst="rect">
            <a:avLst/>
          </a:prstGeom>
        </p:spPr>
      </p:pic>
      <p:pic>
        <p:nvPicPr>
          <p:cNvPr id="47" name="図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8751" y="1935670"/>
            <a:ext cx="1050650" cy="106058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6813DC5-FE74-29E9-F0A4-264DB70C90C8}"/>
              </a:ext>
            </a:extLst>
          </p:cNvPr>
          <p:cNvSpPr>
            <a:spLocks noGrp="1"/>
          </p:cNvSpPr>
          <p:nvPr/>
        </p:nvSpPr>
        <p:spPr>
          <a:xfrm>
            <a:off x="1207294" y="1141605"/>
            <a:ext cx="9503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5738" algn="ctr">
              <a:lnSpc>
                <a:spcPct val="100000"/>
              </a:lnSpc>
              <a:buNone/>
            </a:pPr>
            <a:r>
              <a:rPr>
                <a:latin typeface="Meiryo UI"/>
                <a:ea typeface="Meiryo UI"/>
                <a:cs typeface="Meiryo UI"/>
              </a:rPr>
              <a:t>ITとビジネスを牽引する世界有数のベンダー各社との強固なパートナーシップ、アワード受賞実績多数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203A8CC-F7FE-9636-580B-423669C66E19}"/>
              </a:ext>
            </a:extLst>
          </p:cNvPr>
          <p:cNvSpPr>
            <a:spLocks noGrp="1"/>
          </p:cNvSpPr>
          <p:nvPr/>
        </p:nvSpPr>
        <p:spPr>
          <a:xfrm>
            <a:off x="1944426" y="5094251"/>
            <a:ext cx="2262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Meiryo UI"/>
                <a:ea typeface="Meiryo UI"/>
                <a:cs typeface="Meiryo UI"/>
              </a:rPr>
              <a:t>4年連続、世界で最も優れた</a:t>
            </a:r>
          </a:p>
          <a:p>
            <a:r>
              <a:rPr sz="1000">
                <a:latin typeface="Meiryo UI"/>
                <a:ea typeface="Meiryo UI"/>
                <a:cs typeface="Meiryo UI"/>
              </a:rPr>
              <a:t> IT 研修企業 20 </a:t>
            </a:r>
          </a:p>
          <a:p>
            <a:r>
              <a:rPr sz="1000">
                <a:latin typeface="Meiryo UI"/>
                <a:ea typeface="Meiryo UI"/>
                <a:cs typeface="Meiryo UI"/>
              </a:rPr>
              <a:t>Top IT &amp; Technical Training Companies選出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830E030-37A4-5DC0-5C8F-8FB65BB98D27}"/>
              </a:ext>
            </a:extLst>
          </p:cNvPr>
          <p:cNvSpPr>
            <a:spLocks noGrp="1"/>
          </p:cNvSpPr>
          <p:nvPr/>
        </p:nvSpPr>
        <p:spPr>
          <a:xfrm>
            <a:off x="4795261" y="5089100"/>
            <a:ext cx="1531134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0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２年連続</a:t>
            </a:r>
          </a:p>
          <a:p>
            <a:r>
              <a:rPr sz="100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AWS Training Partner of the Year – Global Award</a:t>
            </a:r>
          </a:p>
        </p:txBody>
      </p:sp>
      <p:pic>
        <p:nvPicPr>
          <p:cNvPr id="51" name="グラフィックス 1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6898" y="5249869"/>
            <a:ext cx="453194" cy="453194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77552E6-A067-E901-AC3C-5785CAA027B1}"/>
              </a:ext>
            </a:extLst>
          </p:cNvPr>
          <p:cNvSpPr>
            <a:spLocks noGrp="1"/>
          </p:cNvSpPr>
          <p:nvPr/>
        </p:nvSpPr>
        <p:spPr>
          <a:xfrm>
            <a:off x="7068399" y="5096509"/>
            <a:ext cx="1531134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050">
                <a:solidFill>
                  <a:schemeClr val="tx1">
                    <a:lumMod val="75000"/>
                    <a:lumOff val="25000"/>
                  </a:schemeClr>
                </a:solidFill>
                <a:latin typeface="Meiryo UI"/>
                <a:ea typeface="Meiryo UI"/>
                <a:cs typeface="Meiryo UI"/>
              </a:rPr>
              <a:t>Cisco Learning Partner of the Year APJC 2023</a:t>
            </a:r>
          </a:p>
        </p:txBody>
      </p:sp>
      <p:pic>
        <p:nvPicPr>
          <p:cNvPr id="53" name="Picture 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04522" y="5077920"/>
            <a:ext cx="690592" cy="734672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0ECAA77-0CB8-4A20-60B8-BDF952413C06}"/>
              </a:ext>
            </a:extLst>
          </p:cNvPr>
          <p:cNvSpPr>
            <a:spLocks noGrp="1"/>
          </p:cNvSpPr>
          <p:nvPr/>
        </p:nvSpPr>
        <p:spPr>
          <a:xfrm>
            <a:off x="9395617" y="5249869"/>
            <a:ext cx="19069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Meiryo UI"/>
                <a:ea typeface="Meiryo UI"/>
                <a:cs typeface="Meiryo UI"/>
              </a:rPr>
              <a:t> 総務省主催</a:t>
            </a:r>
          </a:p>
          <a:p>
            <a:r>
              <a:rPr sz="900">
                <a:latin typeface="Meiryo UI"/>
                <a:ea typeface="Meiryo UI"/>
                <a:cs typeface="Meiryo UI"/>
              </a:rPr>
              <a:t>「テレワーク先駆者百選」に選出</a:t>
            </a:r>
          </a:p>
          <a:p>
            <a:r>
              <a:rPr sz="900">
                <a:latin typeface="Meiryo UI"/>
                <a:ea typeface="Meiryo UI"/>
                <a:cs typeface="Meiryo UI"/>
              </a:rPr>
              <a:t>(2022年11月)</a:t>
            </a:r>
          </a:p>
        </p:txBody>
      </p:sp>
      <p:pic>
        <p:nvPicPr>
          <p:cNvPr id="55" name="図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0332" y="5022445"/>
            <a:ext cx="747371" cy="910687"/>
          </a:xfrm>
          <a:prstGeom prst="rect">
            <a:avLst/>
          </a:prstGeom>
        </p:spPr>
      </p:pic>
      <p:sp>
        <p:nvSpPr>
          <p:cNvPr id="21" name="Freeform 10">
            <a:extLst>
              <a:ext uri="{FF2B5EF4-FFF2-40B4-BE49-F238E27FC236}">
                <a16:creationId xmlns:a16="http://schemas.microsoft.com/office/drawing/2014/main" id="{7D34A842-F9CB-FBD5-2BDF-8AE4514EDDC8}"/>
              </a:ext>
            </a:extLst>
          </p:cNvPr>
          <p:cNvSpPr>
            <a:spLocks noGrp="1"/>
          </p:cNvSpPr>
          <p:nvPr/>
        </p:nvSpPr>
        <p:spPr>
          <a:xfrm>
            <a:off x="3972086" y="5078548"/>
            <a:ext cx="775953" cy="806725"/>
          </a:xfrm>
          <a:custGeom>
            <a:avLst/>
            <a:gdLst/>
            <a:ahLst/>
            <a:cxnLst/>
            <a:rect l="l" t="t" r="r" b="b"/>
            <a:pathLst>
              <a:path w="3358519" h="3491708">
                <a:moveTo>
                  <a:pt x="0" y="0"/>
                </a:moveTo>
                <a:lnTo>
                  <a:pt x="3358520" y="0"/>
                </a:lnTo>
                <a:lnTo>
                  <a:pt x="3358520" y="3491708"/>
                </a:lnTo>
                <a:lnTo>
                  <a:pt x="0" y="34917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68DD0C3-5262-5306-C9D2-F3F35787AEFA}"/>
              </a:ext>
            </a:extLst>
          </p:cNvPr>
          <p:cNvSpPr>
            <a:spLocks noGrp="1"/>
          </p:cNvSpPr>
          <p:nvPr/>
        </p:nvSpPr>
        <p:spPr>
          <a:xfrm>
            <a:off x="4502546" y="4516120"/>
            <a:ext cx="2912533" cy="267561"/>
          </a:xfrm>
          <a:prstGeom prst="rect">
            <a:avLst/>
          </a:prstGeom>
          <a:solidFill>
            <a:srgbClr val="FA4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>
                <a:latin typeface="Meiryo UI"/>
                <a:ea typeface="Meiryo UI"/>
                <a:cs typeface="Meiryo UI"/>
              </a:rPr>
              <a:t>受賞実績</a:t>
            </a:r>
          </a:p>
        </p:txBody>
      </p:sp>
      <p:pic>
        <p:nvPicPr>
          <p:cNvPr id="58" name="Picture 5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629775" y="238127"/>
            <a:ext cx="2152650" cy="333375"/>
          </a:xfrm>
          <a:prstGeom prst="rect">
            <a:avLst/>
          </a:prstGeom>
        </p:spPr>
      </p:pic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24499805-861B-442E-A9E7-6F5DB909C177}"/>
              </a:ext>
            </a:extLst>
          </p:cNvPr>
          <p:cNvSpPr>
            <a:spLocks noGrp="1"/>
          </p:cNvSpPr>
          <p:nvPr/>
        </p:nvSpPr>
        <p:spPr>
          <a:xfrm>
            <a:off x="323850" y="619127"/>
            <a:ext cx="11520000" cy="0"/>
          </a:xfrm>
          <a:prstGeom prst="line">
            <a:avLst/>
          </a:prstGeom>
          <a:ln>
            <a:solidFill>
              <a:srgbClr val="FA4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フッター プレースホルダー 5">
            <a:extLst>
              <a:ext uri="{FF2B5EF4-FFF2-40B4-BE49-F238E27FC236}">
                <a16:creationId xmlns:a16="http://schemas.microsoft.com/office/drawing/2014/main" id="{4EBA05D0-5197-2D93-FF99-8040261A9B8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918393" y="6326826"/>
            <a:ext cx="32705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t>Trainocate Japan, Ltd. All rights reserved.</a:t>
            </a:r>
          </a:p>
        </p:txBody>
      </p:sp>
      <p:sp>
        <p:nvSpPr>
          <p:cNvPr id="24" name="テキスト プレースホルダー 1">
            <a:extLst>
              <a:ext uri="{FF2B5EF4-FFF2-40B4-BE49-F238E27FC236}">
                <a16:creationId xmlns:a16="http://schemas.microsoft.com/office/drawing/2014/main" id="{990F967C-11A9-4603-8107-D53B1751A70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55144" y="262622"/>
            <a:ext cx="8574847" cy="33337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buNone/>
            </a:pPr>
            <a:r>
              <a:t>タイトル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823" y="665959"/>
            <a:ext cx="9888354" cy="616693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0CEB44-312D-725C-7E69-B5FF173B6470}"/>
              </a:ext>
            </a:extLst>
          </p:cNvPr>
          <p:cNvSpPr>
            <a:spLocks noGrp="1"/>
          </p:cNvSpPr>
          <p:nvPr/>
        </p:nvSpPr>
        <p:spPr>
          <a:xfrm>
            <a:off x="1813561" y="2403670"/>
            <a:ext cx="37783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600" b="1" i="0" u="none">
                <a:solidFill>
                  <a:srgbClr val="FA4515"/>
                </a:solidFill>
                <a:latin typeface="Malgun Gothic"/>
                <a:ea typeface="Malgun Gothic"/>
                <a:cs typeface="Malgun Gothic"/>
              </a:rPr>
              <a:t>Vision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7864EF-416C-FED0-9623-2E9DD8456763}"/>
              </a:ext>
            </a:extLst>
          </p:cNvPr>
          <p:cNvSpPr>
            <a:spLocks noGrp="1"/>
          </p:cNvSpPr>
          <p:nvPr/>
        </p:nvSpPr>
        <p:spPr>
          <a:xfrm>
            <a:off x="5158773" y="3035579"/>
            <a:ext cx="50652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6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HiraKakuStd-W8"/>
                <a:ea typeface="HiraKakuStd-W8"/>
                <a:cs typeface="HiraKakuStd-W8"/>
              </a:rPr>
              <a:t>世界を変える「人」を育てる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67A0BD9-23BC-2B08-C5A4-0A303744755A}"/>
              </a:ext>
            </a:extLst>
          </p:cNvPr>
          <p:cNvSpPr>
            <a:spLocks noGrp="1"/>
          </p:cNvSpPr>
          <p:nvPr/>
        </p:nvSpPr>
        <p:spPr>
          <a:xfrm>
            <a:off x="4713974" y="3706697"/>
            <a:ext cx="6097604" cy="1450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12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游ゴシック"/>
                <a:ea typeface="游ゴシック"/>
                <a:cs typeface="游ゴシック"/>
              </a:rPr>
              <a:t>トレノケートは30 年の歴史を持つ人材育成の専門企業です。</a:t>
            </a:r>
          </a:p>
          <a:p>
            <a:pPr algn="ctr">
              <a:lnSpc>
                <a:spcPct val="150000"/>
              </a:lnSpc>
              <a:buNone/>
            </a:pPr>
            <a:r>
              <a:rPr sz="12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游ゴシック"/>
                <a:ea typeface="游ゴシック"/>
                <a:cs typeface="游ゴシック"/>
              </a:rPr>
              <a:t>「人」は学びや経験によって、</a:t>
            </a:r>
          </a:p>
          <a:p>
            <a:pPr algn="ctr">
              <a:lnSpc>
                <a:spcPct val="150000"/>
              </a:lnSpc>
              <a:buNone/>
            </a:pPr>
            <a:r>
              <a:rPr sz="12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游ゴシック"/>
                <a:ea typeface="游ゴシック"/>
                <a:cs typeface="游ゴシック"/>
              </a:rPr>
              <a:t>振る舞いや考え方が変わり能力が向上していきます。</a:t>
            </a:r>
          </a:p>
          <a:p>
            <a:pPr algn="ctr">
              <a:lnSpc>
                <a:spcPct val="150000"/>
              </a:lnSpc>
              <a:buNone/>
            </a:pPr>
            <a:r>
              <a:rPr sz="12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游ゴシック"/>
                <a:ea typeface="游ゴシック"/>
                <a:cs typeface="游ゴシック"/>
              </a:rPr>
              <a:t>トレノケートは人材育成の未来を主導することで、</a:t>
            </a:r>
          </a:p>
          <a:p>
            <a:pPr algn="ctr">
              <a:lnSpc>
                <a:spcPct val="150000"/>
              </a:lnSpc>
              <a:buNone/>
            </a:pPr>
            <a:r>
              <a:rPr sz="12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游ゴシック"/>
                <a:ea typeface="游ゴシック"/>
                <a:cs typeface="游ゴシック"/>
              </a:rPr>
              <a:t>そうした変化や向上を目指す全ての人を支援します。</a:t>
            </a:r>
          </a:p>
        </p:txBody>
      </p:sp>
      <p:pic>
        <p:nvPicPr>
          <p:cNvPr id="14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29775" y="238127"/>
            <a:ext cx="2152650" cy="333375"/>
          </a:xfrm>
          <a:prstGeom prst="rect">
            <a:avLst/>
          </a:prstGeom>
        </p:spPr>
      </p:pic>
      <p:sp>
        <p:nvSpPr>
          <p:cNvPr id="2" name="直線コネクタ 1">
            <a:extLst>
              <a:ext uri="{FF2B5EF4-FFF2-40B4-BE49-F238E27FC236}">
                <a16:creationId xmlns:a16="http://schemas.microsoft.com/office/drawing/2014/main" id="{8DE56468-C38A-491B-8FB8-9300B4D167C4}"/>
              </a:ext>
            </a:extLst>
          </p:cNvPr>
          <p:cNvSpPr>
            <a:spLocks noGrp="1"/>
          </p:cNvSpPr>
          <p:nvPr/>
        </p:nvSpPr>
        <p:spPr>
          <a:xfrm>
            <a:off x="323850" y="619127"/>
            <a:ext cx="11520000" cy="0"/>
          </a:xfrm>
          <a:prstGeom prst="line">
            <a:avLst/>
          </a:prstGeom>
          <a:ln>
            <a:solidFill>
              <a:srgbClr val="FA451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18835" y="3011053"/>
            <a:ext cx="5293995" cy="8358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ブリッジ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V="1">
            <a:off x="0" y="3642337"/>
            <a:ext cx="12192000" cy="132075"/>
          </a:xfrm>
          <a:prstGeom prst="rect">
            <a:avLst/>
          </a:prstGeom>
          <a:ln>
            <a:noFill/>
          </a:ln>
        </p:spPr>
      </p:pic>
      <p:pic>
        <p:nvPicPr>
          <p:cNvPr id="6" name="図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37785" y="4855683"/>
            <a:ext cx="2954215" cy="2002317"/>
          </a:xfrm>
          <a:prstGeom prst="rect">
            <a:avLst/>
          </a:prstGeom>
          <a:ln>
            <a:noFill/>
          </a:ln>
        </p:spPr>
      </p:pic>
      <p:sp>
        <p:nvSpPr>
          <p:cNvPr id="2" name="Rectangle 8">
            <a:extLst>
              <a:ext uri="{FF2B5EF4-FFF2-40B4-BE49-F238E27FC236}">
                <a16:creationId xmlns:a16="http://schemas.microsoft.com/office/drawing/2014/main" id="{69E05685-6020-F3AD-E9EE-A2BE3B0E5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567" y="3042348"/>
            <a:ext cx="10440000" cy="576000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ctr">
              <a:buNone/>
              <a:defRPr sz="2800" b="1" baseline="0">
                <a:solidFill>
                  <a:schemeClr val="tx2"/>
                </a:solidFill>
                <a:latin typeface="+mj-ea"/>
                <a:ea typeface="+mj-ea"/>
                <a:cs typeface="+mj-ea"/>
              </a:defRPr>
            </a:lvl1pPr>
          </a:lstStyle>
          <a:p>
            <a:pPr lvl="0">
              <a:buNone/>
            </a:pPr>
            <a:r>
              <a:t>マスター タイトルの書式設定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56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A366F5-A061-D445-2049-792361A2F99D}"/>
              </a:ext>
            </a:extLst>
          </p:cNvPr>
          <p:cNvSpPr>
            <a:spLocks noGrp="1"/>
          </p:cNvSpPr>
          <p:nvPr/>
        </p:nvSpPr>
        <p:spPr>
          <a:xfrm>
            <a:off x="11296996" y="6368391"/>
            <a:ext cx="10141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57F6346-B425-445C-8F68-AAACBD0D4168}" type="slidenum">
              <a:rPr sz="1200">
                <a:solidFill>
                  <a:schemeClr val="tx2"/>
                </a:solidFill>
              </a:rPr>
              <a:t>‹#›</a:t>
            </a:fld>
            <a:endParaRPr sz="1200">
              <a:solidFill>
                <a:schemeClr val="tx2"/>
              </a:solidFill>
            </a:endParaRPr>
          </a:p>
        </p:txBody>
      </p:sp>
      <p:sp>
        <p:nvSpPr>
          <p:cNvPr id="4" name="フッター プレースホルダー 5">
            <a:extLst>
              <a:ext uri="{FF2B5EF4-FFF2-40B4-BE49-F238E27FC236}">
                <a16:creationId xmlns:a16="http://schemas.microsoft.com/office/drawing/2014/main" id="{3AB1CE96-6EA5-6FB1-776E-69CB060C7B3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7918393" y="6326826"/>
            <a:ext cx="327053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t>Trainocate Japan, Ltd. All rights reserved.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1600" b="1" kern="1200">
          <a:solidFill>
            <a:schemeClr val="tx2"/>
          </a:solidFill>
          <a:latin typeface="+mj-ea"/>
          <a:ea typeface="+mj-ea"/>
          <a:cs typeface="+mj-ea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図 3"/>
          <p:cNvPicPr>
            <a:picLocks noChangeAspect="1"/>
          </p:cNvPicPr>
          <p:nvPr/>
        </p:nvPicPr>
        <p:blipFill>
          <a:blip r:embed="rId3"/>
          <a:srcRect t="231" b="-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図 13"/>
          <p:cNvPicPr>
            <a:picLocks noChangeAspect="1"/>
          </p:cNvPicPr>
          <p:nvPr/>
        </p:nvPicPr>
        <p:blipFill>
          <a:blip r:embed="rId4">
            <a:clrChange>
              <a:clrFrom>
                <a:srgbClr val="FA4515"/>
              </a:clrFrom>
              <a:clrTo>
                <a:srgbClr val="FA451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5119" y="3822574"/>
            <a:ext cx="3005395" cy="478016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07C1EFD-B0BF-B1F1-AF51-FB281FD868E7}"/>
              </a:ext>
            </a:extLst>
          </p:cNvPr>
          <p:cNvSpPr>
            <a:spLocks noGrp="1"/>
          </p:cNvSpPr>
          <p:nvPr/>
        </p:nvSpPr>
        <p:spPr>
          <a:xfrm>
            <a:off x="499805" y="2905462"/>
            <a:ext cx="910056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rPr sz="3000" b="1" i="0" u="none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2027年度入社 内定者向け研修　カリキュラム改訂のご提案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8A09009-65E1-54DA-26EA-A11D40EA22C3}"/>
              </a:ext>
            </a:extLst>
          </p:cNvPr>
          <p:cNvSpPr>
            <a:spLocks noGrp="1"/>
          </p:cNvSpPr>
          <p:nvPr/>
        </p:nvSpPr>
        <p:spPr>
          <a:xfrm>
            <a:off x="9775369" y="5898053"/>
            <a:ext cx="198964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600" b="0" i="0" u="none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トレノケート株式会社</a:t>
            </a:r>
          </a:p>
          <a:p>
            <a:pPr algn="r">
              <a:buNone/>
            </a:pPr>
            <a:r>
              <a:rPr sz="1600" b="0" i="0" u="none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2026/7/31</a:t>
            </a:r>
          </a:p>
        </p:txBody>
      </p:sp>
      <p:sp>
        <p:nvSpPr>
          <p:cNvPr id="19" name="タイトル 1">
            <a:extLst>
              <a:ext uri="{FF2B5EF4-FFF2-40B4-BE49-F238E27FC236}">
                <a16:creationId xmlns:a16="http://schemas.microsoft.com/office/drawing/2014/main" id="{52C22B32-35CB-FC2E-AA14-D12C790ECCCF}"/>
              </a:ext>
            </a:extLst>
          </p:cNvPr>
          <p:cNvSpPr>
            <a:spLocks noGrp="1"/>
          </p:cNvSpPr>
          <p:nvPr/>
        </p:nvSpPr>
        <p:spPr>
          <a:xfrm>
            <a:off x="309959" y="308531"/>
            <a:ext cx="5786041" cy="43207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algn="l" defTabSz="914400">
              <a:lnSpc>
                <a:spcPct val="90000"/>
              </a:lnSpc>
              <a:spcBef>
                <a:spcPct val="0"/>
              </a:spcBef>
              <a:buNone/>
              <a:defRPr sz="28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メイリオ"/>
                <a:ea typeface="メイリオ"/>
                <a:cs typeface="メイリオ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sz="20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ニッセイ情報テクノロジー株式会社　 御中</a:t>
            </a:r>
          </a:p>
        </p:txBody>
      </p:sp>
      <p:sp>
        <p:nvSpPr>
          <p:cNvPr id="2" name="直線コネクタ 1">
            <a:extLst>
              <a:ext uri="{FF2B5EF4-FFF2-40B4-BE49-F238E27FC236}">
                <a16:creationId xmlns:a16="http://schemas.microsoft.com/office/drawing/2014/main" id="{C4FD34D7-1D61-4B8D-A995-B5D47D9B65AE}"/>
              </a:ext>
            </a:extLst>
          </p:cNvPr>
          <p:cNvSpPr>
            <a:spLocks noGrp="1"/>
          </p:cNvSpPr>
          <p:nvPr/>
        </p:nvSpPr>
        <p:spPr>
          <a:xfrm>
            <a:off x="565119" y="3662918"/>
            <a:ext cx="116268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52967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F0029232-05A4-36B3-B8BF-42424FB08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0"/>
              <a:t>ITシステム入門（貴社向けカスタマイズ）オンライン開催</a:t>
            </a:r>
          </a:p>
        </p:txBody>
      </p:sp>
      <p:graphicFrame>
        <p:nvGraphicFramePr>
          <p:cNvPr id="25" name="Group 42"/>
          <p:cNvGraphicFramePr/>
          <p:nvPr>
            <p:extLst>
              <p:ext uri="{D42A27DB-BD31-4B8C-83A1-F6EECF244321}">
                <p14:modId xmlns:p14="http://schemas.microsoft.com/office/powerpoint/2010/main" val="1578107940"/>
              </p:ext>
            </p:extLst>
          </p:nvPr>
        </p:nvGraphicFramePr>
        <p:xfrm>
          <a:off x="411480" y="2117834"/>
          <a:ext cx="11330941" cy="369589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3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4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5898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latin typeface="Meiryo UI"/>
                          <a:ea typeface="Meiryo UI"/>
                          <a:cs typeface="Meiryo UI"/>
                        </a:rPr>
                        <a:t>９:00</a:t>
                      </a: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endParaRPr sz="1000" b="0" i="0" u="none" cap="none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endParaRPr sz="1000" b="0" i="0" u="none" cap="none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r>
                        <a:rPr sz="1200" b="0" i="0" u="none" cap="none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latin typeface="Meiryo UI"/>
                          <a:ea typeface="Meiryo UI"/>
                          <a:cs typeface="Meiryo UI"/>
                        </a:rPr>
                        <a:t>～</a:t>
                      </a: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endParaRPr sz="1200" b="0" i="0" u="none" cap="none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endParaRPr sz="1200" b="0" i="0" u="none" cap="none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latin typeface="Meiryo UI"/>
                          <a:ea typeface="Meiryo UI"/>
                          <a:cs typeface="Meiryo UI"/>
                        </a:rPr>
                        <a:t>17:30</a:t>
                      </a:r>
                    </a:p>
                  </a:txBody>
                  <a:tcPr marL="75614" marR="75614" marT="35988" marB="35988" anchor="ctr" horzOverflow="overflow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0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eiryo UI"/>
                          <a:ea typeface="Meiryo UI"/>
                          <a:cs typeface="Meiryo UI"/>
                        </a:rPr>
                        <a:t>9:00～9:15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NIT様講話</a:t>
                      </a:r>
                      <a:endParaRPr sz="1000" b="1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algn="l">
                        <a:buNone/>
                      </a:pPr>
                      <a:endParaRPr sz="1000" b="1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algn="l">
                        <a:buNone/>
                      </a:pPr>
                      <a:r>
                        <a:rPr sz="10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eiryo UI"/>
                          <a:ea typeface="Meiryo UI"/>
                          <a:cs typeface="Meiryo UI"/>
                        </a:rPr>
                        <a:t>9:15～17:10</a:t>
                      </a:r>
                    </a:p>
                    <a:p>
                      <a:pPr algn="l">
                        <a:buNone/>
                      </a:pPr>
                      <a:endParaRPr sz="1000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algn="l">
                        <a:buNone/>
                      </a:pPr>
                      <a:r>
                        <a:rPr sz="1000" b="1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1.ビジネスとITシステム</a:t>
                      </a:r>
                    </a:p>
                    <a:p>
                      <a:pPr algn="l"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 </a:t>
                      </a:r>
                      <a:r>
                        <a:rPr sz="9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-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ビジネスとは</a:t>
                      </a:r>
                      <a:endParaRPr sz="900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algn="l"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 -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システムとは</a:t>
                      </a:r>
                      <a:endParaRPr sz="900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 -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ビジネスとITシステムのかかわり</a:t>
                      </a:r>
                      <a:endParaRPr sz="900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 - </a:t>
                      </a:r>
                      <a:r>
                        <a:rPr sz="900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ITシステムの役割</a:t>
                      </a:r>
                      <a:endParaRPr sz="900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algn="l">
                        <a:buNone/>
                      </a:pPr>
                      <a:endParaRPr sz="900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419100" marR="0" lvl="0" indent="-41910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r>
                        <a:rPr sz="1000" b="1" i="0" u="non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2．Webの仕組み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Tx/>
                        <a:buNone/>
                      </a:pPr>
                      <a:r>
                        <a:rPr sz="900" b="0" i="0" u="non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- </a:t>
                      </a:r>
                      <a:r>
                        <a:rPr sz="900" b="0" i="0" u="none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身近なWebシステムについて考える</a:t>
                      </a:r>
                      <a:endParaRPr sz="900" b="0" i="0" u="non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419100" marR="0" lvl="0" indent="-41910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r>
                        <a:rPr sz="900" b="0" i="0" u="non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- </a:t>
                      </a:r>
                      <a:r>
                        <a:rPr sz="900" b="0" i="0" u="none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Webの仕組み</a:t>
                      </a:r>
                      <a:endParaRPr sz="900" b="0" i="0" u="non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419100" marR="0" lvl="0" indent="-41910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r>
                        <a:rPr sz="900" b="0" i="0" u="non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- Web3層モデル</a:t>
                      </a:r>
                    </a:p>
                    <a:p>
                      <a:pPr marL="171450" marR="0" lvl="0" indent="-17145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Tx/>
                        <a:buChar char="-"/>
                      </a:pPr>
                      <a:endParaRPr sz="900" b="0" i="0" u="non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419100" marR="0" lvl="0" indent="-41910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r>
                        <a:rPr sz="1000" b="1" i="0" u="non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3．Webを支える要素技術</a:t>
                      </a:r>
                    </a:p>
                    <a:p>
                      <a:pPr marL="419100" marR="0" lvl="0" indent="-41910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r>
                        <a:rPr sz="900" b="0" i="0" u="non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- </a:t>
                      </a:r>
                      <a:r>
                        <a:rPr sz="900" b="0" i="0" u="none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HTTP通信</a:t>
                      </a:r>
                      <a:endParaRPr sz="900" b="0" i="0" u="non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419100" marR="0" lvl="0" indent="-41910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r>
                        <a:rPr sz="900" b="0" i="0" u="non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- </a:t>
                      </a:r>
                      <a:r>
                        <a:rPr sz="900" b="0" i="0" u="none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静的コンテンツ（HTML、CSS、JavaScript</a:t>
                      </a:r>
                      <a:r>
                        <a:rPr sz="900" b="0" i="0" u="non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）</a:t>
                      </a:r>
                    </a:p>
                    <a:p>
                      <a:pPr marL="419100" marR="0" lvl="0" indent="-41910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r>
                        <a:rPr sz="900" b="0" i="0" u="non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- </a:t>
                      </a:r>
                      <a:r>
                        <a:rPr sz="900" b="0" i="0" u="none" cap="none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Webシステムに関連する要素</a:t>
                      </a:r>
                      <a:endParaRPr sz="900" b="0" i="0" u="non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419100" marR="0" lvl="0" indent="-419100" algn="l" defTabSz="91440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B98F00"/>
                        </a:buClr>
                        <a:buSzPct val="95000"/>
                        <a:buFont typeface="Wingdings"/>
                        <a:buNone/>
                      </a:pPr>
                      <a:endParaRPr sz="900" b="0" i="0" u="non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</a:txBody>
                  <a:tcPr marL="75614" marR="75614" marT="35988" marB="35988" horzOverflow="overflow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4. </a:t>
                      </a:r>
                      <a:r>
                        <a:rPr sz="1000" b="1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プログラミングとは</a:t>
                      </a:r>
                      <a:r>
                        <a:rPr sz="1000" b="1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  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・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プログラミングとは</a:t>
                      </a:r>
                      <a:endParaRPr sz="1000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・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コンピュータシステムとプログラミング</a:t>
                      </a:r>
                      <a:endParaRPr sz="1000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  <a:latin typeface="Meiryo UI"/>
                          <a:ea typeface="Meiryo UI"/>
                          <a:cs typeface="Meiryo UI"/>
                        </a:rPr>
                        <a:t>25年度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000" b="1" dirty="0">
                        <a:solidFill>
                          <a:schemeClr val="tx1"/>
                        </a:solidFill>
                        <a:highlight>
                          <a:srgbClr val="00FFFF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dirty="0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5.アルゴリズムとは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・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アルゴリズムとは</a:t>
                      </a:r>
                      <a:endParaRPr sz="1000" dirty="0">
                        <a:solidFill>
                          <a:schemeClr val="tx1"/>
                        </a:solidFill>
                        <a:highlight>
                          <a:srgbClr val="FBE3D6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・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なぜアルゴリズムが必要か</a:t>
                      </a:r>
                      <a:endParaRPr sz="1000" dirty="0">
                        <a:solidFill>
                          <a:schemeClr val="tx1"/>
                        </a:solidFill>
                        <a:highlight>
                          <a:srgbClr val="FBE3D6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highlight>
                          <a:srgbClr val="FBE3D6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dirty="0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6.フローチャートとは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・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フローチャートとは</a:t>
                      </a:r>
                      <a:endParaRPr sz="1000" dirty="0">
                        <a:solidFill>
                          <a:schemeClr val="tx1"/>
                        </a:solidFill>
                        <a:highlight>
                          <a:srgbClr val="FBE3D6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・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フローチャートを考えてみよう</a:t>
                      </a:r>
                      <a:endParaRPr sz="1000" dirty="0">
                        <a:solidFill>
                          <a:schemeClr val="tx1"/>
                        </a:solidFill>
                        <a:highlight>
                          <a:srgbClr val="FBE3D6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highlight>
                          <a:srgbClr val="FBE3D6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1" dirty="0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7.フローチャートを考えてみよう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・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構造化プログラミング</a:t>
                      </a:r>
                      <a:endParaRPr sz="1000" dirty="0">
                        <a:solidFill>
                          <a:schemeClr val="tx1"/>
                        </a:solidFill>
                        <a:highlight>
                          <a:srgbClr val="FBE3D6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・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順次、選択、繰り返し</a:t>
                      </a:r>
                      <a:endParaRPr sz="1000" dirty="0">
                        <a:solidFill>
                          <a:schemeClr val="tx1"/>
                        </a:solidFill>
                        <a:highlight>
                          <a:srgbClr val="FBE3D6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dirty="0" err="1">
                          <a:solidFill>
                            <a:schemeClr val="tx1"/>
                          </a:solidFill>
                          <a:highlight>
                            <a:srgbClr val="FBE3D6"/>
                          </a:highlight>
                          <a:latin typeface="Meiryo UI"/>
                          <a:ea typeface="Meiryo UI"/>
                          <a:cs typeface="Meiryo UI"/>
                        </a:rPr>
                        <a:t>演習：フローチャート作成</a:t>
                      </a:r>
                      <a:endParaRPr sz="1000" dirty="0">
                        <a:solidFill>
                          <a:schemeClr val="tx1"/>
                        </a:solidFill>
                        <a:highlight>
                          <a:srgbClr val="FBE3D6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algn="l"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highlight>
                          <a:srgbClr val="FBE3D6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algn="l"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highlight>
                          <a:srgbClr val="FBE3D6"/>
                        </a:highlight>
                        <a:latin typeface="Meiryo UI"/>
                        <a:ea typeface="Meiryo UI"/>
                        <a:cs typeface="Meiryo UI"/>
                      </a:endParaRPr>
                    </a:p>
                    <a:p>
                      <a:pPr algn="l">
                        <a:buNone/>
                      </a:pPr>
                      <a:r>
                        <a:rPr sz="1000" b="1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8.ビジネスを遂行するうえで必要とされるスキル・心構え</a:t>
                      </a:r>
                    </a:p>
                    <a:p>
                      <a:pPr algn="l">
                        <a:buNone/>
                      </a:pPr>
                      <a:r>
                        <a:rPr sz="10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 - 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ITエンジニアの役割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 </a:t>
                      </a:r>
                      <a:br>
                        <a:rPr dirty="0"/>
                      </a:br>
                      <a:r>
                        <a:rPr sz="900" b="0" dirty="0">
                          <a:solidFill>
                            <a:srgbClr val="FF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</a:t>
                      </a:r>
                      <a:r>
                        <a:rPr sz="9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Meiryo UI"/>
                          <a:ea typeface="Meiryo UI"/>
                          <a:cs typeface="Meiryo UI"/>
                        </a:rPr>
                        <a:t>17:10～17:30  </a:t>
                      </a:r>
                      <a:r>
                        <a:rPr sz="900" b="1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NIT様より連絡事項</a:t>
                      </a:r>
                      <a:endParaRPr sz="900" b="1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</a:txBody>
                  <a:tcPr marL="75614" marR="75614" marT="35988" marB="35988" horzOverflow="overflow">
                    <a:lnL w="3175" cmpd="sng">
                      <a:solidFill>
                        <a:schemeClr val="tx1"/>
                      </a:solidFill>
                      <a:prstDash val="solid"/>
                    </a:lnL>
                    <a:lnR w="3175" cmpd="sng">
                      <a:solidFill>
                        <a:schemeClr val="tx1"/>
                      </a:solidFill>
                      <a:prstDash val="solid"/>
                    </a:lnR>
                    <a:lnT w="3175" cmpd="sng">
                      <a:solidFill>
                        <a:schemeClr val="tx1"/>
                      </a:solidFill>
                      <a:prstDash val="solid"/>
                    </a:lnT>
                    <a:lnB w="3175" cmpd="sng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Group 41"/>
          <p:cNvGraphicFramePr/>
          <p:nvPr/>
        </p:nvGraphicFramePr>
        <p:xfrm>
          <a:off x="411480" y="695464"/>
          <a:ext cx="11330941" cy="1404784"/>
        </p:xfrm>
        <a:graphic>
          <a:graphicData uri="http://schemas.openxmlformats.org/drawingml/2006/table">
            <a:tbl>
              <a:tblPr/>
              <a:tblGrid>
                <a:gridCol w="85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8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10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07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8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18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026">
                <a:tc>
                  <a:txBody>
                    <a:bodyPr/>
                    <a:lstStyle/>
                    <a:p>
                      <a:pPr marL="0" marR="0" lvl="0" indent="0" algn="ctr" defTabSz="871538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Meiryo UI"/>
                          <a:ea typeface="Meiryo UI"/>
                          <a:cs typeface="Meiryo UI"/>
                        </a:rPr>
                        <a:t>日数</a:t>
                      </a:r>
                    </a:p>
                  </a:txBody>
                  <a:tcPr marL="75600" marR="75600" marT="35997" marB="35997" anchor="ctr" horzOverflow="overflow">
                    <a:lnL w="28575" cmpd="sng">
                      <a:solidFill>
                        <a:schemeClr val="bg1"/>
                      </a:solidFill>
                      <a:prstDash val="solid"/>
                    </a:lnL>
                    <a:lnR w="28575" cmpd="sng">
                      <a:solidFill>
                        <a:schemeClr val="bg1"/>
                      </a:solidFill>
                      <a:prstDash val="solid"/>
                    </a:lnR>
                    <a:lnT w="28575" cmpd="sng">
                      <a:solidFill>
                        <a:schemeClr val="bg1"/>
                      </a:solidFill>
                      <a:prstDash val="solid"/>
                    </a:lnT>
                    <a:lnB w="28575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871538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</a:pPr>
                      <a:r>
                        <a:rPr sz="11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1日間 </a:t>
                      </a:r>
                      <a:r>
                        <a:rPr sz="1100" b="1" i="0" u="none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Meiryo UI"/>
                          <a:ea typeface="Meiryo UI"/>
                          <a:cs typeface="Meiryo UI"/>
                        </a:rPr>
                        <a:t>（9:15～17:10）</a:t>
                      </a:r>
                    </a:p>
                    <a:p>
                      <a:pPr marL="0" marR="0" lvl="0" indent="0" algn="ctr" defTabSz="871538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srgbClr val="404040"/>
                          </a:solidFill>
                          <a:latin typeface="Meiryo UI"/>
                          <a:ea typeface="Meiryo UI"/>
                          <a:cs typeface="Meiryo UI"/>
                        </a:rPr>
                        <a:t>＊セミナー全体は9:00～17：30</a:t>
                      </a:r>
                    </a:p>
                  </a:txBody>
                  <a:tcPr marL="75600" marR="75600" marT="35997" marB="35997" anchor="ctr" horzOverflow="overflow">
                    <a:lnL w="28575" cmpd="sng">
                      <a:solidFill>
                        <a:schemeClr val="bg1"/>
                      </a:solidFill>
                      <a:prstDash val="solid"/>
                    </a:lnL>
                    <a:lnR w="28575" cmpd="sng">
                      <a:solidFill>
                        <a:schemeClr val="bg1"/>
                      </a:solidFill>
                      <a:prstDash val="solid"/>
                    </a:lnR>
                    <a:lnT w="28575" cmpd="sng">
                      <a:solidFill>
                        <a:schemeClr val="bg1"/>
                      </a:solidFill>
                      <a:prstDash val="solid"/>
                    </a:lnT>
                    <a:lnB w="28575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871538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Meiryo UI"/>
                          <a:ea typeface="Meiryo UI"/>
                          <a:cs typeface="Meiryo UI"/>
                        </a:rPr>
                        <a:t>形式</a:t>
                      </a:r>
                    </a:p>
                  </a:txBody>
                  <a:tcPr marL="75600" marR="75600" marT="35997" marB="35997" anchor="ctr" horzOverflow="overflow">
                    <a:lnL w="28575" cmpd="sng">
                      <a:solidFill>
                        <a:schemeClr val="bg1"/>
                      </a:solidFill>
                      <a:prstDash val="solid"/>
                    </a:lnL>
                    <a:lnR w="28575" cmpd="sng">
                      <a:solidFill>
                        <a:schemeClr val="bg1"/>
                      </a:solidFill>
                      <a:prstDash val="solid"/>
                    </a:lnR>
                    <a:lnT w="28575" cmpd="sng">
                      <a:solidFill>
                        <a:schemeClr val="bg1"/>
                      </a:solidFill>
                      <a:prstDash val="solid"/>
                    </a:lnT>
                    <a:lnB w="28575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871538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</a:pPr>
                      <a:r>
                        <a:rPr sz="1000" b="0" i="0" u="non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講義＋演習</a:t>
                      </a:r>
                    </a:p>
                  </a:txBody>
                  <a:tcPr marL="75600" marR="75600" marT="35997" marB="35997" anchor="ctr" horzOverflow="overflow">
                    <a:lnL w="28575" cmpd="sng">
                      <a:solidFill>
                        <a:schemeClr val="bg1"/>
                      </a:solidFill>
                      <a:prstDash val="solid"/>
                    </a:lnL>
                    <a:lnR w="28575" cmpd="sng">
                      <a:solidFill>
                        <a:schemeClr val="bg1"/>
                      </a:solidFill>
                      <a:prstDash val="solid"/>
                    </a:lnR>
                    <a:lnT w="28575" cmpd="sng">
                      <a:solidFill>
                        <a:schemeClr val="bg1"/>
                      </a:solidFill>
                      <a:prstDash val="solid"/>
                    </a:lnT>
                    <a:lnB w="28575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76">
                <a:tc>
                  <a:txBody>
                    <a:bodyPr/>
                    <a:lstStyle/>
                    <a:p>
                      <a:pPr marL="0" marR="0" lvl="0" indent="0" algn="ctr" defTabSz="871538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</a:pPr>
                      <a:r>
                        <a:rPr sz="1000" b="1" i="0" u="none" cap="none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Meiryo UI"/>
                          <a:ea typeface="Meiryo UI"/>
                          <a:cs typeface="Meiryo UI"/>
                        </a:rPr>
                        <a:t>概要</a:t>
                      </a:r>
                    </a:p>
                  </a:txBody>
                  <a:tcPr marL="75600" marR="75600" marT="35997" marB="35997" anchor="ctr" horzOverflow="overflow">
                    <a:lnL w="28575" cmpd="sng">
                      <a:solidFill>
                        <a:schemeClr val="bg1"/>
                      </a:solidFill>
                      <a:prstDash val="solid"/>
                    </a:lnL>
                    <a:lnR w="28575" cmpd="sng">
                      <a:solidFill>
                        <a:schemeClr val="bg1"/>
                      </a:solidFill>
                      <a:prstDash val="solid"/>
                    </a:lnR>
                    <a:lnT w="28575" cmpd="sng">
                      <a:solidFill>
                        <a:schemeClr val="bg1"/>
                      </a:solidFill>
                      <a:prstDash val="solid"/>
                    </a:lnT>
                    <a:lnB w="28575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latin typeface="Meiryo UI"/>
                          <a:ea typeface="Meiryo UI"/>
                          <a:cs typeface="Meiryo UI"/>
                        </a:rPr>
                        <a:t>入社後、ITスキルを学ぶ動機付けとして研修を行います。</a:t>
                      </a:r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>
                          <a:latin typeface="Meiryo UI"/>
                          <a:ea typeface="Meiryo UI"/>
                          <a:cs typeface="Meiryo UI"/>
                        </a:rPr>
                        <a:t>ITシステムがどのように使われ構成されているかを知り、身近なWebシステムの仕組みを具体的にイメージできるように講義・演習を進めます。また、プログラミング思考力のベース作りとFE対策として基本をかみ砕いてご説明し、なぜアルゴリズムが必要なのか、ロジカルな思考力の必要性を理解できるような構成とします。最後にITエンジニアの役割とは何なのかを知り考えることで、10月以降の学びの動機づけを狙います。</a:t>
                      </a:r>
                    </a:p>
                  </a:txBody>
                  <a:tcPr marL="75600" marR="75600" marT="35997" marB="35997" horzOverflow="overflow">
                    <a:lnL w="28575" cmpd="sng">
                      <a:solidFill>
                        <a:schemeClr val="bg1"/>
                      </a:solidFill>
                      <a:prstDash val="solid"/>
                    </a:lnL>
                    <a:lnR w="28575" cmpd="sng">
                      <a:solidFill>
                        <a:schemeClr val="bg1"/>
                      </a:solidFill>
                      <a:prstDash val="solid"/>
                    </a:lnR>
                    <a:lnT w="28575" cmpd="sng">
                      <a:solidFill>
                        <a:schemeClr val="bg1"/>
                      </a:solidFill>
                      <a:prstDash val="solid"/>
                    </a:lnT>
                    <a:lnB w="28575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076">
                <a:tc>
                  <a:txBody>
                    <a:bodyPr/>
                    <a:lstStyle/>
                    <a:p>
                      <a:pPr marL="0" marR="0" lvl="0" indent="0" algn="ctr" defTabSz="871538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/>
                        <a:buNone/>
                      </a:pPr>
                      <a:r>
                        <a:rPr sz="1000" b="1" i="0" u="none" cap="none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Meiryo UI"/>
                          <a:ea typeface="Meiryo UI"/>
                          <a:cs typeface="Meiryo UI"/>
                        </a:rPr>
                        <a:t>学習目標</a:t>
                      </a:r>
                      <a:endParaRPr sz="1000" b="1" i="0" u="none" cap="none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</a:txBody>
                  <a:tcPr marL="75600" marR="75600" marT="35997" marB="35997" anchor="ctr" horzOverflow="overflow">
                    <a:lnL w="28575" cmpd="sng">
                      <a:solidFill>
                        <a:schemeClr val="bg1"/>
                      </a:solidFill>
                      <a:prstDash val="solid"/>
                    </a:lnL>
                    <a:lnR w="28575" cmpd="sng">
                      <a:solidFill>
                        <a:schemeClr val="bg1"/>
                      </a:solidFill>
                      <a:prstDash val="solid"/>
                    </a:lnR>
                    <a:lnT w="28575" cmpd="sng">
                      <a:solidFill>
                        <a:schemeClr val="bg1"/>
                      </a:solidFill>
                      <a:prstDash val="solid"/>
                    </a:lnT>
                    <a:lnB w="28575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ビジネスとITシステムとのかかわりを理解する</a:t>
                      </a:r>
                    </a:p>
                  </a:txBody>
                  <a:tcPr marL="75600" marR="75600" marT="35997" marB="35997" anchor="ctr" horzOverflow="overflow">
                    <a:lnL w="28575" cmpd="sng">
                      <a:solidFill>
                        <a:schemeClr val="bg1"/>
                      </a:solidFill>
                      <a:prstDash val="solid"/>
                    </a:lnL>
                    <a:lnR w="28575" cmpd="sng">
                      <a:solidFill>
                        <a:schemeClr val="bg1"/>
                      </a:solidFill>
                      <a:prstDash val="solid"/>
                    </a:lnR>
                    <a:lnT w="28575" cmpd="sng">
                      <a:solidFill>
                        <a:schemeClr val="bg1"/>
                      </a:solidFill>
                      <a:prstDash val="solid"/>
                    </a:lnT>
                    <a:lnB w="28575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71450" marR="0" lvl="0" indent="-1714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Webシステムの全体像を理解する</a:t>
                      </a:r>
                    </a:p>
                  </a:txBody>
                  <a:tcPr marL="75600" marR="75600" marT="35997" marB="35997" anchor="ctr" horzOverflow="overflow">
                    <a:lnL w="28575" cmpd="sng">
                      <a:solidFill>
                        <a:schemeClr val="bg1"/>
                      </a:solidFill>
                      <a:prstDash val="solid"/>
                    </a:lnL>
                    <a:lnR w="28575" cmpd="sng">
                      <a:solidFill>
                        <a:schemeClr val="bg1"/>
                      </a:solidFill>
                      <a:prstDash val="solid"/>
                    </a:lnR>
                    <a:lnT w="28575" cmpd="sng">
                      <a:solidFill>
                        <a:schemeClr val="bg1"/>
                      </a:solidFill>
                      <a:prstDash val="solid"/>
                    </a:lnT>
                    <a:lnB w="28575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アルゴリズムの必要性を理解する</a:t>
                      </a:r>
                    </a:p>
                  </a:txBody>
                  <a:tcPr marL="75600" marR="75600" marT="35997" marB="35997" anchor="ctr" horzOverflow="overflow">
                    <a:lnL w="28575" cmpd="sng">
                      <a:solidFill>
                        <a:schemeClr val="bg1"/>
                      </a:solidFill>
                      <a:prstDash val="solid"/>
                    </a:lnL>
                    <a:lnR w="28575" cmpd="sng">
                      <a:solidFill>
                        <a:schemeClr val="bg1"/>
                      </a:solidFill>
                      <a:prstDash val="solid"/>
                    </a:lnR>
                    <a:lnT w="28575" cmpd="sng">
                      <a:solidFill>
                        <a:schemeClr val="bg1"/>
                      </a:solidFill>
                      <a:prstDash val="solid"/>
                    </a:lnT>
                    <a:lnB w="28575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sz="1000" dirty="0" err="1">
                          <a:solidFill>
                            <a:schemeClr val="tx1"/>
                          </a:solidFill>
                          <a:latin typeface="Meiryo UI"/>
                          <a:ea typeface="Meiryo UI"/>
                          <a:cs typeface="Meiryo UI"/>
                        </a:rPr>
                        <a:t>基本制御構造を理解する</a:t>
                      </a:r>
                      <a:endParaRPr sz="1000" dirty="0">
                        <a:solidFill>
                          <a:schemeClr val="tx1"/>
                        </a:solidFill>
                        <a:latin typeface="Meiryo UI"/>
                        <a:ea typeface="Meiryo UI"/>
                        <a:cs typeface="Meiryo UI"/>
                      </a:endParaRPr>
                    </a:p>
                  </a:txBody>
                  <a:tcPr marL="75600" marR="75600" marT="35997" marB="35997" anchor="ctr" horzOverflow="overflow">
                    <a:lnL w="28575" cmpd="sng">
                      <a:solidFill>
                        <a:schemeClr val="bg1"/>
                      </a:solidFill>
                      <a:prstDash val="solid"/>
                    </a:lnL>
                    <a:lnR w="28575" cmpd="sng">
                      <a:solidFill>
                        <a:schemeClr val="bg1"/>
                      </a:solidFill>
                      <a:prstDash val="solid"/>
                    </a:lnR>
                    <a:lnT w="28575" cmpd="sng">
                      <a:solidFill>
                        <a:schemeClr val="bg1"/>
                      </a:solidFill>
                      <a:prstDash val="solid"/>
                    </a:lnT>
                    <a:lnB w="28575" cmpd="sng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7" name="グラフィックス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359" y="6081101"/>
            <a:ext cx="522766" cy="522766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E23C021-464B-1633-AA3D-49E75C6D6415}"/>
              </a:ext>
            </a:extLst>
          </p:cNvPr>
          <p:cNvSpPr>
            <a:spLocks noGrp="1"/>
          </p:cNvSpPr>
          <p:nvPr/>
        </p:nvSpPr>
        <p:spPr>
          <a:xfrm>
            <a:off x="412773" y="5844793"/>
            <a:ext cx="11330941" cy="57755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t">
            <a:noAutofit/>
          </a:bodyPr>
          <a:lstStyle/>
          <a:p>
            <a:pPr>
              <a:defRPr sz="1200"/>
            </a:pPr>
            <a:r>
              <a:rPr sz="1200" b="1" dirty="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＜</a:t>
            </a:r>
            <a:r>
              <a:rPr sz="1200" b="1" dirty="0" err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今回の改訂ポイント</a:t>
            </a:r>
            <a:r>
              <a:rPr sz="1200" b="1" dirty="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＞</a:t>
            </a:r>
          </a:p>
          <a:p>
            <a:pPr>
              <a:defRPr sz="1200"/>
            </a:pPr>
            <a:r>
              <a:rPr sz="1200" dirty="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・午前対策（1〜4）は変更なし　・</a:t>
            </a:r>
            <a:r>
              <a:rPr sz="1200" dirty="0" err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午後対策のみフローチャートを除外し、擬似言語中心へ変更</a:t>
            </a:r>
            <a:endParaRPr sz="1200" dirty="0">
              <a:solidFill>
                <a:schemeClr val="tx1"/>
              </a:solidFill>
              <a:latin typeface="Meiryo UI"/>
              <a:ea typeface="Meiryo UI"/>
              <a:cs typeface="Meiryo UI"/>
            </a:endParaRPr>
          </a:p>
          <a:p>
            <a:pPr>
              <a:defRPr sz="1200"/>
            </a:pPr>
            <a:r>
              <a:rPr sz="1200" dirty="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・</a:t>
            </a:r>
            <a:r>
              <a:rPr lang="ja-JP" altLang="en-US" sz="1200" dirty="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生成</a:t>
            </a:r>
            <a:r>
              <a:rPr lang="en-US" altLang="ja-JP" sz="1200" dirty="0" err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AI</a:t>
            </a:r>
            <a:r>
              <a:rPr sz="1200" dirty="0" err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で教材に基づく質問、動画・音声による自学を支援</a:t>
            </a:r>
            <a:endParaRPr sz="1200" dirty="0">
              <a:solidFill>
                <a:schemeClr val="tx1"/>
              </a:solidFill>
              <a:latin typeface="Meiryo UI"/>
              <a:ea typeface="Meiryo UI"/>
              <a:cs typeface="Meiryo UI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97E67AF-8B6D-8A12-2E2A-49228E81943D}"/>
              </a:ext>
            </a:extLst>
          </p:cNvPr>
          <p:cNvSpPr>
            <a:spLocks noGrp="1"/>
          </p:cNvSpPr>
          <p:nvPr/>
        </p:nvSpPr>
        <p:spPr>
          <a:xfrm>
            <a:off x="9194788" y="5172743"/>
            <a:ext cx="1752600" cy="906780"/>
          </a:xfrm>
          <a:prstGeom prst="rect">
            <a:avLst/>
          </a:prstGeom>
          <a:solidFill>
            <a:srgbClr val="FEED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r>
              <a:rPr sz="1050" b="1" u="sng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グループ構成について</a:t>
            </a:r>
            <a:br>
              <a:rPr dirty="0"/>
            </a:br>
            <a:r>
              <a:rPr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6名1グループを基本として</a:t>
            </a:r>
          </a:p>
          <a:p>
            <a:r>
              <a:rPr sz="1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構成をお願いいたします</a:t>
            </a:r>
            <a:r>
              <a:rPr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7CE03AA-DB7F-5D5F-6886-4BD0EF880CAA}"/>
              </a:ext>
            </a:extLst>
          </p:cNvPr>
          <p:cNvSpPr>
            <a:spLocks noGrp="1"/>
          </p:cNvSpPr>
          <p:nvPr/>
        </p:nvSpPr>
        <p:spPr>
          <a:xfrm>
            <a:off x="6096000" y="2687370"/>
            <a:ext cx="25301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None/>
            </a:pPr>
            <a:r>
              <a:rPr lang="en-US" sz="1000" b="1" dirty="0">
                <a:highlight>
                  <a:srgbClr val="00FFFF"/>
                </a:highlight>
                <a:latin typeface="Meiryo UI"/>
                <a:ea typeface="Meiryo UI"/>
                <a:cs typeface="Meiryo UI"/>
              </a:rPr>
              <a:t>27</a:t>
            </a:r>
            <a:r>
              <a:rPr lang="ja-JP" altLang="en-US" sz="1000" b="1" dirty="0">
                <a:highlight>
                  <a:srgbClr val="00FFFF"/>
                </a:highlight>
                <a:latin typeface="Meiryo UI"/>
                <a:ea typeface="Meiryo UI"/>
                <a:cs typeface="Meiryo UI"/>
              </a:rPr>
              <a:t>年</a:t>
            </a:r>
            <a:r>
              <a:rPr sz="1000" b="1" dirty="0">
                <a:highlight>
                  <a:srgbClr val="00FFFF"/>
                </a:highlight>
                <a:latin typeface="Meiryo UI"/>
                <a:ea typeface="Meiryo UI"/>
                <a:cs typeface="Meiryo UI"/>
              </a:rPr>
              <a:t>案</a:t>
            </a:r>
          </a:p>
          <a:p>
            <a:pPr lvl="0">
              <a:buNone/>
            </a:pPr>
            <a:endParaRPr sz="1000" b="1" dirty="0">
              <a:highlight>
                <a:srgbClr val="00FFFF"/>
              </a:highlight>
              <a:latin typeface="Meiryo UI"/>
              <a:ea typeface="Meiryo UI"/>
              <a:cs typeface="Meiryo UI"/>
            </a:endParaRPr>
          </a:p>
          <a:p>
            <a:pPr lvl="0">
              <a:buNone/>
            </a:pPr>
            <a:r>
              <a:rPr sz="1000" b="1" dirty="0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5. </a:t>
            </a:r>
            <a:r>
              <a:rPr sz="1000" b="1" dirty="0" err="1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擬似言語と生成AIでFE科目B対策</a:t>
            </a:r>
            <a:endParaRPr sz="1000" b="1" dirty="0">
              <a:highlight>
                <a:srgbClr val="FBE3D6"/>
              </a:highlight>
              <a:latin typeface="Meiryo UI"/>
              <a:ea typeface="Meiryo UI"/>
              <a:cs typeface="Meiryo UI"/>
            </a:endParaRPr>
          </a:p>
          <a:p>
            <a:pPr lvl="0">
              <a:buNone/>
            </a:pPr>
            <a:r>
              <a:rPr sz="1000" dirty="0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・</a:t>
            </a:r>
            <a:r>
              <a:rPr sz="1000" dirty="0" err="1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アルゴリズムとは</a:t>
            </a:r>
            <a:endParaRPr sz="1000" dirty="0">
              <a:highlight>
                <a:srgbClr val="FBE3D6"/>
              </a:highlight>
              <a:latin typeface="Meiryo UI"/>
              <a:ea typeface="Meiryo UI"/>
              <a:cs typeface="Meiryo UI"/>
            </a:endParaRPr>
          </a:p>
          <a:p>
            <a:pPr lvl="0">
              <a:buNone/>
            </a:pPr>
            <a:r>
              <a:rPr sz="1000" dirty="0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・</a:t>
            </a:r>
            <a:r>
              <a:rPr sz="1000" dirty="0" err="1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なぜアルゴリズムが必要か</a:t>
            </a:r>
            <a:endParaRPr sz="1000" dirty="0">
              <a:highlight>
                <a:srgbClr val="FBE3D6"/>
              </a:highlight>
              <a:latin typeface="Meiryo UI"/>
              <a:ea typeface="Meiryo UI"/>
              <a:cs typeface="Meiryo UI"/>
            </a:endParaRPr>
          </a:p>
          <a:p>
            <a:pPr lvl="0">
              <a:buNone/>
            </a:pPr>
            <a:r>
              <a:rPr sz="1000" dirty="0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・</a:t>
            </a:r>
            <a:r>
              <a:rPr sz="1000" dirty="0" err="1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FE試験形式の擬似言語</a:t>
            </a:r>
            <a:endParaRPr sz="1000" dirty="0">
              <a:highlight>
                <a:srgbClr val="FBE3D6"/>
              </a:highlight>
              <a:latin typeface="Meiryo UI"/>
              <a:ea typeface="Meiryo UI"/>
              <a:cs typeface="Meiryo UI"/>
            </a:endParaRPr>
          </a:p>
          <a:p>
            <a:pPr lvl="0">
              <a:buNone/>
            </a:pPr>
            <a:r>
              <a:rPr sz="1000" dirty="0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・</a:t>
            </a:r>
            <a:r>
              <a:rPr sz="1000" dirty="0" err="1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コードを一行ずつ追うトレース</a:t>
            </a:r>
            <a:endParaRPr sz="1000" dirty="0">
              <a:highlight>
                <a:srgbClr val="FBE3D6"/>
              </a:highlight>
              <a:latin typeface="Meiryo UI"/>
              <a:ea typeface="Meiryo UI"/>
              <a:cs typeface="Meiryo UI"/>
            </a:endParaRPr>
          </a:p>
          <a:p>
            <a:pPr lvl="0">
              <a:buNone/>
            </a:pPr>
            <a:r>
              <a:rPr sz="1000" dirty="0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・</a:t>
            </a:r>
            <a:r>
              <a:rPr sz="1000" dirty="0" err="1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配列と基本制御構造</a:t>
            </a:r>
            <a:endParaRPr sz="1000" dirty="0">
              <a:highlight>
                <a:srgbClr val="FBE3D6"/>
              </a:highlight>
              <a:latin typeface="Meiryo UI"/>
              <a:ea typeface="Meiryo UI"/>
              <a:cs typeface="Meiryo UI"/>
            </a:endParaRPr>
          </a:p>
          <a:p>
            <a:pPr lvl="0">
              <a:buNone/>
            </a:pPr>
            <a:r>
              <a:rPr sz="1000" dirty="0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・</a:t>
            </a:r>
            <a:r>
              <a:rPr sz="1000" dirty="0" err="1">
                <a:highlight>
                  <a:srgbClr val="FBE3D6"/>
                </a:highlight>
                <a:latin typeface="Meiryo UI"/>
                <a:ea typeface="Meiryo UI"/>
                <a:cs typeface="Meiryo UI"/>
              </a:rPr>
              <a:t>過去問題による解法演習</a:t>
            </a:r>
            <a:endParaRPr sz="1000" dirty="0">
              <a:highlight>
                <a:srgbClr val="FBE3D6"/>
              </a:highlight>
              <a:latin typeface="Meiryo UI"/>
              <a:ea typeface="Meiryo UI"/>
              <a:cs typeface="Meiryo UI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E0AFFF4-1E97-B63C-D7E3-9484015DC164}"/>
              </a:ext>
            </a:extLst>
          </p:cNvPr>
          <p:cNvSpPr>
            <a:spLocks noGrp="1"/>
          </p:cNvSpPr>
          <p:nvPr/>
        </p:nvSpPr>
        <p:spPr>
          <a:xfrm>
            <a:off x="6096000" y="4145182"/>
            <a:ext cx="55439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solidFill>
                  <a:srgbClr val="FF0000"/>
                </a:solidFill>
              </a:rPr>
              <a:t>FE</a:t>
            </a:r>
            <a:r>
              <a:rPr lang="ja-JP" altLang="en-US" sz="1400" b="1" dirty="0">
                <a:solidFill>
                  <a:srgbClr val="FF0000"/>
                </a:solidFill>
              </a:rPr>
              <a:t>対策は暗記がメインになってしまいがちです。</a:t>
            </a:r>
            <a:endParaRPr lang="en-US" altLang="ja-JP" sz="1400" b="1" dirty="0">
              <a:solidFill>
                <a:srgbClr val="FF0000"/>
              </a:solidFill>
            </a:endParaRPr>
          </a:p>
          <a:p>
            <a:r>
              <a:rPr lang="ja-JP" altLang="en-US" sz="1400" b="1" dirty="0">
                <a:solidFill>
                  <a:srgbClr val="FF0000"/>
                </a:solidFill>
              </a:rPr>
              <a:t>学びを楽しく効果的にするために、過去問題をベースに解き方の考え方を演習を通して学ぶ構成とします。さらに生成</a:t>
            </a:r>
            <a:r>
              <a:rPr lang="en-US" altLang="ja-JP" sz="1400" b="1" dirty="0">
                <a:solidFill>
                  <a:srgbClr val="FF0000"/>
                </a:solidFill>
              </a:rPr>
              <a:t>AI</a:t>
            </a:r>
            <a:r>
              <a:rPr lang="ja-JP" altLang="en-US" sz="1400" b="1" dirty="0">
                <a:solidFill>
                  <a:srgbClr val="FF0000"/>
                </a:solidFill>
              </a:rPr>
              <a:t>を用い「なぜこうなるのか」を問い理解促進を行います</a:t>
            </a:r>
            <a:endParaRPr lang="en-US" altLang="ja-JP" sz="1400" b="1" dirty="0">
              <a:solidFill>
                <a:srgbClr val="FF0000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BBC5E0E-99FD-A4B7-11F1-1915105BEB95}"/>
              </a:ext>
            </a:extLst>
          </p:cNvPr>
          <p:cNvSpPr>
            <a:spLocks noGrp="1"/>
          </p:cNvSpPr>
          <p:nvPr/>
        </p:nvSpPr>
        <p:spPr>
          <a:xfrm>
            <a:off x="3710866" y="2657231"/>
            <a:ext cx="8194089" cy="24119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381C92CF-71CA-ABAD-5F5A-0DD7D48EDB7E}"/>
              </a:ext>
            </a:extLst>
          </p:cNvPr>
          <p:cNvSpPr>
            <a:spLocks noGrp="1"/>
          </p:cNvSpPr>
          <p:nvPr/>
        </p:nvSpPr>
        <p:spPr>
          <a:xfrm>
            <a:off x="5666154" y="3488554"/>
            <a:ext cx="267312" cy="5783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B90B095E-0326-2851-1312-769372FAEA9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250931" y="6343835"/>
            <a:ext cx="3270539" cy="365125"/>
          </a:xfrm>
        </p:spPr>
        <p:txBody>
          <a:bodyPr/>
          <a:lstStyle/>
          <a:p>
            <a:r>
              <a:rPr sz="1000" dirty="0" err="1"/>
              <a:t>Trainocate</a:t>
            </a:r>
            <a:r>
              <a:rPr sz="1000" dirty="0"/>
              <a:t> Japan,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4672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図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50477" y="235554"/>
            <a:ext cx="2155723" cy="285563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AC1886E-32FA-479B-AFC7-E8296E4A46AE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28575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FFEDE31-10D7-438D-A125-9216136C725F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820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 dirty="0" err="1">
                <a:solidFill>
                  <a:srgbClr val="17324D"/>
                </a:solidFill>
              </a:rPr>
              <a:t>今回の刷新は、試験で必要な『読む力</a:t>
            </a:r>
            <a:r>
              <a:rPr sz="2850" b="1" dirty="0">
                <a:solidFill>
                  <a:srgbClr val="17324D"/>
                </a:solidFill>
              </a:rPr>
              <a:t>』</a:t>
            </a:r>
            <a:r>
              <a:rPr lang="ja-JP" altLang="en-US" sz="2850" b="1" dirty="0">
                <a:solidFill>
                  <a:srgbClr val="17324D"/>
                </a:solidFill>
              </a:rPr>
              <a:t>を育てるため</a:t>
            </a:r>
            <a:endParaRPr sz="2850" b="1" dirty="0">
              <a:solidFill>
                <a:srgbClr val="17324D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63F9DA4-23BF-4F47-9352-2F4C9F0FA473}"/>
              </a:ext>
            </a:extLst>
          </p:cNvPr>
          <p:cNvSpPr>
            <a:spLocks noGrp="1"/>
          </p:cNvSpPr>
          <p:nvPr/>
        </p:nvSpPr>
        <p:spPr>
          <a:xfrm>
            <a:off x="1143000" y="157162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B6876"/>
                </a:solidFill>
              </a:defRPr>
            </a:pPr>
            <a:r>
              <a:rPr sz="1600" b="0" dirty="0" err="1">
                <a:solidFill>
                  <a:srgbClr val="5B6876"/>
                </a:solidFill>
              </a:rPr>
              <a:t>知識を増やすのではなく、学び方と教材の順番を変えます</a:t>
            </a:r>
            <a:r>
              <a:rPr sz="1500" b="0" dirty="0">
                <a:solidFill>
                  <a:srgbClr val="5B6876"/>
                </a:solidFill>
              </a:rPr>
              <a:t>。 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A46220C-8D74-4A1E-AA96-11B062C137D2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000500" cy="2428875"/>
          </a:xfrm>
          <a:prstGeom prst="roundRect">
            <a:avLst>
              <a:gd name="adj" fmla="val 4706"/>
            </a:avLst>
          </a:prstGeom>
          <a:solidFill>
            <a:srgbClr val="FFF0E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740F562-E9F1-4806-90D1-076EC1404027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F15A24"/>
                </a:solidFill>
              </a:defRPr>
            </a:pPr>
            <a:r>
              <a:rPr sz="1575" b="1" dirty="0" err="1">
                <a:solidFill>
                  <a:srgbClr val="F15A24"/>
                </a:solidFill>
              </a:rPr>
              <a:t>従来の中心</a:t>
            </a:r>
            <a:endParaRPr sz="1575" b="1" dirty="0">
              <a:solidFill>
                <a:srgbClr val="F15A24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FF0CDA0-CBE0-4633-A7F6-31247CCA164F}"/>
              </a:ext>
            </a:extLst>
          </p:cNvPr>
          <p:cNvSpPr>
            <a:spLocks noGrp="1"/>
          </p:cNvSpPr>
          <p:nvPr/>
        </p:nvSpPr>
        <p:spPr>
          <a:xfrm>
            <a:off x="990600" y="3133725"/>
            <a:ext cx="295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7"/>
                </a:solidFill>
              </a:defRPr>
            </a:pPr>
            <a:r>
              <a:rPr sz="2550" b="1" dirty="0" err="1">
                <a:solidFill>
                  <a:srgbClr val="1F2937"/>
                </a:solidFill>
              </a:rPr>
              <a:t>フローチャートを</a:t>
            </a:r>
            <a:endParaRPr sz="2550" b="1" dirty="0">
              <a:solidFill>
                <a:srgbClr val="1F2937"/>
              </a:solidFill>
            </a:endParaRPr>
          </a:p>
          <a:p>
            <a:pPr algn="l">
              <a:defRPr sz="2550" b="1">
                <a:solidFill>
                  <a:srgbClr val="1F2937"/>
                </a:solidFill>
              </a:defRPr>
            </a:pPr>
            <a:r>
              <a:rPr sz="2550" b="1" dirty="0" err="1">
                <a:solidFill>
                  <a:srgbClr val="1F2937"/>
                </a:solidFill>
              </a:rPr>
              <a:t>描く・読む</a:t>
            </a:r>
            <a:endParaRPr sz="2550" b="1" dirty="0">
              <a:solidFill>
                <a:srgbClr val="1F2937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6C47B04-4BC8-4782-BFBD-C3C679E2B403}"/>
              </a:ext>
            </a:extLst>
          </p:cNvPr>
          <p:cNvSpPr>
            <a:spLocks noGrp="1"/>
          </p:cNvSpPr>
          <p:nvPr/>
        </p:nvSpPr>
        <p:spPr>
          <a:xfrm>
            <a:off x="990600" y="406717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B6876"/>
                </a:solidFill>
              </a:defRPr>
            </a:pPr>
            <a:r>
              <a:rPr sz="1500" b="0" dirty="0" err="1">
                <a:solidFill>
                  <a:srgbClr val="5B6876"/>
                </a:solidFill>
              </a:rPr>
              <a:t>図形・記号の理解</a:t>
            </a:r>
            <a:r>
              <a:rPr lang="ja-JP" altLang="en-US" sz="1500" b="0" dirty="0">
                <a:solidFill>
                  <a:srgbClr val="5B6876"/>
                </a:solidFill>
              </a:rPr>
              <a:t>、作成</a:t>
            </a:r>
            <a:r>
              <a:rPr sz="1500" b="0" dirty="0">
                <a:solidFill>
                  <a:srgbClr val="5B6876"/>
                </a:solidFill>
              </a:rPr>
              <a:t>に</a:t>
            </a:r>
          </a:p>
          <a:p>
            <a:pPr algn="l">
              <a:defRPr sz="1500" b="0">
                <a:solidFill>
                  <a:srgbClr val="5B6876"/>
                </a:solidFill>
              </a:defRPr>
            </a:pPr>
            <a:r>
              <a:rPr sz="1500" b="0" dirty="0" err="1">
                <a:solidFill>
                  <a:srgbClr val="5B6876"/>
                </a:solidFill>
              </a:rPr>
              <a:t>時間を多く使う</a:t>
            </a:r>
            <a:endParaRPr sz="1500" b="0" dirty="0">
              <a:solidFill>
                <a:srgbClr val="5B6876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3B28B47-CFEB-485C-8252-D4157EF65E65}"/>
              </a:ext>
            </a:extLst>
          </p:cNvPr>
          <p:cNvSpPr>
            <a:spLocks noGrp="1"/>
          </p:cNvSpPr>
          <p:nvPr/>
        </p:nvSpPr>
        <p:spPr>
          <a:xfrm>
            <a:off x="5010150" y="3133725"/>
            <a:ext cx="95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600" b="1">
                <a:solidFill>
                  <a:srgbClr val="F15A24"/>
                </a:solidFill>
              </a:defRPr>
            </a:pPr>
            <a:r>
              <a:rPr sz="3600" b="1">
                <a:solidFill>
                  <a:srgbClr val="F15A24"/>
                </a:solidFill>
              </a:rPr>
              <a:t>→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FFE60B82-6AFD-4DAE-AD6A-78BF7895E732}"/>
              </a:ext>
            </a:extLst>
          </p:cNvPr>
          <p:cNvSpPr>
            <a:spLocks noGrp="1"/>
          </p:cNvSpPr>
          <p:nvPr/>
        </p:nvSpPr>
        <p:spPr>
          <a:xfrm>
            <a:off x="6267450" y="2381250"/>
            <a:ext cx="5238750" cy="2428875"/>
          </a:xfrm>
          <a:prstGeom prst="roundRect">
            <a:avLst>
              <a:gd name="adj" fmla="val 4706"/>
            </a:avLst>
          </a:prstGeom>
          <a:solidFill>
            <a:srgbClr val="EDF4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89E8691-6251-46C7-A176-12E0C2ED2044}"/>
              </a:ext>
            </a:extLst>
          </p:cNvPr>
          <p:cNvSpPr>
            <a:spLocks noGrp="1"/>
          </p:cNvSpPr>
          <p:nvPr/>
        </p:nvSpPr>
        <p:spPr>
          <a:xfrm>
            <a:off x="6591300" y="26860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4B99"/>
                </a:solidFill>
              </a:defRPr>
            </a:pPr>
            <a:r>
              <a:rPr sz="1575" b="1">
                <a:solidFill>
                  <a:srgbClr val="1F4B99"/>
                </a:solidFill>
              </a:rPr>
              <a:t>今回の中心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969BBC3-9029-45CD-89A3-254CFB52FB95}"/>
              </a:ext>
            </a:extLst>
          </p:cNvPr>
          <p:cNvSpPr>
            <a:spLocks noGrp="1"/>
          </p:cNvSpPr>
          <p:nvPr/>
        </p:nvSpPr>
        <p:spPr>
          <a:xfrm>
            <a:off x="6591300" y="3133725"/>
            <a:ext cx="3905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擬似言語を</a:t>
            </a:r>
          </a:p>
          <a:p>
            <a:pPr algn="l"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読む・追う・解く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3F3191F-72AD-4228-9F03-7E588007E07D}"/>
              </a:ext>
            </a:extLst>
          </p:cNvPr>
          <p:cNvSpPr>
            <a:spLocks noGrp="1"/>
          </p:cNvSpPr>
          <p:nvPr/>
        </p:nvSpPr>
        <p:spPr>
          <a:xfrm>
            <a:off x="6591300" y="4067175"/>
            <a:ext cx="3810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FE試験の表記で、</a:t>
            </a:r>
          </a:p>
          <a:p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値の変化を一行ずつ確かめる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2D58D7B-0B72-44CE-B4E4-5D0D821072E7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108204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E7D50"/>
                </a:solidFill>
              </a:defRPr>
            </a:pPr>
            <a:r>
              <a:rPr sz="1725" b="1">
                <a:solidFill>
                  <a:srgbClr val="1E7D50"/>
                </a:solidFill>
              </a:rPr>
              <a:t>生成AIは『答えを出す道具』ではなく、考えを言葉にする学習相手として組み込む。</a:t>
            </a:r>
          </a:p>
        </p:txBody>
      </p:sp>
      <p:sp>
        <p:nvSpPr>
          <p:cNvPr id="18" name="フッター プレースホルダー 2">
            <a:extLst>
              <a:ext uri="{FF2B5EF4-FFF2-40B4-BE49-F238E27FC236}">
                <a16:creationId xmlns:a16="http://schemas.microsoft.com/office/drawing/2014/main" id="{FE206FED-C3C6-F31D-F31A-1660726A6F5F}"/>
              </a:ext>
            </a:extLst>
          </p:cNvPr>
          <p:cNvSpPr txBox="1">
            <a:spLocks/>
          </p:cNvSpPr>
          <p:nvPr/>
        </p:nvSpPr>
        <p:spPr>
          <a:xfrm>
            <a:off x="8250931" y="6343835"/>
            <a:ext cx="3270539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Trainocate Japan, Ltd. All rights reserved.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69838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3EF6AF4-F586-4DC5-910A-C539772E6D7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28575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79C80F-2484-4D9C-8CF9-E04A75BDD2CF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09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変更点は『内容』だけでなく、『学ぶ順番』にもあります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8C2E1B-6673-4FCF-8F04-9CF85F76C1DC}"/>
              </a:ext>
            </a:extLst>
          </p:cNvPr>
          <p:cNvSpPr>
            <a:spLocks noGrp="1"/>
          </p:cNvSpPr>
          <p:nvPr/>
        </p:nvSpPr>
        <p:spPr>
          <a:xfrm>
            <a:off x="685800" y="160972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初学者が置いていかれず、試験問題の形式にも慣れられる設計です。 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A7B3CDC-2FBD-41EF-A75D-1A70B1A12D12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428875" cy="457200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38136D2-7D84-4F43-B342-CB2CCFDE71E8}"/>
              </a:ext>
            </a:extLst>
          </p:cNvPr>
          <p:cNvSpPr>
            <a:spLocks noGrp="1"/>
          </p:cNvSpPr>
          <p:nvPr/>
        </p:nvSpPr>
        <p:spPr>
          <a:xfrm>
            <a:off x="857250" y="2428875"/>
            <a:ext cx="2085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観点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BB985BF-5ED7-401F-A756-32914D00ADFD}"/>
              </a:ext>
            </a:extLst>
          </p:cNvPr>
          <p:cNvSpPr>
            <a:spLocks noGrp="1"/>
          </p:cNvSpPr>
          <p:nvPr/>
        </p:nvSpPr>
        <p:spPr>
          <a:xfrm>
            <a:off x="3114675" y="2324100"/>
            <a:ext cx="3286125" cy="457200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FD53C50-6977-46E5-BF5C-FF781D2F63AB}"/>
              </a:ext>
            </a:extLst>
          </p:cNvPr>
          <p:cNvSpPr>
            <a:spLocks noGrp="1"/>
          </p:cNvSpPr>
          <p:nvPr/>
        </p:nvSpPr>
        <p:spPr>
          <a:xfrm>
            <a:off x="3286125" y="2428875"/>
            <a:ext cx="2943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2025年版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A2F054F-1521-4313-BB40-E599A4BBCF3F}"/>
              </a:ext>
            </a:extLst>
          </p:cNvPr>
          <p:cNvSpPr>
            <a:spLocks noGrp="1"/>
          </p:cNvSpPr>
          <p:nvPr/>
        </p:nvSpPr>
        <p:spPr>
          <a:xfrm>
            <a:off x="6400800" y="2324100"/>
            <a:ext cx="5105400" cy="457200"/>
          </a:xfrm>
          <a:prstGeom prst="rect">
            <a:avLst/>
          </a:prstGeom>
          <a:solidFill>
            <a:srgbClr val="1F4B99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E8C7A79-F10F-4DD7-A911-201C894AA378}"/>
              </a:ext>
            </a:extLst>
          </p:cNvPr>
          <p:cNvSpPr>
            <a:spLocks noGrp="1"/>
          </p:cNvSpPr>
          <p:nvPr/>
        </p:nvSpPr>
        <p:spPr>
          <a:xfrm>
            <a:off x="6572250" y="2428875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lang="en-US" sz="1500" b="1" dirty="0">
                <a:solidFill>
                  <a:srgbClr val="FFFFFF"/>
                </a:solidFill>
              </a:rPr>
              <a:t>2027</a:t>
            </a:r>
            <a:r>
              <a:rPr sz="1500" b="1" dirty="0">
                <a:solidFill>
                  <a:srgbClr val="FFFFFF"/>
                </a:solidFill>
              </a:rPr>
              <a:t>版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661F81-50A3-47BF-963C-DB5EFE136A17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24288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DFEF5A9-EC63-49D6-8F10-7DC8672FBDC1}"/>
              </a:ext>
            </a:extLst>
          </p:cNvPr>
          <p:cNvSpPr>
            <a:spLocks noGrp="1"/>
          </p:cNvSpPr>
          <p:nvPr/>
        </p:nvSpPr>
        <p:spPr>
          <a:xfrm>
            <a:off x="838200" y="2914650"/>
            <a:ext cx="2124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入口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6085B08-5430-4EE8-BDD8-B586E83C40ED}"/>
              </a:ext>
            </a:extLst>
          </p:cNvPr>
          <p:cNvSpPr>
            <a:spLocks noGrp="1"/>
          </p:cNvSpPr>
          <p:nvPr/>
        </p:nvSpPr>
        <p:spPr>
          <a:xfrm>
            <a:off x="3114675" y="2781300"/>
            <a:ext cx="32861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D4174BE-6DD5-4206-81F7-4D4D4C66B930}"/>
              </a:ext>
            </a:extLst>
          </p:cNvPr>
          <p:cNvSpPr>
            <a:spLocks noGrp="1"/>
          </p:cNvSpPr>
          <p:nvPr/>
        </p:nvSpPr>
        <p:spPr>
          <a:xfrm>
            <a:off x="3267075" y="2914650"/>
            <a:ext cx="2981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フローチャートの図形・記号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535527B-7D8A-4FFB-A1CA-A4882A1BC578}"/>
              </a:ext>
            </a:extLst>
          </p:cNvPr>
          <p:cNvSpPr>
            <a:spLocks noGrp="1"/>
          </p:cNvSpPr>
          <p:nvPr/>
        </p:nvSpPr>
        <p:spPr>
          <a:xfrm>
            <a:off x="6400800" y="2781300"/>
            <a:ext cx="51054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17EBB21-69F8-4036-B1F1-7742242B01CF}"/>
              </a:ext>
            </a:extLst>
          </p:cNvPr>
          <p:cNvSpPr>
            <a:spLocks noGrp="1"/>
          </p:cNvSpPr>
          <p:nvPr/>
        </p:nvSpPr>
        <p:spPr>
          <a:xfrm>
            <a:off x="6553200" y="291465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FE擬似言語の記述と意味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4989753-B868-4F4B-A647-BE17E67281AE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2428875" cy="571500"/>
          </a:xfrm>
          <a:prstGeom prst="rect">
            <a:avLst/>
          </a:prstGeom>
          <a:solidFill>
            <a:srgbClr val="F5F7F8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DCC54B0-1B5F-42B3-A04F-732A225C03B6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2124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説明方法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31A398B-E5ED-478C-8601-A75E72934AF6}"/>
              </a:ext>
            </a:extLst>
          </p:cNvPr>
          <p:cNvSpPr>
            <a:spLocks noGrp="1"/>
          </p:cNvSpPr>
          <p:nvPr/>
        </p:nvSpPr>
        <p:spPr>
          <a:xfrm>
            <a:off x="3114675" y="3352800"/>
            <a:ext cx="3286125" cy="571500"/>
          </a:xfrm>
          <a:prstGeom prst="rect">
            <a:avLst/>
          </a:prstGeom>
          <a:solidFill>
            <a:srgbClr val="F5F7F8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57CA764-E32C-451B-A615-E60BB6B71122}"/>
              </a:ext>
            </a:extLst>
          </p:cNvPr>
          <p:cNvSpPr>
            <a:spLocks noGrp="1"/>
          </p:cNvSpPr>
          <p:nvPr/>
        </p:nvSpPr>
        <p:spPr>
          <a:xfrm>
            <a:off x="3267075" y="3486150"/>
            <a:ext cx="2981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図の流れを理解する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FC182A4-03AC-4BDC-8F81-F7E11577A923}"/>
              </a:ext>
            </a:extLst>
          </p:cNvPr>
          <p:cNvSpPr>
            <a:spLocks noGrp="1"/>
          </p:cNvSpPr>
          <p:nvPr/>
        </p:nvSpPr>
        <p:spPr>
          <a:xfrm>
            <a:off x="6400800" y="3352800"/>
            <a:ext cx="5105400" cy="571500"/>
          </a:xfrm>
          <a:prstGeom prst="rect">
            <a:avLst/>
          </a:prstGeom>
          <a:solidFill>
            <a:srgbClr val="F5F7F8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94A0D8E-3AC8-447C-95C8-A08A35C3496F}"/>
              </a:ext>
            </a:extLst>
          </p:cNvPr>
          <p:cNvSpPr>
            <a:spLocks noGrp="1"/>
          </p:cNvSpPr>
          <p:nvPr/>
        </p:nvSpPr>
        <p:spPr>
          <a:xfrm>
            <a:off x="6553200" y="348615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値の変化を一行ずつ追う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D004B75-28B3-4E7C-94D8-DBC139FBD5CA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24288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0F9231F0-F910-4FD7-A7D8-7EF725618267}"/>
              </a:ext>
            </a:extLst>
          </p:cNvPr>
          <p:cNvSpPr>
            <a:spLocks noGrp="1"/>
          </p:cNvSpPr>
          <p:nvPr/>
        </p:nvSpPr>
        <p:spPr>
          <a:xfrm>
            <a:off x="838200" y="4057650"/>
            <a:ext cx="2124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問題演習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B56B8BE1-68DB-476D-8616-253EF5F08256}"/>
              </a:ext>
            </a:extLst>
          </p:cNvPr>
          <p:cNvSpPr>
            <a:spLocks noGrp="1"/>
          </p:cNvSpPr>
          <p:nvPr/>
        </p:nvSpPr>
        <p:spPr>
          <a:xfrm>
            <a:off x="3114675" y="3924300"/>
            <a:ext cx="32861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536F0CB-F85C-4BBE-AD2F-5E1AF8B42C47}"/>
              </a:ext>
            </a:extLst>
          </p:cNvPr>
          <p:cNvSpPr>
            <a:spLocks noGrp="1"/>
          </p:cNvSpPr>
          <p:nvPr/>
        </p:nvSpPr>
        <p:spPr>
          <a:xfrm>
            <a:off x="3267075" y="4057650"/>
            <a:ext cx="2981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図形で処理を表現する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9ACEE8B-B4B7-46D7-873C-D0922027494F}"/>
              </a:ext>
            </a:extLst>
          </p:cNvPr>
          <p:cNvSpPr>
            <a:spLocks noGrp="1"/>
          </p:cNvSpPr>
          <p:nvPr/>
        </p:nvSpPr>
        <p:spPr>
          <a:xfrm>
            <a:off x="6400800" y="3924300"/>
            <a:ext cx="51054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0E6BC5FB-A861-4F89-B7AF-2C59B004ADD0}"/>
              </a:ext>
            </a:extLst>
          </p:cNvPr>
          <p:cNvSpPr>
            <a:spLocks noGrp="1"/>
          </p:cNvSpPr>
          <p:nvPr/>
        </p:nvSpPr>
        <p:spPr>
          <a:xfrm>
            <a:off x="6553200" y="405765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問題文の仕様を読み、コードを追う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6E82B01-6FD3-4FF5-9492-23968E292F9D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2428875" cy="571500"/>
          </a:xfrm>
          <a:prstGeom prst="rect">
            <a:avLst/>
          </a:prstGeom>
          <a:solidFill>
            <a:srgbClr val="F5F7F8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9DB9DE4-B79B-49D7-BF2D-E45C4F44BD0C}"/>
              </a:ext>
            </a:extLst>
          </p:cNvPr>
          <p:cNvSpPr>
            <a:spLocks noGrp="1"/>
          </p:cNvSpPr>
          <p:nvPr/>
        </p:nvSpPr>
        <p:spPr>
          <a:xfrm>
            <a:off x="838200" y="4629150"/>
            <a:ext cx="2124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AI活用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77D342C-93CA-4822-9A6C-596EE808549E}"/>
              </a:ext>
            </a:extLst>
          </p:cNvPr>
          <p:cNvSpPr>
            <a:spLocks noGrp="1"/>
          </p:cNvSpPr>
          <p:nvPr/>
        </p:nvSpPr>
        <p:spPr>
          <a:xfrm>
            <a:off x="3114675" y="4495800"/>
            <a:ext cx="3286125" cy="571500"/>
          </a:xfrm>
          <a:prstGeom prst="rect">
            <a:avLst/>
          </a:prstGeom>
          <a:solidFill>
            <a:srgbClr val="F5F7F8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2972D92-0DA0-4BD4-AD00-8A4BD6E52C01}"/>
              </a:ext>
            </a:extLst>
          </p:cNvPr>
          <p:cNvSpPr>
            <a:spLocks noGrp="1"/>
          </p:cNvSpPr>
          <p:nvPr/>
        </p:nvSpPr>
        <p:spPr>
          <a:xfrm>
            <a:off x="3267075" y="4629150"/>
            <a:ext cx="2981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講義内では扱わない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945D265-4FBE-4A4F-9CB3-4CD23321946D}"/>
              </a:ext>
            </a:extLst>
          </p:cNvPr>
          <p:cNvSpPr>
            <a:spLocks noGrp="1"/>
          </p:cNvSpPr>
          <p:nvPr/>
        </p:nvSpPr>
        <p:spPr>
          <a:xfrm>
            <a:off x="6400800" y="4495800"/>
            <a:ext cx="5105400" cy="571500"/>
          </a:xfrm>
          <a:prstGeom prst="rect">
            <a:avLst/>
          </a:prstGeom>
          <a:solidFill>
            <a:srgbClr val="F5F7F8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5B012D7-3857-4947-BBEF-2346EC1EA3B9}"/>
              </a:ext>
            </a:extLst>
          </p:cNvPr>
          <p:cNvSpPr>
            <a:spLocks noGrp="1"/>
          </p:cNvSpPr>
          <p:nvPr/>
        </p:nvSpPr>
        <p:spPr>
          <a:xfrm>
            <a:off x="6553200" y="462915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質問例を教材内に置き、自学を支援する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F4771BC-82F5-4573-8396-A0494F3C01F4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242887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01443030-898F-40DE-8B44-4B82E44D2E15}"/>
              </a:ext>
            </a:extLst>
          </p:cNvPr>
          <p:cNvSpPr>
            <a:spLocks noGrp="1"/>
          </p:cNvSpPr>
          <p:nvPr/>
        </p:nvSpPr>
        <p:spPr>
          <a:xfrm>
            <a:off x="838200" y="5200650"/>
            <a:ext cx="21240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24D"/>
                </a:solidFill>
              </a:defRPr>
            </a:pPr>
            <a:r>
              <a:rPr sz="1425" b="1">
                <a:solidFill>
                  <a:srgbClr val="17324D"/>
                </a:solidFill>
              </a:rPr>
              <a:t>受講後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B11B24E-95ED-4490-8A37-DD13167FBE16}"/>
              </a:ext>
            </a:extLst>
          </p:cNvPr>
          <p:cNvSpPr>
            <a:spLocks noGrp="1"/>
          </p:cNvSpPr>
          <p:nvPr/>
        </p:nvSpPr>
        <p:spPr>
          <a:xfrm>
            <a:off x="3114675" y="5067300"/>
            <a:ext cx="3286125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7BA0F025-1EC1-424B-A1C0-2131D1CC6498}"/>
              </a:ext>
            </a:extLst>
          </p:cNvPr>
          <p:cNvSpPr>
            <a:spLocks noGrp="1"/>
          </p:cNvSpPr>
          <p:nvPr/>
        </p:nvSpPr>
        <p:spPr>
          <a:xfrm>
            <a:off x="3267075" y="5200650"/>
            <a:ext cx="2981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講義資料を復習する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3842C926-40B0-4C10-9A7A-834DBD240AE0}"/>
              </a:ext>
            </a:extLst>
          </p:cNvPr>
          <p:cNvSpPr>
            <a:spLocks noGrp="1"/>
          </p:cNvSpPr>
          <p:nvPr/>
        </p:nvSpPr>
        <p:spPr>
          <a:xfrm>
            <a:off x="6400800" y="5067300"/>
            <a:ext cx="51054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A4CBAD5-F111-48D2-B7F0-61AAA46306FB}"/>
              </a:ext>
            </a:extLst>
          </p:cNvPr>
          <p:cNvSpPr>
            <a:spLocks noGrp="1"/>
          </p:cNvSpPr>
          <p:nvPr/>
        </p:nvSpPr>
        <p:spPr>
          <a:xfrm>
            <a:off x="6553200" y="5200650"/>
            <a:ext cx="480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 dirty="0" err="1">
                <a:solidFill>
                  <a:srgbClr val="1F2937"/>
                </a:solidFill>
              </a:rPr>
              <a:t>PDF教材で全体を自走して学び直せる</a:t>
            </a:r>
            <a:endParaRPr sz="1350" b="0" dirty="0">
              <a:solidFill>
                <a:srgbClr val="1F2937"/>
              </a:solidFill>
            </a:endParaRPr>
          </a:p>
        </p:txBody>
      </p:sp>
      <p:sp>
        <p:nvSpPr>
          <p:cNvPr id="44" name="フッター プレースホルダー 2">
            <a:extLst>
              <a:ext uri="{FF2B5EF4-FFF2-40B4-BE49-F238E27FC236}">
                <a16:creationId xmlns:a16="http://schemas.microsoft.com/office/drawing/2014/main" id="{A53018A2-4527-3282-852B-1E2C706AB98D}"/>
              </a:ext>
            </a:extLst>
          </p:cNvPr>
          <p:cNvSpPr txBox="1">
            <a:spLocks/>
          </p:cNvSpPr>
          <p:nvPr/>
        </p:nvSpPr>
        <p:spPr>
          <a:xfrm>
            <a:off x="8250931" y="6343835"/>
            <a:ext cx="3270539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Trainocate Japan, Ltd. All rights reserved.</a:t>
            </a:r>
            <a:endParaRPr lang="en-US" sz="1000" dirty="0"/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91C97C12-B998-4A18-F603-CAF0E4384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50477" y="235554"/>
            <a:ext cx="2155723" cy="28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1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47356EA-FB4F-4E92-8E9C-27A199D92A7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0820400" cy="28575"/>
          </a:xfrm>
          <a:prstGeom prst="rect">
            <a:avLst/>
          </a:prstGeom>
          <a:solidFill>
            <a:srgbClr val="F15A2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370B17B-A93F-4D15-9144-D8391624546E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10096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324D"/>
                </a:solidFill>
              </a:defRPr>
            </a:pPr>
            <a:r>
              <a:rPr sz="2850" b="1">
                <a:solidFill>
                  <a:srgbClr val="17324D"/>
                </a:solidFill>
              </a:rPr>
              <a:t>生成AIは、受講者の『考えた過程』を引き出すために使います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0A601F0-36D1-45CC-B0F2-B509BCB507A1}"/>
              </a:ext>
            </a:extLst>
          </p:cNvPr>
          <p:cNvSpPr>
            <a:spLocks noGrp="1"/>
          </p:cNvSpPr>
          <p:nvPr/>
        </p:nvSpPr>
        <p:spPr>
          <a:xfrm>
            <a:off x="685800" y="1609725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B6876"/>
                </a:solidFill>
              </a:defRPr>
            </a:pPr>
            <a:r>
              <a:rPr sz="1500" b="0">
                <a:solidFill>
                  <a:srgbClr val="5B6876"/>
                </a:solidFill>
              </a:rPr>
              <a:t>特定製品名に依存せず、問題の共有方法と質問の型を教材に組み込みます。 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536E703-EFFC-4BC8-95BA-71CD70C01345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048000" cy="1790700"/>
          </a:xfrm>
          <a:prstGeom prst="roundRect">
            <a:avLst>
              <a:gd name="adj" fmla="val 6383"/>
            </a:avLst>
          </a:prstGeom>
          <a:solidFill>
            <a:srgbClr val="F5F7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1DBDFCE-2659-418B-876D-F3FAC1E2A8C0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15A24"/>
                </a:solidFill>
              </a:defRPr>
            </a:pPr>
            <a:r>
              <a:rPr sz="1800" b="1">
                <a:solidFill>
                  <a:srgbClr val="F15A24"/>
                </a:solidFill>
              </a:rPr>
              <a:t>1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EF1A23E-53DE-4F38-A54B-8EF3E731A22E}"/>
              </a:ext>
            </a:extLst>
          </p:cNvPr>
          <p:cNvSpPr>
            <a:spLocks noGrp="1"/>
          </p:cNvSpPr>
          <p:nvPr/>
        </p:nvSpPr>
        <p:spPr>
          <a:xfrm>
            <a:off x="1352550" y="28194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問題を共有する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9AE1A3E-3AD8-4CE1-83FB-3476416B95E8}"/>
              </a:ext>
            </a:extLst>
          </p:cNvPr>
          <p:cNvSpPr>
            <a:spLocks noGrp="1"/>
          </p:cNvSpPr>
          <p:nvPr/>
        </p:nvSpPr>
        <p:spPr>
          <a:xfrm>
            <a:off x="952500" y="3371850"/>
            <a:ext cx="2514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問題文をコピーする</a:t>
            </a:r>
          </a:p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またはスクリーンショットを貼る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4377B4D-A66A-4848-9F86-23D48B49F7D8}"/>
              </a:ext>
            </a:extLst>
          </p:cNvPr>
          <p:cNvSpPr>
            <a:spLocks noGrp="1"/>
          </p:cNvSpPr>
          <p:nvPr/>
        </p:nvSpPr>
        <p:spPr>
          <a:xfrm>
            <a:off x="3800475" y="323850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15A24"/>
                </a:solidFill>
              </a:defRPr>
            </a:pPr>
            <a:r>
              <a:rPr sz="2100" b="1">
                <a:solidFill>
                  <a:srgbClr val="F15A24"/>
                </a:solidFill>
              </a:rPr>
              <a:t>→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994AB39-3769-4B6C-9C52-D9705C81AACE}"/>
              </a:ext>
            </a:extLst>
          </p:cNvPr>
          <p:cNvSpPr>
            <a:spLocks noGrp="1"/>
          </p:cNvSpPr>
          <p:nvPr/>
        </p:nvSpPr>
        <p:spPr>
          <a:xfrm>
            <a:off x="4343400" y="2571750"/>
            <a:ext cx="3048000" cy="1790700"/>
          </a:xfrm>
          <a:prstGeom prst="roundRect">
            <a:avLst>
              <a:gd name="adj" fmla="val 6383"/>
            </a:avLst>
          </a:prstGeom>
          <a:solidFill>
            <a:srgbClr val="FFF0E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BF6202F-209A-4EF7-8EB5-84550370BB79}"/>
              </a:ext>
            </a:extLst>
          </p:cNvPr>
          <p:cNvSpPr>
            <a:spLocks noGrp="1"/>
          </p:cNvSpPr>
          <p:nvPr/>
        </p:nvSpPr>
        <p:spPr>
          <a:xfrm>
            <a:off x="4572000" y="28003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15A24"/>
                </a:solidFill>
              </a:defRPr>
            </a:pPr>
            <a:r>
              <a:rPr sz="1800" b="1">
                <a:solidFill>
                  <a:srgbClr val="F15A24"/>
                </a:solidFill>
              </a:rPr>
              <a:t>2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ADDB58B-7051-400C-A2ED-B2FB584DE9B2}"/>
              </a:ext>
            </a:extLst>
          </p:cNvPr>
          <p:cNvSpPr>
            <a:spLocks noGrp="1"/>
          </p:cNvSpPr>
          <p:nvPr/>
        </p:nvSpPr>
        <p:spPr>
          <a:xfrm>
            <a:off x="5010150" y="28194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自分の考えを添える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9B81DF1-1BC9-4643-A31D-21BA540CEF2E}"/>
              </a:ext>
            </a:extLst>
          </p:cNvPr>
          <p:cNvSpPr>
            <a:spLocks noGrp="1"/>
          </p:cNvSpPr>
          <p:nvPr/>
        </p:nvSpPr>
        <p:spPr>
          <a:xfrm>
            <a:off x="4610100" y="3371850"/>
            <a:ext cx="2514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分かっていること</a:t>
            </a:r>
          </a:p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分からないこと</a:t>
            </a:r>
          </a:p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自分で試したこと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F690AF7-1BE8-4846-BC47-68DFC316E58B}"/>
              </a:ext>
            </a:extLst>
          </p:cNvPr>
          <p:cNvSpPr>
            <a:spLocks noGrp="1"/>
          </p:cNvSpPr>
          <p:nvPr/>
        </p:nvSpPr>
        <p:spPr>
          <a:xfrm>
            <a:off x="7458075" y="323850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15A24"/>
                </a:solidFill>
              </a:defRPr>
            </a:pPr>
            <a:r>
              <a:rPr sz="2100" b="1">
                <a:solidFill>
                  <a:srgbClr val="F15A24"/>
                </a:solidFill>
              </a:rPr>
              <a:t>→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D15189C-931A-40DC-94BD-29F872EB2161}"/>
              </a:ext>
            </a:extLst>
          </p:cNvPr>
          <p:cNvSpPr>
            <a:spLocks noGrp="1"/>
          </p:cNvSpPr>
          <p:nvPr/>
        </p:nvSpPr>
        <p:spPr>
          <a:xfrm>
            <a:off x="8001000" y="2571750"/>
            <a:ext cx="3048000" cy="1790700"/>
          </a:xfrm>
          <a:prstGeom prst="roundRect">
            <a:avLst>
              <a:gd name="adj" fmla="val 6383"/>
            </a:avLst>
          </a:prstGeom>
          <a:solidFill>
            <a:srgbClr val="F5F7F8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CEC95B2-BA94-49CE-ADDA-12ED2C6DE683}"/>
              </a:ext>
            </a:extLst>
          </p:cNvPr>
          <p:cNvSpPr>
            <a:spLocks noGrp="1"/>
          </p:cNvSpPr>
          <p:nvPr/>
        </p:nvSpPr>
        <p:spPr>
          <a:xfrm>
            <a:off x="8229600" y="28003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15A24"/>
                </a:solidFill>
              </a:defRPr>
            </a:pPr>
            <a:r>
              <a:rPr sz="1800" b="1">
                <a:solidFill>
                  <a:srgbClr val="F15A24"/>
                </a:solidFill>
              </a:rPr>
              <a:t>3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5DBF55F-1990-4C3D-8D95-3622C21A8810}"/>
              </a:ext>
            </a:extLst>
          </p:cNvPr>
          <p:cNvSpPr>
            <a:spLocks noGrp="1"/>
          </p:cNvSpPr>
          <p:nvPr/>
        </p:nvSpPr>
        <p:spPr>
          <a:xfrm>
            <a:off x="8667750" y="28194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答えを検証する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5E2F271-9A81-44C6-8F89-80CC7B669628}"/>
              </a:ext>
            </a:extLst>
          </p:cNvPr>
          <p:cNvSpPr>
            <a:spLocks noGrp="1"/>
          </p:cNvSpPr>
          <p:nvPr/>
        </p:nvSpPr>
        <p:spPr>
          <a:xfrm>
            <a:off x="8267700" y="3371850"/>
            <a:ext cx="2514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説明を読んだら、AIを閉じて</a:t>
            </a:r>
          </a:p>
          <a:p>
            <a:pPr algn="ctr"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自分でもう一度追う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2DCFBE1F-B7CE-436D-AA9C-3051BB466045}"/>
              </a:ext>
            </a:extLst>
          </p:cNvPr>
          <p:cNvSpPr>
            <a:spLocks noGrp="1"/>
          </p:cNvSpPr>
          <p:nvPr/>
        </p:nvSpPr>
        <p:spPr>
          <a:xfrm>
            <a:off x="685800" y="4810124"/>
            <a:ext cx="10820400" cy="1531681"/>
          </a:xfrm>
          <a:prstGeom prst="roundRect">
            <a:avLst>
              <a:gd name="adj" fmla="val 12245"/>
            </a:avLst>
          </a:prstGeom>
          <a:solidFill>
            <a:srgbClr val="EDF4F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2FB1BAC-C99E-497C-A489-2CC320F6BAB5}"/>
              </a:ext>
            </a:extLst>
          </p:cNvPr>
          <p:cNvSpPr>
            <a:spLocks noGrp="1"/>
          </p:cNvSpPr>
          <p:nvPr/>
        </p:nvSpPr>
        <p:spPr>
          <a:xfrm>
            <a:off x="971550" y="5057774"/>
            <a:ext cx="148651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F4B99"/>
                </a:solidFill>
              </a:defRPr>
            </a:pPr>
            <a:r>
              <a:rPr sz="1600" b="1" dirty="0" err="1">
                <a:solidFill>
                  <a:srgbClr val="1F4B99"/>
                </a:solidFill>
              </a:rPr>
              <a:t>教材に入れる質問例</a:t>
            </a:r>
            <a:endParaRPr sz="1600" b="1" dirty="0">
              <a:solidFill>
                <a:srgbClr val="1F4B99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ABB382-643D-4501-A06D-6B6BCEE06502}"/>
              </a:ext>
            </a:extLst>
          </p:cNvPr>
          <p:cNvSpPr>
            <a:spLocks noGrp="1"/>
          </p:cNvSpPr>
          <p:nvPr/>
        </p:nvSpPr>
        <p:spPr>
          <a:xfrm>
            <a:off x="2667000" y="4981574"/>
            <a:ext cx="83343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F2937"/>
                </a:solidFill>
              </a:defRPr>
            </a:pPr>
            <a:r>
              <a:rPr sz="1600" b="0" dirty="0">
                <a:solidFill>
                  <a:srgbClr val="1F2937"/>
                </a:solidFill>
              </a:rPr>
              <a:t>「</a:t>
            </a:r>
            <a:r>
              <a:rPr sz="1600" b="0" dirty="0" err="1">
                <a:solidFill>
                  <a:srgbClr val="1F2937"/>
                </a:solidFill>
              </a:rPr>
              <a:t>問題文を貼ります</a:t>
            </a:r>
            <a:r>
              <a:rPr sz="1600" b="0" dirty="0">
                <a:solidFill>
                  <a:srgbClr val="1F2937"/>
                </a:solidFill>
              </a:rPr>
              <a:t>。①</a:t>
            </a:r>
            <a:r>
              <a:rPr sz="1600" b="0" dirty="0" err="1">
                <a:solidFill>
                  <a:srgbClr val="1F2937"/>
                </a:solidFill>
              </a:rPr>
              <a:t>分かっていること</a:t>
            </a:r>
            <a:r>
              <a:rPr sz="1600" b="0" dirty="0">
                <a:solidFill>
                  <a:srgbClr val="1F2937"/>
                </a:solidFill>
              </a:rPr>
              <a:t> ②</a:t>
            </a:r>
            <a:r>
              <a:rPr sz="1600" b="0" dirty="0" err="1">
                <a:solidFill>
                  <a:srgbClr val="1F2937"/>
                </a:solidFill>
              </a:rPr>
              <a:t>分からないこと</a:t>
            </a:r>
            <a:r>
              <a:rPr sz="1600" b="0" dirty="0">
                <a:solidFill>
                  <a:srgbClr val="1F2937"/>
                </a:solidFill>
              </a:rPr>
              <a:t> ③</a:t>
            </a:r>
            <a:r>
              <a:rPr sz="1600" b="0" dirty="0" err="1">
                <a:solidFill>
                  <a:srgbClr val="1F2937"/>
                </a:solidFill>
              </a:rPr>
              <a:t>自分で試したこと</a:t>
            </a:r>
            <a:r>
              <a:rPr sz="1600" b="0" dirty="0">
                <a:solidFill>
                  <a:srgbClr val="1F2937"/>
                </a:solidFill>
              </a:rPr>
              <a:t> </a:t>
            </a:r>
            <a:r>
              <a:rPr sz="1600" b="0" dirty="0" err="1">
                <a:solidFill>
                  <a:srgbClr val="1F2937"/>
                </a:solidFill>
              </a:rPr>
              <a:t>を前提に、次に確認すべき値を一つずつ質問してください</a:t>
            </a:r>
            <a:r>
              <a:rPr sz="1600" b="0" dirty="0">
                <a:solidFill>
                  <a:srgbClr val="1F2937"/>
                </a:solidFill>
              </a:rPr>
              <a:t>。」</a:t>
            </a:r>
          </a:p>
        </p:txBody>
      </p:sp>
      <p:sp>
        <p:nvSpPr>
          <p:cNvPr id="25" name="フッター プレースホルダー 2">
            <a:extLst>
              <a:ext uri="{FF2B5EF4-FFF2-40B4-BE49-F238E27FC236}">
                <a16:creationId xmlns:a16="http://schemas.microsoft.com/office/drawing/2014/main" id="{D2246EFC-3D95-01E2-14D4-14FFB64D1148}"/>
              </a:ext>
            </a:extLst>
          </p:cNvPr>
          <p:cNvSpPr txBox="1">
            <a:spLocks/>
          </p:cNvSpPr>
          <p:nvPr/>
        </p:nvSpPr>
        <p:spPr>
          <a:xfrm>
            <a:off x="8250931" y="6343835"/>
            <a:ext cx="3270539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Trainocate Japan, Ltd. All rights reserved.</a:t>
            </a:r>
            <a:endParaRPr lang="en-US" sz="1000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A74DB3A6-E2D0-E59B-32B8-C3F620096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50477" y="235554"/>
            <a:ext cx="2155723" cy="28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33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DA89A8C-5F7D-7249-8BB9-774573072BE2}"/>
              </a:ext>
            </a:extLst>
          </p:cNvPr>
          <p:cNvSpPr>
            <a:spLocks noGrp="1"/>
          </p:cNvSpPr>
          <p:nvPr/>
        </p:nvSpPr>
        <p:spPr>
          <a:xfrm>
            <a:off x="564933" y="4797636"/>
            <a:ext cx="10956537" cy="1645497"/>
          </a:xfrm>
          <a:prstGeom prst="rect">
            <a:avLst/>
          </a:prstGeom>
          <a:solidFill>
            <a:srgbClr val="FFEBAB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4D7DC214-5BA9-F74D-18B5-240DDB72FC55}"/>
              </a:ext>
            </a:extLst>
          </p:cNvPr>
          <p:cNvSpPr>
            <a:spLocks noGrp="1"/>
          </p:cNvSpPr>
          <p:nvPr/>
        </p:nvSpPr>
        <p:spPr>
          <a:xfrm>
            <a:off x="564933" y="774206"/>
            <a:ext cx="10956537" cy="2701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午前対策は継続、午後対策を刷新</a:t>
            </a:r>
          </a:p>
        </p:txBody>
      </p:sp>
      <p:sp>
        <p:nvSpPr>
          <p:cNvPr id="25" name="正方形/長方形 17">
            <a:extLst>
              <a:ext uri="{FF2B5EF4-FFF2-40B4-BE49-F238E27FC236}">
                <a16:creationId xmlns:a16="http://schemas.microsoft.com/office/drawing/2014/main" id="{2D974414-A64A-BB99-3DC8-040FD474D3D5}"/>
              </a:ext>
            </a:extLst>
          </p:cNvPr>
          <p:cNvSpPr>
            <a:spLocks noGrp="1"/>
          </p:cNvSpPr>
          <p:nvPr/>
        </p:nvSpPr>
        <p:spPr>
          <a:xfrm>
            <a:off x="1602206" y="2135428"/>
            <a:ext cx="9778601" cy="812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ctr"/>
          <a:lstStyle/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l"/>
              <a:defRPr sz="1500"/>
            </a:pPr>
            <a:r>
              <a:rPr sz="1500" b="1" dirty="0" err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変更対象は科目Bのアルゴリズム対策です</a:t>
            </a:r>
            <a:r>
              <a:rPr sz="1500" b="1" dirty="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。</a:t>
            </a:r>
          </a:p>
          <a:p>
            <a:pPr marL="628650" lvl="1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Meiryo UI"/>
              <a:buChar char="-"/>
              <a:defRPr sz="1500"/>
            </a:pPr>
            <a:r>
              <a:rPr sz="1500" dirty="0" err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フローチャートを除外し、試験形式の擬似言語とトレースへ重点を移します</a:t>
            </a:r>
            <a:r>
              <a:rPr sz="1500" dirty="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。</a:t>
            </a:r>
          </a:p>
        </p:txBody>
      </p:sp>
      <p:sp>
        <p:nvSpPr>
          <p:cNvPr id="35" name="Rectangle 16">
            <a:extLst>
              <a:ext uri="{FF2B5EF4-FFF2-40B4-BE49-F238E27FC236}">
                <a16:creationId xmlns:a16="http://schemas.microsoft.com/office/drawing/2014/main" id="{B0257D7E-5B0C-2195-E90C-7B8F801F58FE}"/>
              </a:ext>
            </a:extLst>
          </p:cNvPr>
          <p:cNvSpPr>
            <a:spLocks noGrp="1"/>
          </p:cNvSpPr>
          <p:nvPr/>
        </p:nvSpPr>
        <p:spPr>
          <a:xfrm>
            <a:off x="700172" y="2134377"/>
            <a:ext cx="851709" cy="8127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午後</a:t>
            </a:r>
          </a:p>
        </p:txBody>
      </p:sp>
      <p:sp>
        <p:nvSpPr>
          <p:cNvPr id="37" name="正方形/長方形 8">
            <a:extLst>
              <a:ext uri="{FF2B5EF4-FFF2-40B4-BE49-F238E27FC236}">
                <a16:creationId xmlns:a16="http://schemas.microsoft.com/office/drawing/2014/main" id="{3283FDEE-55CA-FB92-02CF-890A6ED96B11}"/>
              </a:ext>
            </a:extLst>
          </p:cNvPr>
          <p:cNvSpPr>
            <a:spLocks noGrp="1"/>
          </p:cNvSpPr>
          <p:nvPr/>
        </p:nvSpPr>
        <p:spPr>
          <a:xfrm>
            <a:off x="1602206" y="3089911"/>
            <a:ext cx="9778601" cy="821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ctr"/>
          <a:lstStyle/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l"/>
              <a:defRPr sz="1500"/>
            </a:pPr>
            <a:r>
              <a:rPr sz="1500" b="1" dirty="0" err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講義は序盤の理解に集中します</a:t>
            </a:r>
            <a:r>
              <a:rPr sz="1500" b="1" dirty="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。</a:t>
            </a: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l"/>
              <a:defRPr sz="1500"/>
            </a:pPr>
            <a:r>
              <a:rPr sz="1500" b="1" dirty="0" err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講義後は教材と</a:t>
            </a:r>
            <a:r>
              <a:rPr lang="ja-JP" altLang="en-US" sz="1500" b="1" dirty="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生成</a:t>
            </a:r>
            <a:r>
              <a:rPr lang="en-US" altLang="ja-JP" sz="1500" b="1" dirty="0" err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AI</a:t>
            </a:r>
            <a:r>
              <a:rPr sz="1500" b="1" dirty="0" err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を使い、過去問題まで自学できる状態をつくります</a:t>
            </a:r>
            <a:r>
              <a:rPr sz="1500" b="1" dirty="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。</a:t>
            </a:r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30C47B68-0ED1-F443-5964-42E63005BE64}"/>
              </a:ext>
            </a:extLst>
          </p:cNvPr>
          <p:cNvSpPr>
            <a:spLocks noGrp="1"/>
          </p:cNvSpPr>
          <p:nvPr/>
        </p:nvSpPr>
        <p:spPr>
          <a:xfrm>
            <a:off x="700172" y="3088860"/>
            <a:ext cx="851709" cy="82178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目的</a:t>
            </a:r>
          </a:p>
        </p:txBody>
      </p:sp>
      <p:sp>
        <p:nvSpPr>
          <p:cNvPr id="41" name="正方形/長方形 101">
            <a:extLst>
              <a:ext uri="{FF2B5EF4-FFF2-40B4-BE49-F238E27FC236}">
                <a16:creationId xmlns:a16="http://schemas.microsoft.com/office/drawing/2014/main" id="{1AEB95CE-E9D1-32A2-B9E2-C1815FF00AD1}"/>
              </a:ext>
            </a:extLst>
          </p:cNvPr>
          <p:cNvSpPr>
            <a:spLocks noGrp="1"/>
          </p:cNvSpPr>
          <p:nvPr/>
        </p:nvSpPr>
        <p:spPr>
          <a:xfrm>
            <a:off x="1602206" y="1165150"/>
            <a:ext cx="9778601" cy="821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ctr"/>
          <a:lstStyle/>
          <a:p>
            <a:pPr marL="171450" indent="-171450">
              <a:buFont typeface="Wingdings"/>
              <a:buChar char="l"/>
              <a:defRPr sz="1500"/>
            </a:pPr>
            <a:r>
              <a:rPr lang="en-US" altLang="ja-JP" sz="1500" b="1" dirty="0">
                <a:solidFill>
                  <a:schemeClr val="tx1"/>
                </a:solidFill>
              </a:rPr>
              <a:t>IT</a:t>
            </a:r>
            <a:r>
              <a:rPr lang="ja-JP" altLang="en-US" sz="1500" b="1" dirty="0">
                <a:solidFill>
                  <a:schemeClr val="tx1"/>
                </a:solidFill>
              </a:rPr>
              <a:t>基礎の内容をピックアップして、講義を行います。</a:t>
            </a:r>
            <a:endParaRPr sz="1500" b="1" dirty="0">
              <a:solidFill>
                <a:schemeClr val="tx1"/>
              </a:solidFill>
            </a:endParaRPr>
          </a:p>
          <a:p>
            <a:pPr marL="628650" lvl="1" indent="-171450">
              <a:buFont typeface="Meiryo UI"/>
              <a:buChar char="-"/>
              <a:defRPr sz="1500"/>
            </a:pPr>
            <a:r>
              <a:rPr sz="1500" dirty="0" err="1">
                <a:solidFill>
                  <a:schemeClr val="tx1"/>
                </a:solidFill>
              </a:rPr>
              <a:t>座学と</a:t>
            </a:r>
            <a:r>
              <a:rPr lang="ja-JP" altLang="en-US" sz="1500" dirty="0">
                <a:solidFill>
                  <a:schemeClr val="tx1"/>
                </a:solidFill>
              </a:rPr>
              <a:t>グループワーク</a:t>
            </a:r>
            <a:r>
              <a:rPr sz="1500" dirty="0" err="1">
                <a:solidFill>
                  <a:schemeClr val="tx1"/>
                </a:solidFill>
              </a:rPr>
              <a:t>で、ITシステム・Web・プログラミングの基礎知識をインプットします</a:t>
            </a:r>
            <a:r>
              <a:rPr sz="1500" dirty="0">
                <a:solidFill>
                  <a:schemeClr val="tx1"/>
                </a:solidFill>
              </a:rPr>
              <a:t>。</a:t>
            </a:r>
            <a:endParaRPr lang="en-US" sz="1500" dirty="0">
              <a:solidFill>
                <a:schemeClr val="tx1"/>
              </a:solidFill>
            </a:endParaRPr>
          </a:p>
          <a:p>
            <a:pPr marL="628650" lvl="1" indent="-171450">
              <a:buFont typeface="Meiryo UI"/>
              <a:buChar char="-"/>
              <a:defRPr sz="1500"/>
            </a:pPr>
            <a:endParaRPr sz="1500" dirty="0">
              <a:solidFill>
                <a:schemeClr val="tx1"/>
              </a:solidFill>
            </a:endParaRPr>
          </a:p>
        </p:txBody>
      </p:sp>
      <p:sp>
        <p:nvSpPr>
          <p:cNvPr id="43" name="Rectangle 16">
            <a:extLst>
              <a:ext uri="{FF2B5EF4-FFF2-40B4-BE49-F238E27FC236}">
                <a16:creationId xmlns:a16="http://schemas.microsoft.com/office/drawing/2014/main" id="{D0A79C38-95E9-EC23-BAE5-8F104F9C77D3}"/>
              </a:ext>
            </a:extLst>
          </p:cNvPr>
          <p:cNvSpPr>
            <a:spLocks noGrp="1"/>
          </p:cNvSpPr>
          <p:nvPr/>
        </p:nvSpPr>
        <p:spPr>
          <a:xfrm>
            <a:off x="700172" y="1164099"/>
            <a:ext cx="851709" cy="8217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午前</a:t>
            </a:r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C602800E-9489-3EDC-E9BE-D2BA0DE87A8F}"/>
              </a:ext>
            </a:extLst>
          </p:cNvPr>
          <p:cNvSpPr>
            <a:spLocks noGrp="1"/>
          </p:cNvSpPr>
          <p:nvPr/>
        </p:nvSpPr>
        <p:spPr>
          <a:xfrm rot="5400000">
            <a:off x="5870038" y="3645842"/>
            <a:ext cx="327729" cy="1539102"/>
          </a:xfrm>
          <a:prstGeom prst="rightArrow">
            <a:avLst>
              <a:gd name="adj1" fmla="val 50000"/>
              <a:gd name="adj2" fmla="val 65531"/>
            </a:avLst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B85E56-9DF8-4130-3EF0-A5426607D1C1}"/>
              </a:ext>
            </a:extLst>
          </p:cNvPr>
          <p:cNvSpPr>
            <a:spLocks noGrp="1"/>
          </p:cNvSpPr>
          <p:nvPr/>
        </p:nvSpPr>
        <p:spPr>
          <a:xfrm>
            <a:off x="670530" y="5053196"/>
            <a:ext cx="10710278" cy="67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l"/>
              <a:defRPr sz="1350"/>
            </a:pPr>
            <a:r>
              <a:rPr sz="1350" dirty="0" err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午後対策</a:t>
            </a:r>
            <a:r>
              <a:rPr lang="ja-JP" altLang="en-US" sz="1350" dirty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用として、</a:t>
            </a:r>
            <a:r>
              <a:rPr sz="1350" dirty="0" err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フローチャート中心から擬似言語・トレース・過去問題中心へ変更します</a:t>
            </a:r>
            <a:r>
              <a:rPr sz="1350" dirty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/>
              <a:buChar char="l"/>
              <a:defRPr sz="1350"/>
            </a:pPr>
            <a:r>
              <a:rPr sz="1350" dirty="0" err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生成AIは回答の提示ではなく、受講者が考え方を言語化する学習支援に使用します</a:t>
            </a:r>
            <a:r>
              <a:rPr sz="1350" dirty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0214B64-251B-5627-4E35-F6EDA7BED4EA}"/>
              </a:ext>
            </a:extLst>
          </p:cNvPr>
          <p:cNvSpPr>
            <a:spLocks noGrp="1"/>
          </p:cNvSpPr>
          <p:nvPr/>
        </p:nvSpPr>
        <p:spPr>
          <a:xfrm>
            <a:off x="4481406" y="4675384"/>
            <a:ext cx="2912533" cy="327730"/>
          </a:xfrm>
          <a:prstGeom prst="rect">
            <a:avLst/>
          </a:prstGeom>
          <a:solidFill>
            <a:srgbClr val="FFC4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 b="1">
                <a:latin typeface="Meiryo UI"/>
                <a:ea typeface="Meiryo UI"/>
                <a:cs typeface="Meiryo UI"/>
              </a:rPr>
              <a:t>変更方針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8EB8B5-9C76-A93D-807F-D4EFDEB45B81}"/>
              </a:ext>
            </a:extLst>
          </p:cNvPr>
          <p:cNvSpPr>
            <a:spLocks noGrp="1"/>
          </p:cNvSpPr>
          <p:nvPr/>
        </p:nvSpPr>
        <p:spPr>
          <a:xfrm>
            <a:off x="546336" y="774206"/>
            <a:ext cx="10975134" cy="3381196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t"/>
          <a:lstStyle/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E77E5373-9FF8-715D-D82D-53BC50FB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87" y="262604"/>
            <a:ext cx="8191500" cy="333375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</a:rPr>
              <a:t>今回のカリキュラム改訂範囲</a:t>
            </a:r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96208E47-0B6C-354C-9624-0436540548A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250931" y="6343835"/>
            <a:ext cx="3270539" cy="365125"/>
          </a:xfrm>
        </p:spPr>
        <p:txBody>
          <a:bodyPr/>
          <a:lstStyle/>
          <a:p>
            <a:r>
              <a:rPr sz="1000" dirty="0" err="1"/>
              <a:t>Trainocate</a:t>
            </a:r>
            <a:r>
              <a:rPr sz="1000" dirty="0"/>
              <a:t> Japan, Ltd. All rights reserved.</a:t>
            </a:r>
          </a:p>
        </p:txBody>
      </p:sp>
      <p:pic>
        <p:nvPicPr>
          <p:cNvPr id="59" name="図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7875" y="-120490"/>
            <a:ext cx="285790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498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6">
            <a:extLst>
              <a:ext uri="{FF2B5EF4-FFF2-40B4-BE49-F238E27FC236}">
                <a16:creationId xmlns:a16="http://schemas.microsoft.com/office/drawing/2014/main" id="{4D7DC214-5BA9-F74D-18B5-240DDB72FC55}"/>
              </a:ext>
            </a:extLst>
          </p:cNvPr>
          <p:cNvSpPr>
            <a:spLocks noGrp="1"/>
          </p:cNvSpPr>
          <p:nvPr/>
        </p:nvSpPr>
        <p:spPr>
          <a:xfrm>
            <a:off x="564933" y="774206"/>
            <a:ext cx="10956537" cy="2701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対象者限定・教材限定で運用</a:t>
            </a:r>
          </a:p>
        </p:txBody>
      </p:sp>
      <p:sp>
        <p:nvSpPr>
          <p:cNvPr id="25" name="正方形/長方形 17">
            <a:extLst>
              <a:ext uri="{FF2B5EF4-FFF2-40B4-BE49-F238E27FC236}">
                <a16:creationId xmlns:a16="http://schemas.microsoft.com/office/drawing/2014/main" id="{2D974414-A64A-BB99-3DC8-040FD474D3D5}"/>
              </a:ext>
            </a:extLst>
          </p:cNvPr>
          <p:cNvSpPr>
            <a:spLocks noGrp="1"/>
          </p:cNvSpPr>
          <p:nvPr/>
        </p:nvSpPr>
        <p:spPr>
          <a:xfrm>
            <a:off x="1602206" y="2135428"/>
            <a:ext cx="9778601" cy="812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ctr"/>
          <a:lstStyle/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l"/>
              <a:defRPr sz="1500"/>
            </a:pPr>
            <a:r>
              <a:rPr sz="1500" b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講師が承認済み教材をソースとして事前登録します。</a:t>
            </a:r>
          </a:p>
          <a:p>
            <a:pPr marL="628650" lvl="1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Meiryo UI"/>
              <a:buChar char="-"/>
              <a:defRPr sz="1500"/>
            </a:pPr>
            <a:r>
              <a:rPr sz="150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質問と回答は、そのノートブックに登録された教材を根拠に行います。</a:t>
            </a:r>
          </a:p>
        </p:txBody>
      </p:sp>
      <p:sp>
        <p:nvSpPr>
          <p:cNvPr id="35" name="Rectangle 16">
            <a:extLst>
              <a:ext uri="{FF2B5EF4-FFF2-40B4-BE49-F238E27FC236}">
                <a16:creationId xmlns:a16="http://schemas.microsoft.com/office/drawing/2014/main" id="{B0257D7E-5B0C-2195-E90C-7B8F801F58FE}"/>
              </a:ext>
            </a:extLst>
          </p:cNvPr>
          <p:cNvSpPr>
            <a:spLocks noGrp="1"/>
          </p:cNvSpPr>
          <p:nvPr/>
        </p:nvSpPr>
        <p:spPr>
          <a:xfrm>
            <a:off x="700172" y="2134377"/>
            <a:ext cx="851709" cy="8127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教材範囲</a:t>
            </a:r>
          </a:p>
        </p:txBody>
      </p:sp>
      <p:sp>
        <p:nvSpPr>
          <p:cNvPr id="37" name="正方形/長方形 8">
            <a:extLst>
              <a:ext uri="{FF2B5EF4-FFF2-40B4-BE49-F238E27FC236}">
                <a16:creationId xmlns:a16="http://schemas.microsoft.com/office/drawing/2014/main" id="{3283FDEE-55CA-FB92-02CF-890A6ED96B11}"/>
              </a:ext>
            </a:extLst>
          </p:cNvPr>
          <p:cNvSpPr>
            <a:spLocks noGrp="1"/>
          </p:cNvSpPr>
          <p:nvPr/>
        </p:nvSpPr>
        <p:spPr>
          <a:xfrm>
            <a:off x="1602206" y="3089911"/>
            <a:ext cx="9778601" cy="821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ctr"/>
          <a:lstStyle/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l"/>
              <a:defRPr sz="1500"/>
            </a:pPr>
            <a:r>
              <a:rPr sz="1500" b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個人情報・顧客情報・社内機密は入力しません。</a:t>
            </a: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l"/>
              <a:defRPr sz="1500"/>
            </a:pPr>
            <a:r>
              <a:rPr sz="1500" b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教材以外のアップロードは禁止し、AI回答は必ず教材の記述と照合します。</a:t>
            </a:r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30C47B68-0ED1-F443-5964-42E63005BE64}"/>
              </a:ext>
            </a:extLst>
          </p:cNvPr>
          <p:cNvSpPr>
            <a:spLocks noGrp="1"/>
          </p:cNvSpPr>
          <p:nvPr/>
        </p:nvSpPr>
        <p:spPr>
          <a:xfrm>
            <a:off x="700172" y="3088860"/>
            <a:ext cx="851709" cy="82178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運用ルール</a:t>
            </a:r>
          </a:p>
        </p:txBody>
      </p:sp>
      <p:sp>
        <p:nvSpPr>
          <p:cNvPr id="41" name="正方形/長方形 101">
            <a:extLst>
              <a:ext uri="{FF2B5EF4-FFF2-40B4-BE49-F238E27FC236}">
                <a16:creationId xmlns:a16="http://schemas.microsoft.com/office/drawing/2014/main" id="{1AEB95CE-E9D1-32A2-B9E2-C1815FF00AD1}"/>
              </a:ext>
            </a:extLst>
          </p:cNvPr>
          <p:cNvSpPr>
            <a:spLocks noGrp="1"/>
          </p:cNvSpPr>
          <p:nvPr/>
        </p:nvSpPr>
        <p:spPr>
          <a:xfrm>
            <a:off x="1602206" y="1165150"/>
            <a:ext cx="9778601" cy="821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ctr"/>
          <a:lstStyle/>
          <a:p>
            <a:pPr marL="171450" indent="-171450">
              <a:buFont typeface="Wingdings"/>
              <a:buChar char="l"/>
              <a:defRPr sz="1500"/>
            </a:pPr>
            <a:r>
              <a:rPr sz="1500" b="1">
                <a:solidFill>
                  <a:schemeClr val="tx1"/>
                </a:solidFill>
              </a:rPr>
              <a:t>受講者は個人のGoogleアカウントでログインします。</a:t>
            </a:r>
          </a:p>
          <a:p>
            <a:pPr marL="628650" lvl="1" indent="-171450">
              <a:buFont typeface="Meiryo UI"/>
              <a:buChar char="-"/>
              <a:defRPr sz="1500"/>
            </a:pPr>
            <a:r>
              <a:rPr sz="1500">
                <a:solidFill>
                  <a:schemeClr val="tx1"/>
                </a:solidFill>
              </a:rPr>
              <a:t>対象者のメールアドレスへ閲覧者権限を付与し、非公開の共有URLから利用します。</a:t>
            </a:r>
          </a:p>
        </p:txBody>
      </p:sp>
      <p:sp>
        <p:nvSpPr>
          <p:cNvPr id="43" name="Rectangle 16">
            <a:extLst>
              <a:ext uri="{FF2B5EF4-FFF2-40B4-BE49-F238E27FC236}">
                <a16:creationId xmlns:a16="http://schemas.microsoft.com/office/drawing/2014/main" id="{D0A79C38-95E9-EC23-BAE5-8F104F9C77D3}"/>
              </a:ext>
            </a:extLst>
          </p:cNvPr>
          <p:cNvSpPr>
            <a:spLocks noGrp="1"/>
          </p:cNvSpPr>
          <p:nvPr/>
        </p:nvSpPr>
        <p:spPr>
          <a:xfrm>
            <a:off x="700172" y="1164099"/>
            <a:ext cx="851709" cy="8217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アクセス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8EB8B5-9C76-A93D-807F-D4EFDEB45B81}"/>
              </a:ext>
            </a:extLst>
          </p:cNvPr>
          <p:cNvSpPr>
            <a:spLocks noGrp="1"/>
          </p:cNvSpPr>
          <p:nvPr/>
        </p:nvSpPr>
        <p:spPr>
          <a:xfrm>
            <a:off x="546336" y="774206"/>
            <a:ext cx="10975134" cy="3381196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t"/>
          <a:lstStyle/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E77E5373-9FF8-715D-D82D-53BC50FB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87" y="262604"/>
            <a:ext cx="8191500" cy="333375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lang="ja-JP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生成</a:t>
            </a:r>
            <a:r>
              <a:rPr lang="en-US" altLang="ja-JP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AI</a:t>
            </a:r>
            <a:r>
              <a:rPr lang="ja-JP" alt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のツールについて</a:t>
            </a:r>
            <a:r>
              <a:rPr lang="en-US" altLang="ja-JP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NotebookLM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96208E47-0B6C-354C-9624-0436540548A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250931" y="6343835"/>
            <a:ext cx="3270539" cy="365125"/>
          </a:xfrm>
        </p:spPr>
        <p:txBody>
          <a:bodyPr/>
          <a:lstStyle/>
          <a:p>
            <a:r>
              <a:rPr sz="1000"/>
              <a:t>Trainocate Japan, Ltd. All rights reserved.</a:t>
            </a:r>
          </a:p>
        </p:txBody>
      </p:sp>
      <p:pic>
        <p:nvPicPr>
          <p:cNvPr id="59" name="図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7875" y="-120490"/>
            <a:ext cx="285790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498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DA89A8C-5F7D-7249-8BB9-774573072BE2}"/>
              </a:ext>
            </a:extLst>
          </p:cNvPr>
          <p:cNvSpPr>
            <a:spLocks noGrp="1"/>
          </p:cNvSpPr>
          <p:nvPr/>
        </p:nvSpPr>
        <p:spPr>
          <a:xfrm>
            <a:off x="564933" y="4797636"/>
            <a:ext cx="10956537" cy="1645497"/>
          </a:xfrm>
          <a:prstGeom prst="rect">
            <a:avLst/>
          </a:prstGeom>
          <a:solidFill>
            <a:srgbClr val="FFEBAB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4D7DC214-5BA9-F74D-18B5-240DDB72FC55}"/>
              </a:ext>
            </a:extLst>
          </p:cNvPr>
          <p:cNvSpPr>
            <a:spLocks noGrp="1"/>
          </p:cNvSpPr>
          <p:nvPr/>
        </p:nvSpPr>
        <p:spPr>
          <a:xfrm>
            <a:off x="564933" y="774206"/>
            <a:ext cx="10956537" cy="2701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受講者の考えた過程を引き出す</a:t>
            </a:r>
          </a:p>
        </p:txBody>
      </p:sp>
      <p:sp>
        <p:nvSpPr>
          <p:cNvPr id="25" name="正方形/長方形 17">
            <a:extLst>
              <a:ext uri="{FF2B5EF4-FFF2-40B4-BE49-F238E27FC236}">
                <a16:creationId xmlns:a16="http://schemas.microsoft.com/office/drawing/2014/main" id="{2D974414-A64A-BB99-3DC8-040FD474D3D5}"/>
              </a:ext>
            </a:extLst>
          </p:cNvPr>
          <p:cNvSpPr>
            <a:spLocks noGrp="1"/>
          </p:cNvSpPr>
          <p:nvPr/>
        </p:nvSpPr>
        <p:spPr>
          <a:xfrm>
            <a:off x="1602206" y="2135428"/>
            <a:ext cx="9778601" cy="8127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ctr"/>
          <a:lstStyle/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l"/>
              <a:defRPr sz="1500"/>
            </a:pPr>
            <a:r>
              <a:rPr sz="1500" b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『分かっていること』『分からないこと』『自分で試したこと』を入力します。</a:t>
            </a:r>
          </a:p>
          <a:p>
            <a:pPr marL="628650" lvl="1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Meiryo UI"/>
              <a:buChar char="-"/>
              <a:defRPr sz="1500"/>
            </a:pPr>
            <a:r>
              <a:rPr sz="1500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AIには、次に確認する値を一つずつ質問させます。</a:t>
            </a:r>
          </a:p>
        </p:txBody>
      </p:sp>
      <p:sp>
        <p:nvSpPr>
          <p:cNvPr id="35" name="Rectangle 16">
            <a:extLst>
              <a:ext uri="{FF2B5EF4-FFF2-40B4-BE49-F238E27FC236}">
                <a16:creationId xmlns:a16="http://schemas.microsoft.com/office/drawing/2014/main" id="{B0257D7E-5B0C-2195-E90C-7B8F801F58FE}"/>
              </a:ext>
            </a:extLst>
          </p:cNvPr>
          <p:cNvSpPr>
            <a:spLocks noGrp="1"/>
          </p:cNvSpPr>
          <p:nvPr/>
        </p:nvSpPr>
        <p:spPr>
          <a:xfrm>
            <a:off x="700172" y="2134377"/>
            <a:ext cx="851709" cy="8127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考えを整理</a:t>
            </a:r>
          </a:p>
        </p:txBody>
      </p:sp>
      <p:sp>
        <p:nvSpPr>
          <p:cNvPr id="37" name="正方形/長方形 8">
            <a:extLst>
              <a:ext uri="{FF2B5EF4-FFF2-40B4-BE49-F238E27FC236}">
                <a16:creationId xmlns:a16="http://schemas.microsoft.com/office/drawing/2014/main" id="{3283FDEE-55CA-FB92-02CF-890A6ED96B11}"/>
              </a:ext>
            </a:extLst>
          </p:cNvPr>
          <p:cNvSpPr>
            <a:spLocks noGrp="1"/>
          </p:cNvSpPr>
          <p:nvPr/>
        </p:nvSpPr>
        <p:spPr>
          <a:xfrm>
            <a:off x="1602206" y="3089911"/>
            <a:ext cx="9778601" cy="8217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ctr"/>
          <a:lstStyle/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l"/>
              <a:defRPr sz="1500"/>
            </a:pPr>
            <a:r>
              <a:rPr sz="1500" b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説明を読んだ後はAIを閉じ、コードを自分でもう一度追います。</a:t>
            </a:r>
          </a:p>
          <a:p>
            <a:pPr marL="171450" indent="-1714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/>
              <a:buChar char="l"/>
              <a:defRPr sz="1500"/>
            </a:pPr>
            <a:r>
              <a:rPr sz="1500" b="1">
                <a:solidFill>
                  <a:schemeClr val="tx1"/>
                </a:solidFill>
                <a:latin typeface="Meiryo UI"/>
                <a:ea typeface="Meiryo UI"/>
                <a:cs typeface="Meiryo UI"/>
              </a:rPr>
              <a:t>最終回答ではなく、解き方を身につけるために使います。</a:t>
            </a:r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30C47B68-0ED1-F443-5964-42E63005BE64}"/>
              </a:ext>
            </a:extLst>
          </p:cNvPr>
          <p:cNvSpPr>
            <a:spLocks noGrp="1"/>
          </p:cNvSpPr>
          <p:nvPr/>
        </p:nvSpPr>
        <p:spPr>
          <a:xfrm>
            <a:off x="700172" y="3088860"/>
            <a:ext cx="851709" cy="82178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再検証</a:t>
            </a:r>
          </a:p>
        </p:txBody>
      </p:sp>
      <p:sp>
        <p:nvSpPr>
          <p:cNvPr id="41" name="正方形/長方形 101">
            <a:extLst>
              <a:ext uri="{FF2B5EF4-FFF2-40B4-BE49-F238E27FC236}">
                <a16:creationId xmlns:a16="http://schemas.microsoft.com/office/drawing/2014/main" id="{1AEB95CE-E9D1-32A2-B9E2-C1815FF00AD1}"/>
              </a:ext>
            </a:extLst>
          </p:cNvPr>
          <p:cNvSpPr>
            <a:spLocks noGrp="1"/>
          </p:cNvSpPr>
          <p:nvPr/>
        </p:nvSpPr>
        <p:spPr>
          <a:xfrm>
            <a:off x="1602206" y="1165150"/>
            <a:ext cx="9778601" cy="8217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ctr"/>
          <a:lstStyle/>
          <a:p>
            <a:pPr marL="171450" indent="-171450">
              <a:buFont typeface="Wingdings"/>
              <a:buChar char="l"/>
              <a:defRPr sz="1500"/>
            </a:pPr>
            <a:r>
              <a:rPr sz="1500" b="1" dirty="0" err="1">
                <a:solidFill>
                  <a:schemeClr val="tx1"/>
                </a:solidFill>
              </a:rPr>
              <a:t>問題文をコピーする、またはスクリーンショットを貼ります</a:t>
            </a:r>
            <a:r>
              <a:rPr sz="1500" b="1" dirty="0">
                <a:solidFill>
                  <a:schemeClr val="tx1"/>
                </a:solidFill>
              </a:rPr>
              <a:t>。</a:t>
            </a:r>
          </a:p>
          <a:p>
            <a:pPr marL="628650" lvl="1" indent="-171450">
              <a:buFont typeface="Meiryo UI"/>
              <a:buChar char="-"/>
              <a:defRPr sz="1500"/>
            </a:pPr>
            <a:r>
              <a:rPr sz="1500" dirty="0" err="1">
                <a:solidFill>
                  <a:schemeClr val="tx1"/>
                </a:solidFill>
              </a:rPr>
              <a:t>質問から回答まで、共有されたNotebookLMの中で進めます</a:t>
            </a:r>
            <a:r>
              <a:rPr sz="1500" dirty="0">
                <a:solidFill>
                  <a:schemeClr val="tx1"/>
                </a:solidFill>
              </a:rPr>
              <a:t>。</a:t>
            </a:r>
            <a:endParaRPr lang="en-US" sz="1500" dirty="0">
              <a:solidFill>
                <a:schemeClr val="tx1"/>
              </a:solidFill>
            </a:endParaRPr>
          </a:p>
          <a:p>
            <a:pPr marL="628650" lvl="1" indent="-171450">
              <a:buFont typeface="Meiryo UI"/>
              <a:buChar char="-"/>
              <a:defRPr sz="1500"/>
            </a:pPr>
            <a:r>
              <a:rPr lang="ja-JP" altLang="en-US" sz="1500" dirty="0">
                <a:solidFill>
                  <a:schemeClr val="tx1"/>
                </a:solidFill>
              </a:rPr>
              <a:t>既に</a:t>
            </a:r>
            <a:r>
              <a:rPr lang="en-US" altLang="ja-JP" sz="1500" dirty="0">
                <a:solidFill>
                  <a:schemeClr val="tx1"/>
                </a:solidFill>
              </a:rPr>
              <a:t>AI</a:t>
            </a:r>
            <a:r>
              <a:rPr lang="ja-JP" altLang="en-US" sz="1500" dirty="0">
                <a:solidFill>
                  <a:schemeClr val="tx1"/>
                </a:solidFill>
              </a:rPr>
              <a:t>が学習している内容なので、ハルシネーションが起きにくいです。</a:t>
            </a:r>
            <a:endParaRPr sz="1500" dirty="0">
              <a:solidFill>
                <a:schemeClr val="tx1"/>
              </a:solidFill>
            </a:endParaRPr>
          </a:p>
        </p:txBody>
      </p:sp>
      <p:sp>
        <p:nvSpPr>
          <p:cNvPr id="43" name="Rectangle 16">
            <a:extLst>
              <a:ext uri="{FF2B5EF4-FFF2-40B4-BE49-F238E27FC236}">
                <a16:creationId xmlns:a16="http://schemas.microsoft.com/office/drawing/2014/main" id="{D0A79C38-95E9-EC23-BAE5-8F104F9C77D3}"/>
              </a:ext>
            </a:extLst>
          </p:cNvPr>
          <p:cNvSpPr>
            <a:spLocks noGrp="1"/>
          </p:cNvSpPr>
          <p:nvPr/>
        </p:nvSpPr>
        <p:spPr>
          <a:xfrm>
            <a:off x="700172" y="1164099"/>
            <a:ext cx="851709" cy="8217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</p:spPr>
        <p:txBody>
          <a:bodyPr wrap="none" lIns="91440" tIns="45720" rIns="91440" bIns="45720" anchor="ctr"/>
          <a:lstStyle>
            <a:lvl1pPr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buNone/>
            </a:pPr>
            <a:r>
              <a:rPr sz="1400">
                <a:solidFill>
                  <a:schemeClr val="bg1"/>
                </a:solidFill>
                <a:latin typeface="Meiryo UI"/>
                <a:ea typeface="Meiryo UI"/>
                <a:cs typeface="Meiryo UI"/>
              </a:rPr>
              <a:t>問題共有</a:t>
            </a:r>
          </a:p>
        </p:txBody>
      </p:sp>
      <p:sp>
        <p:nvSpPr>
          <p:cNvPr id="2" name="矢印: 右 1">
            <a:extLst>
              <a:ext uri="{FF2B5EF4-FFF2-40B4-BE49-F238E27FC236}">
                <a16:creationId xmlns:a16="http://schemas.microsoft.com/office/drawing/2014/main" id="{C602800E-9489-3EDC-E9BE-D2BA0DE87A8F}"/>
              </a:ext>
            </a:extLst>
          </p:cNvPr>
          <p:cNvSpPr>
            <a:spLocks noGrp="1"/>
          </p:cNvSpPr>
          <p:nvPr/>
        </p:nvSpPr>
        <p:spPr>
          <a:xfrm rot="5400000">
            <a:off x="5870038" y="3645842"/>
            <a:ext cx="327729" cy="1539102"/>
          </a:xfrm>
          <a:prstGeom prst="rightArrow">
            <a:avLst>
              <a:gd name="adj1" fmla="val 50000"/>
              <a:gd name="adj2" fmla="val 65531"/>
            </a:avLst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B85E56-9DF8-4130-3EF0-A5426607D1C1}"/>
              </a:ext>
            </a:extLst>
          </p:cNvPr>
          <p:cNvSpPr>
            <a:spLocks noGrp="1"/>
          </p:cNvSpPr>
          <p:nvPr/>
        </p:nvSpPr>
        <p:spPr>
          <a:xfrm>
            <a:off x="670530" y="5053196"/>
            <a:ext cx="10710278" cy="133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l"/>
              <a:defRPr sz="1350"/>
            </a:pPr>
            <a:r>
              <a:rPr sz="1350" dirty="0" err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事前登録した教材を共通の参照先とするため、一般的なチャットAIへ問題や資料を都度アップロードする運用は行いません</a:t>
            </a:r>
            <a:r>
              <a:rPr sz="1350" dirty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/>
              <a:buChar char="l"/>
              <a:defRPr sz="1350"/>
            </a:pPr>
            <a:r>
              <a:rPr sz="1350" dirty="0" err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受講者は閲覧者として利用し、教材ソースの追加・削除は行いません</a:t>
            </a:r>
            <a:r>
              <a:rPr sz="1350" dirty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。</a:t>
            </a:r>
          </a:p>
          <a:p>
            <a:pPr marL="285750" indent="-285750">
              <a:lnSpc>
                <a:spcPct val="150000"/>
              </a:lnSpc>
              <a:buFont typeface="Wingdings"/>
              <a:buChar char="l"/>
              <a:defRPr sz="1350"/>
            </a:pPr>
            <a:r>
              <a:rPr sz="1350" dirty="0" err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個人情報・顧客情報・社内機密は入力しないルールを、研修開始時に明示します</a:t>
            </a:r>
            <a:r>
              <a:rPr sz="1350" dirty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0214B64-251B-5627-4E35-F6EDA7BED4EA}"/>
              </a:ext>
            </a:extLst>
          </p:cNvPr>
          <p:cNvSpPr>
            <a:spLocks noGrp="1"/>
          </p:cNvSpPr>
          <p:nvPr/>
        </p:nvSpPr>
        <p:spPr>
          <a:xfrm>
            <a:off x="4481406" y="4675384"/>
            <a:ext cx="2912533" cy="327730"/>
          </a:xfrm>
          <a:prstGeom prst="rect">
            <a:avLst/>
          </a:prstGeom>
          <a:solidFill>
            <a:srgbClr val="FFC4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600" b="1">
                <a:latin typeface="Meiryo UI"/>
                <a:ea typeface="Meiryo UI"/>
                <a:cs typeface="Meiryo UI"/>
              </a:rPr>
              <a:t>NotebookLM内で完結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8EB8B5-9C76-A93D-807F-D4EFDEB45B81}"/>
              </a:ext>
            </a:extLst>
          </p:cNvPr>
          <p:cNvSpPr>
            <a:spLocks noGrp="1"/>
          </p:cNvSpPr>
          <p:nvPr/>
        </p:nvSpPr>
        <p:spPr>
          <a:xfrm>
            <a:off x="546336" y="774206"/>
            <a:ext cx="10975134" cy="3381196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anchor="t"/>
          <a:lstStyle/>
          <a:p>
            <a:pPr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" name="コンテンツ プレースホルダー 1">
            <a:extLst>
              <a:ext uri="{FF2B5EF4-FFF2-40B4-BE49-F238E27FC236}">
                <a16:creationId xmlns:a16="http://schemas.microsoft.com/office/drawing/2014/main" id="{E77E5373-9FF8-715D-D82D-53BC50FB71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87" y="262604"/>
            <a:ext cx="8191500" cy="333375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sz="1800">
                <a:solidFill>
                  <a:schemeClr val="tx1">
                    <a:lumMod val="65000"/>
                    <a:lumOff val="35000"/>
                  </a:schemeClr>
                </a:solidFill>
              </a:rPr>
              <a:t>午後の演習は、教材に基づく質問で自学を支援します</a:t>
            </a:r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96208E47-0B6C-354C-9624-0436540548A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8250931" y="6343835"/>
            <a:ext cx="3270539" cy="365125"/>
          </a:xfrm>
        </p:spPr>
        <p:txBody>
          <a:bodyPr/>
          <a:lstStyle/>
          <a:p>
            <a:r>
              <a:rPr sz="1000"/>
              <a:t>Trainocate Japan, Ltd. All rights reserved.</a:t>
            </a:r>
          </a:p>
        </p:txBody>
      </p:sp>
      <p:pic>
        <p:nvPicPr>
          <p:cNvPr id="59" name="図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7875" y="-120490"/>
            <a:ext cx="285790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49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F2F2F2"/>
      </a:accent1>
      <a:accent2>
        <a:srgbClr val="FA4515"/>
      </a:accent2>
      <a:accent3>
        <a:srgbClr val="FBE3D6"/>
      </a:accent3>
      <a:accent4>
        <a:srgbClr val="196B24"/>
      </a:accent4>
      <a:accent5>
        <a:srgbClr val="156082"/>
      </a:accent5>
      <a:accent6>
        <a:srgbClr val="FFC000"/>
      </a:accent6>
      <a:hlink>
        <a:srgbClr val="0563C1"/>
      </a:hlink>
      <a:folHlink>
        <a:srgbClr val="96607D"/>
      </a:folHlink>
    </a:clrScheme>
    <a:fontScheme name="Trainocateデフォルト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808080"/>
      </a:dk2>
      <a:lt2>
        <a:srgbClr val="BFBFBF"/>
      </a:lt2>
      <a:accent1>
        <a:srgbClr val="F2F2F2"/>
      </a:accent1>
      <a:accent2>
        <a:srgbClr val="FA4515"/>
      </a:accent2>
      <a:accent3>
        <a:srgbClr val="FBE3D6"/>
      </a:accent3>
      <a:accent4>
        <a:srgbClr val="196B24"/>
      </a:accent4>
      <a:accent5>
        <a:srgbClr val="156082"/>
      </a:accent5>
      <a:accent6>
        <a:srgbClr val="FFC000"/>
      </a:accent6>
      <a:hlink>
        <a:srgbClr val="0563C1"/>
      </a:hlink>
      <a:folHlink>
        <a:srgbClr val="96607D"/>
      </a:folHlink>
    </a:clrScheme>
    <a:fontScheme name="Trainocateデフォルト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ユーザー定義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679</Words>
  <Application>Microsoft Office PowerPoint</Application>
  <DocSecurity>0</DocSecurity>
  <PresentationFormat>ワイド画面</PresentationFormat>
  <Paragraphs>183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5" baseType="lpstr">
      <vt:lpstr>HiraKakuStd-W8</vt:lpstr>
      <vt:lpstr>Malgun Gothic</vt:lpstr>
      <vt:lpstr>Meiryo UI</vt:lpstr>
      <vt:lpstr>游ゴシック</vt:lpstr>
      <vt:lpstr>Arial</vt:lpstr>
      <vt:lpstr>Wingdings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NIT様_内定者研修_カリキュラム改訂ご提案</dc:title>
  <dc:creator>Walnut Exporter</dc:creator>
  <cp:lastModifiedBy>JUNG Juyeong</cp:lastModifiedBy>
  <cp:revision>5</cp:revision>
  <dcterms:created xsi:type="dcterms:W3CDTF">2026-07-31T01:29:31Z</dcterms:created>
  <dcterms:modified xsi:type="dcterms:W3CDTF">2026-07-31T02:28:51Z</dcterms:modified>
</cp:coreProperties>
</file>